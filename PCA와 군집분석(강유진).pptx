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6" r:id="rId2"/>
    <p:sldId id="257" r:id="rId3"/>
    <p:sldId id="258" r:id="rId4"/>
    <p:sldId id="261" r:id="rId5"/>
    <p:sldId id="264" r:id="rId6"/>
    <p:sldId id="270" r:id="rId7"/>
    <p:sldId id="271" r:id="rId8"/>
    <p:sldId id="266" r:id="rId9"/>
    <p:sldId id="275" r:id="rId10"/>
    <p:sldId id="276" r:id="rId11"/>
    <p:sldId id="286" r:id="rId12"/>
    <p:sldId id="277" r:id="rId13"/>
    <p:sldId id="281" r:id="rId14"/>
    <p:sldId id="324" r:id="rId15"/>
    <p:sldId id="299" r:id="rId16"/>
    <p:sldId id="293" r:id="rId17"/>
    <p:sldId id="294" r:id="rId18"/>
    <p:sldId id="292" r:id="rId19"/>
    <p:sldId id="265" r:id="rId20"/>
    <p:sldId id="321" r:id="rId21"/>
    <p:sldId id="322" r:id="rId22"/>
    <p:sldId id="323" r:id="rId23"/>
    <p:sldId id="320" r:id="rId24"/>
    <p:sldId id="310" r:id="rId25"/>
    <p:sldId id="288" r:id="rId26"/>
    <p:sldId id="311" r:id="rId27"/>
    <p:sldId id="308" r:id="rId28"/>
    <p:sldId id="312" r:id="rId29"/>
    <p:sldId id="268" r:id="rId30"/>
    <p:sldId id="315" r:id="rId31"/>
    <p:sldId id="317" r:id="rId32"/>
    <p:sldId id="316" r:id="rId33"/>
    <p:sldId id="318" r:id="rId34"/>
    <p:sldId id="303" r:id="rId35"/>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607" autoAdjust="0"/>
    <p:restoredTop sz="85981" autoAdjust="0"/>
  </p:normalViewPr>
  <p:slideViewPr>
    <p:cSldViewPr>
      <p:cViewPr varScale="1">
        <p:scale>
          <a:sx n="65" d="100"/>
          <a:sy n="65" d="100"/>
        </p:scale>
        <p:origin x="-2544"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754"/>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3DB07B4-2522-406A-B808-C3AF6841C33D}" type="datetimeFigureOut">
              <a:rPr lang="ko-KR" altLang="en-US" smtClean="0"/>
              <a:pPr/>
              <a:t>2025-06-01</a:t>
            </a:fld>
            <a:endParaRPr lang="ko-KR" altLang="en-US"/>
          </a:p>
        </p:txBody>
      </p:sp>
      <p:sp>
        <p:nvSpPr>
          <p:cNvPr id="4" name="슬라이드 이미지 개체 틀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6" name="바닥글 개체 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F9ABC49-ED13-4F77-8E53-C82C693642DC}" type="slidenum">
              <a:rPr lang="ko-KR" altLang="en-US" smtClean="0"/>
              <a:pPr/>
              <a:t>‹#›</a:t>
            </a:fld>
            <a:endParaRPr lang="ko-KR" altLang="en-US"/>
          </a:p>
        </p:txBody>
      </p:sp>
    </p:spTree>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dirty="0"/>
          </a:p>
        </p:txBody>
      </p:sp>
      <p:sp>
        <p:nvSpPr>
          <p:cNvPr id="4" name="슬라이드 번호 개체 틀 3"/>
          <p:cNvSpPr>
            <a:spLocks noGrp="1"/>
          </p:cNvSpPr>
          <p:nvPr>
            <p:ph type="sldNum" sz="quarter" idx="10"/>
          </p:nvPr>
        </p:nvSpPr>
        <p:spPr/>
        <p:txBody>
          <a:bodyPr/>
          <a:lstStyle/>
          <a:p>
            <a:fld id="{8F9ABC49-ED13-4F77-8E53-C82C693642DC}" type="slidenum">
              <a:rPr lang="ko-KR" altLang="en-US" smtClean="0"/>
              <a:pPr/>
              <a:t>7</a:t>
            </a:fld>
            <a:endParaRPr lang="ko-KR"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dirty="0"/>
          </a:p>
        </p:txBody>
      </p:sp>
      <p:sp>
        <p:nvSpPr>
          <p:cNvPr id="4" name="슬라이드 번호 개체 틀 3"/>
          <p:cNvSpPr>
            <a:spLocks noGrp="1"/>
          </p:cNvSpPr>
          <p:nvPr>
            <p:ph type="sldNum" sz="quarter" idx="10"/>
          </p:nvPr>
        </p:nvSpPr>
        <p:spPr/>
        <p:txBody>
          <a:bodyPr/>
          <a:lstStyle/>
          <a:p>
            <a:fld id="{8F9ABC49-ED13-4F77-8E53-C82C693642DC}" type="slidenum">
              <a:rPr lang="ko-KR" altLang="en-US" smtClean="0"/>
              <a:pPr/>
              <a:t>9</a:t>
            </a:fld>
            <a:endParaRPr lang="ko-KR"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dirty="0"/>
          </a:p>
        </p:txBody>
      </p:sp>
      <p:sp>
        <p:nvSpPr>
          <p:cNvPr id="4" name="슬라이드 번호 개체 틀 3"/>
          <p:cNvSpPr>
            <a:spLocks noGrp="1"/>
          </p:cNvSpPr>
          <p:nvPr>
            <p:ph type="sldNum" sz="quarter" idx="10"/>
          </p:nvPr>
        </p:nvSpPr>
        <p:spPr/>
        <p:txBody>
          <a:bodyPr/>
          <a:lstStyle/>
          <a:p>
            <a:fld id="{8F9ABC49-ED13-4F77-8E53-C82C693642DC}" type="slidenum">
              <a:rPr lang="ko-KR" altLang="en-US" smtClean="0"/>
              <a:pPr/>
              <a:t>10</a:t>
            </a:fld>
            <a:endParaRPr lang="ko-KR"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r>
              <a:rPr lang="ko-KR" altLang="en-US" b="1" dirty="0" smtClean="0"/>
              <a:t>설명비율</a:t>
            </a:r>
            <a:r>
              <a:rPr lang="ko-KR" altLang="en-US" dirty="0" smtClean="0"/>
              <a:t> </a:t>
            </a:r>
            <a:r>
              <a:rPr lang="en-US" altLang="ko-KR" dirty="0" smtClean="0"/>
              <a:t>= PC</a:t>
            </a:r>
            <a:r>
              <a:rPr lang="ko-KR" altLang="en-US" dirty="0" smtClean="0"/>
              <a:t>의 고유값을　전체 </a:t>
            </a:r>
            <a:r>
              <a:rPr lang="ko-KR" altLang="en-US" dirty="0" err="1" smtClean="0"/>
              <a:t>고유값</a:t>
            </a:r>
            <a:r>
              <a:rPr lang="ko-KR" altLang="en-US" dirty="0" smtClean="0"/>
              <a:t> 합으로　나눈　것</a:t>
            </a:r>
            <a:endParaRPr lang="en-US" altLang="ko-KR" dirty="0" smtClean="0"/>
          </a:p>
          <a:p>
            <a:r>
              <a:rPr lang="ko-KR" altLang="en-US" b="1" dirty="0" smtClean="0"/>
              <a:t>누적설명비율</a:t>
            </a:r>
            <a:r>
              <a:rPr lang="ko-KR" altLang="en-US" dirty="0" smtClean="0"/>
              <a:t> </a:t>
            </a:r>
            <a:r>
              <a:rPr lang="en-US" altLang="ko-KR" dirty="0" smtClean="0"/>
              <a:t>= </a:t>
            </a:r>
            <a:r>
              <a:rPr lang="ko-KR" altLang="en-US" dirty="0" smtClean="0"/>
              <a:t>설명비율을　차례로　누적해서　합한　것</a:t>
            </a:r>
            <a:endParaRPr lang="en-US" altLang="ko-KR" dirty="0" smtClean="0"/>
          </a:p>
          <a:p>
            <a:r>
              <a:rPr lang="ko-KR" altLang="en-US" dirty="0" smtClean="0"/>
              <a:t>Ｓｃｒｅｅ　ｐｌｏｔ：　</a:t>
            </a:r>
            <a:r>
              <a:rPr lang="en-US" altLang="ko-KR" b="1" dirty="0" smtClean="0"/>
              <a:t>X</a:t>
            </a:r>
            <a:r>
              <a:rPr lang="ko-KR" altLang="en-US" b="1" dirty="0" smtClean="0"/>
              <a:t>축：주성분　번호순서</a:t>
            </a:r>
            <a:endParaRPr lang="en-US" altLang="ko-KR" b="1" dirty="0" smtClean="0"/>
          </a:p>
          <a:p>
            <a:r>
              <a:rPr lang="en-US" altLang="ko-KR" b="1" dirty="0" smtClean="0"/>
              <a:t>		Y</a:t>
            </a:r>
            <a:r>
              <a:rPr lang="ko-KR" altLang="en-US" b="1" dirty="0" smtClean="0"/>
              <a:t>축：설명비율（</a:t>
            </a:r>
            <a:r>
              <a:rPr lang="en-US" altLang="ko-KR" b="1" dirty="0" smtClean="0"/>
              <a:t>%)</a:t>
            </a:r>
          </a:p>
        </p:txBody>
      </p:sp>
      <p:sp>
        <p:nvSpPr>
          <p:cNvPr id="4" name="슬라이드 번호 개체 틀 3"/>
          <p:cNvSpPr>
            <a:spLocks noGrp="1"/>
          </p:cNvSpPr>
          <p:nvPr>
            <p:ph type="sldNum" sz="quarter" idx="10"/>
          </p:nvPr>
        </p:nvSpPr>
        <p:spPr/>
        <p:txBody>
          <a:bodyPr/>
          <a:lstStyle/>
          <a:p>
            <a:fld id="{8F9ABC49-ED13-4F77-8E53-C82C693642DC}" type="slidenum">
              <a:rPr lang="ko-KR" altLang="en-US" smtClean="0"/>
              <a:pPr/>
              <a:t>11</a:t>
            </a:fld>
            <a:endParaRPr lang="ko-KR"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dirty="0"/>
          </a:p>
        </p:txBody>
      </p:sp>
      <p:sp>
        <p:nvSpPr>
          <p:cNvPr id="4" name="슬라이드 번호 개체 틀 3"/>
          <p:cNvSpPr>
            <a:spLocks noGrp="1"/>
          </p:cNvSpPr>
          <p:nvPr>
            <p:ph type="sldNum" sz="quarter" idx="10"/>
          </p:nvPr>
        </p:nvSpPr>
        <p:spPr/>
        <p:txBody>
          <a:bodyPr/>
          <a:lstStyle/>
          <a:p>
            <a:fld id="{8F9ABC49-ED13-4F77-8E53-C82C693642DC}" type="slidenum">
              <a:rPr lang="ko-KR" altLang="en-US" smtClean="0"/>
              <a:pPr/>
              <a:t>12</a:t>
            </a:fld>
            <a:endParaRPr lang="ko-KR"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dirty="0"/>
          </a:p>
        </p:txBody>
      </p:sp>
      <p:sp>
        <p:nvSpPr>
          <p:cNvPr id="4" name="슬라이드 번호 개체 틀 3"/>
          <p:cNvSpPr>
            <a:spLocks noGrp="1"/>
          </p:cNvSpPr>
          <p:nvPr>
            <p:ph type="sldNum" sz="quarter" idx="10"/>
          </p:nvPr>
        </p:nvSpPr>
        <p:spPr/>
        <p:txBody>
          <a:bodyPr/>
          <a:lstStyle/>
          <a:p>
            <a:fld id="{8F9ABC49-ED13-4F77-8E53-C82C693642DC}" type="slidenum">
              <a:rPr lang="ko-KR" altLang="en-US" smtClean="0"/>
              <a:pPr/>
              <a:t>13</a:t>
            </a:fld>
            <a:endParaRPr lang="ko-KR"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r>
              <a:rPr lang="ko-KR" altLang="en-US" dirty="0" err="1" smtClean="0"/>
              <a:t>첫번째</a:t>
            </a:r>
            <a:r>
              <a:rPr lang="ko-KR" altLang="en-US" dirty="0" smtClean="0"/>
              <a:t> 주성분에서 기여를 많이 하는</a:t>
            </a:r>
            <a:r>
              <a:rPr lang="en-US" altLang="ko-KR" dirty="0" smtClean="0"/>
              <a:t>(</a:t>
            </a:r>
            <a:r>
              <a:rPr lang="ko-KR" altLang="en-US" dirty="0" smtClean="0"/>
              <a:t>절댓값이 큰</a:t>
            </a:r>
            <a:r>
              <a:rPr lang="en-US" altLang="ko-KR" dirty="0" smtClean="0"/>
              <a:t>) </a:t>
            </a:r>
            <a:r>
              <a:rPr lang="ko-KR" altLang="en-US" dirty="0" smtClean="0"/>
              <a:t>값들이 음수 이므로 고유벡터에는 </a:t>
            </a:r>
            <a:r>
              <a:rPr lang="en-US" altLang="ko-KR" dirty="0" smtClean="0"/>
              <a:t>–</a:t>
            </a:r>
            <a:r>
              <a:rPr lang="ko-KR" altLang="en-US" dirty="0" smtClean="0"/>
              <a:t>를 곱해줘야 주성분 </a:t>
            </a:r>
            <a:r>
              <a:rPr lang="ko-KR" altLang="en-US" dirty="0" err="1" smtClean="0"/>
              <a:t>적재값을</a:t>
            </a:r>
            <a:r>
              <a:rPr lang="ko-KR" altLang="en-US" dirty="0" smtClean="0"/>
              <a:t> 구할 수 있다</a:t>
            </a:r>
            <a:endParaRPr lang="ko-KR" altLang="en-US" dirty="0"/>
          </a:p>
        </p:txBody>
      </p:sp>
      <p:sp>
        <p:nvSpPr>
          <p:cNvPr id="4" name="슬라이드 번호 개체 틀 3"/>
          <p:cNvSpPr>
            <a:spLocks noGrp="1"/>
          </p:cNvSpPr>
          <p:nvPr>
            <p:ph type="sldNum" sz="quarter" idx="10"/>
          </p:nvPr>
        </p:nvSpPr>
        <p:spPr/>
        <p:txBody>
          <a:bodyPr/>
          <a:lstStyle/>
          <a:p>
            <a:fld id="{8F9ABC49-ED13-4F77-8E53-C82C693642DC}" type="slidenum">
              <a:rPr lang="ko-KR" altLang="en-US" smtClean="0"/>
              <a:pPr/>
              <a:t>14</a:t>
            </a:fld>
            <a:endParaRPr lang="ko-KR"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dirty="0"/>
          </a:p>
        </p:txBody>
      </p:sp>
      <p:sp>
        <p:nvSpPr>
          <p:cNvPr id="4" name="슬라이드 번호 개체 틀 3"/>
          <p:cNvSpPr>
            <a:spLocks noGrp="1"/>
          </p:cNvSpPr>
          <p:nvPr>
            <p:ph type="sldNum" sz="quarter" idx="10"/>
          </p:nvPr>
        </p:nvSpPr>
        <p:spPr/>
        <p:txBody>
          <a:bodyPr/>
          <a:lstStyle/>
          <a:p>
            <a:fld id="{8F9ABC49-ED13-4F77-8E53-C82C693642DC}" type="slidenum">
              <a:rPr lang="ko-KR" altLang="en-US" smtClean="0"/>
              <a:pPr/>
              <a:t>16</a:t>
            </a:fld>
            <a:endParaRPr lang="ko-KR"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dirty="0"/>
          </a:p>
        </p:txBody>
      </p:sp>
      <p:sp>
        <p:nvSpPr>
          <p:cNvPr id="4" name="슬라이드 번호 개체 틀 3"/>
          <p:cNvSpPr>
            <a:spLocks noGrp="1"/>
          </p:cNvSpPr>
          <p:nvPr>
            <p:ph type="sldNum" sz="quarter" idx="10"/>
          </p:nvPr>
        </p:nvSpPr>
        <p:spPr/>
        <p:txBody>
          <a:bodyPr/>
          <a:lstStyle/>
          <a:p>
            <a:fld id="{8F9ABC49-ED13-4F77-8E53-C82C693642DC}" type="slidenum">
              <a:rPr lang="ko-KR" altLang="en-US" smtClean="0"/>
              <a:pPr/>
              <a:t>17</a:t>
            </a:fld>
            <a:endParaRPr lang="ko-KR"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dirty="0"/>
          </a:p>
        </p:txBody>
      </p:sp>
      <p:sp>
        <p:nvSpPr>
          <p:cNvPr id="4" name="슬라이드 번호 개체 틀 3"/>
          <p:cNvSpPr>
            <a:spLocks noGrp="1"/>
          </p:cNvSpPr>
          <p:nvPr>
            <p:ph type="sldNum" sz="quarter" idx="10"/>
          </p:nvPr>
        </p:nvSpPr>
        <p:spPr/>
        <p:txBody>
          <a:bodyPr/>
          <a:lstStyle/>
          <a:p>
            <a:fld id="{8F9ABC49-ED13-4F77-8E53-C82C693642DC}" type="slidenum">
              <a:rPr lang="ko-KR" altLang="en-US" smtClean="0"/>
              <a:pPr/>
              <a:t>18</a:t>
            </a:fld>
            <a:endParaRPr lang="ko-KR"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en-US" altLang="ko-KR" sz="1200" b="1" dirty="0">
              <a:latin typeface="+mn-ea"/>
            </a:endParaRPr>
          </a:p>
        </p:txBody>
      </p:sp>
      <p:sp>
        <p:nvSpPr>
          <p:cNvPr id="4" name="슬라이드 번호 개체 틀 3"/>
          <p:cNvSpPr>
            <a:spLocks noGrp="1"/>
          </p:cNvSpPr>
          <p:nvPr>
            <p:ph type="sldNum" sz="quarter" idx="10"/>
          </p:nvPr>
        </p:nvSpPr>
        <p:spPr/>
        <p:txBody>
          <a:bodyPr/>
          <a:lstStyle/>
          <a:p>
            <a:fld id="{8F9ABC49-ED13-4F77-8E53-C82C693642DC}" type="slidenum">
              <a:rPr lang="ko-KR" altLang="en-US" smtClean="0"/>
              <a:pPr/>
              <a:t>19</a:t>
            </a:fld>
            <a:endParaRPr lang="ko-KR"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en-US" altLang="ko-KR" sz="1200" b="1" dirty="0">
              <a:latin typeface="+mn-ea"/>
            </a:endParaRPr>
          </a:p>
        </p:txBody>
      </p:sp>
      <p:sp>
        <p:nvSpPr>
          <p:cNvPr id="4" name="슬라이드 번호 개체 틀 3"/>
          <p:cNvSpPr>
            <a:spLocks noGrp="1"/>
          </p:cNvSpPr>
          <p:nvPr>
            <p:ph type="sldNum" sz="quarter" idx="10"/>
          </p:nvPr>
        </p:nvSpPr>
        <p:spPr/>
        <p:txBody>
          <a:bodyPr/>
          <a:lstStyle/>
          <a:p>
            <a:fld id="{8F9ABC49-ED13-4F77-8E53-C82C693642DC}" type="slidenum">
              <a:rPr lang="ko-KR" altLang="en-US" smtClean="0"/>
              <a:pPr/>
              <a:t>20</a:t>
            </a:fld>
            <a:endParaRPr lang="ko-KR"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r>
              <a:rPr lang="ko-KR" altLang="en-US" sz="1200" dirty="0" smtClean="0"/>
              <a:t>위쪽→이런 국가들은 아직 석탄 기반 발전 비중이 높고</a:t>
            </a:r>
            <a:r>
              <a:rPr lang="en-US" altLang="ko-KR" sz="1200" dirty="0" smtClean="0"/>
              <a:t>, </a:t>
            </a:r>
            <a:r>
              <a:rPr lang="ko-KR" altLang="en-US" sz="1200" dirty="0" smtClean="0"/>
              <a:t>친환경 전환이 느림</a:t>
            </a:r>
            <a:endParaRPr lang="en-US" altLang="ko-KR" sz="1200" dirty="0" smtClean="0"/>
          </a:p>
          <a:p>
            <a:r>
              <a:rPr lang="ko-KR" altLang="en-US" sz="1200" dirty="0" smtClean="0"/>
              <a:t>아래쪽→ 선진국 중 친환경 전환 빠른　국가들</a:t>
            </a:r>
            <a:endParaRPr lang="en-US" altLang="ko-KR" sz="1200" dirty="0" smtClean="0"/>
          </a:p>
          <a:p>
            <a:endParaRPr lang="en-US" altLang="ko-KR" sz="1200" b="1" dirty="0">
              <a:latin typeface="+mn-ea"/>
            </a:endParaRPr>
          </a:p>
        </p:txBody>
      </p:sp>
      <p:sp>
        <p:nvSpPr>
          <p:cNvPr id="4" name="슬라이드 번호 개체 틀 3"/>
          <p:cNvSpPr>
            <a:spLocks noGrp="1"/>
          </p:cNvSpPr>
          <p:nvPr>
            <p:ph type="sldNum" sz="quarter" idx="10"/>
          </p:nvPr>
        </p:nvSpPr>
        <p:spPr/>
        <p:txBody>
          <a:bodyPr/>
          <a:lstStyle/>
          <a:p>
            <a:fld id="{8F9ABC49-ED13-4F77-8E53-C82C693642DC}" type="slidenum">
              <a:rPr lang="ko-KR" altLang="en-US" smtClean="0"/>
              <a:pPr/>
              <a:t>21</a:t>
            </a:fld>
            <a:endParaRPr lang="ko-KR"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r>
              <a:rPr lang="ko-KR" altLang="en-US" b="1" dirty="0" smtClean="0"/>
              <a:t>독일</a:t>
            </a:r>
            <a:r>
              <a:rPr lang="en-US" altLang="ko-KR" b="1" dirty="0" smtClean="0"/>
              <a:t>,</a:t>
            </a:r>
            <a:r>
              <a:rPr lang="ko-KR" altLang="en-US" b="1" dirty="0" smtClean="0"/>
              <a:t>영국</a:t>
            </a:r>
            <a:r>
              <a:rPr lang="en-US" altLang="ko-KR" b="1" dirty="0" smtClean="0"/>
              <a:t>,</a:t>
            </a:r>
            <a:r>
              <a:rPr lang="ko-KR" altLang="en-US" b="1" dirty="0" smtClean="0"/>
              <a:t>프랑스</a:t>
            </a:r>
            <a:r>
              <a:rPr lang="en-US" altLang="ko-KR" b="1" dirty="0" smtClean="0"/>
              <a:t>,</a:t>
            </a:r>
            <a:r>
              <a:rPr lang="ko-KR" altLang="en-US" b="1" dirty="0" smtClean="0"/>
              <a:t>이탈리아</a:t>
            </a:r>
            <a:endParaRPr lang="ko-KR" altLang="en-US" dirty="0" smtClean="0"/>
          </a:p>
          <a:p>
            <a:r>
              <a:rPr lang="ko-KR" altLang="en-US" b="1" dirty="0" smtClean="0"/>
              <a:t>유럽 선진국들</a:t>
            </a:r>
            <a:r>
              <a:rPr lang="ko-KR" altLang="en-US" dirty="0" smtClean="0"/>
              <a:t>은 대부분 </a:t>
            </a:r>
            <a:r>
              <a:rPr lang="ko-KR" altLang="en-US" b="1" dirty="0" smtClean="0"/>
              <a:t>온실가스</a:t>
            </a:r>
            <a:r>
              <a:rPr lang="en-US" altLang="ko-KR" b="1" dirty="0" smtClean="0"/>
              <a:t>·</a:t>
            </a:r>
            <a:r>
              <a:rPr lang="ko-KR" altLang="en-US" b="1" dirty="0" smtClean="0"/>
              <a:t>에너지 소비량은 </a:t>
            </a:r>
            <a:r>
              <a:rPr lang="ko-KR" altLang="en-US" b="1" dirty="0" err="1" smtClean="0"/>
              <a:t>중상위</a:t>
            </a:r>
            <a:r>
              <a:rPr lang="ko-KR" altLang="en-US" b="1" dirty="0" smtClean="0"/>
              <a:t> 수준</a:t>
            </a:r>
            <a:r>
              <a:rPr lang="ko-KR" altLang="en-US" dirty="0" smtClean="0"/>
              <a:t/>
            </a:r>
            <a:br>
              <a:rPr lang="ko-KR" altLang="en-US" dirty="0" smtClean="0"/>
            </a:br>
            <a:r>
              <a:rPr lang="ko-KR" altLang="en-US" dirty="0" smtClean="0"/>
              <a:t>→ </a:t>
            </a:r>
            <a:r>
              <a:rPr lang="ko-KR" altLang="en-US" b="1" dirty="0" smtClean="0"/>
              <a:t>고효율 산업구조</a:t>
            </a:r>
            <a:r>
              <a:rPr lang="en-US" altLang="ko-KR" b="1" dirty="0" smtClean="0"/>
              <a:t>, </a:t>
            </a:r>
            <a:r>
              <a:rPr lang="ko-KR" altLang="en-US" b="1" dirty="0" smtClean="0"/>
              <a:t>안정적 에너지 사용</a:t>
            </a:r>
            <a:r>
              <a:rPr lang="ko-KR" altLang="en-US" dirty="0" smtClean="0"/>
              <a:t>으로 </a:t>
            </a:r>
            <a:r>
              <a:rPr lang="en-US" altLang="ko-KR" dirty="0" smtClean="0"/>
              <a:t>PC1</a:t>
            </a:r>
            <a:r>
              <a:rPr lang="ko-KR" altLang="en-US" dirty="0" smtClean="0"/>
              <a:t>은 높고 </a:t>
            </a:r>
            <a:r>
              <a:rPr lang="en-US" altLang="ko-KR" dirty="0" smtClean="0"/>
              <a:t>PC2</a:t>
            </a:r>
            <a:r>
              <a:rPr lang="ko-KR" altLang="en-US" dirty="0" smtClean="0"/>
              <a:t>는 상대적으로 낮음</a:t>
            </a:r>
          </a:p>
          <a:p>
            <a:endParaRPr lang="en-US" altLang="ko-KR" dirty="0" smtClean="0"/>
          </a:p>
          <a:p>
            <a:r>
              <a:rPr lang="ko-KR" altLang="en-US" b="1" dirty="0" smtClean="0"/>
              <a:t>인도</a:t>
            </a:r>
            <a:r>
              <a:rPr lang="en-US" altLang="ko-KR" b="1" dirty="0" smtClean="0"/>
              <a:t>,</a:t>
            </a:r>
            <a:r>
              <a:rPr lang="ko-KR" altLang="en-US" b="1" dirty="0" smtClean="0"/>
              <a:t>네팔</a:t>
            </a:r>
            <a:r>
              <a:rPr lang="en-US" altLang="ko-KR" b="1" dirty="0" smtClean="0"/>
              <a:t>,</a:t>
            </a:r>
            <a:r>
              <a:rPr lang="ko-KR" altLang="en-US" b="1" dirty="0" smtClean="0"/>
              <a:t>파키스탄</a:t>
            </a:r>
            <a:r>
              <a:rPr lang="en-US" altLang="ko-KR" dirty="0" smtClean="0"/>
              <a:t>, </a:t>
            </a:r>
            <a:r>
              <a:rPr lang="ko-KR" altLang="en-US" b="1" dirty="0" smtClean="0"/>
              <a:t>방글라데시　</a:t>
            </a:r>
            <a:r>
              <a:rPr lang="ko-KR" altLang="en-US" dirty="0" smtClean="0"/>
              <a:t>등 </a:t>
            </a:r>
            <a:r>
              <a:rPr lang="ko-KR" altLang="en-US" b="1" dirty="0" smtClean="0"/>
              <a:t>아시아 개발도상국</a:t>
            </a:r>
            <a:r>
              <a:rPr lang="ko-KR" altLang="en-US" dirty="0" smtClean="0"/>
              <a:t>들</a:t>
            </a:r>
            <a:br>
              <a:rPr lang="ko-KR" altLang="en-US" dirty="0" smtClean="0"/>
            </a:br>
            <a:r>
              <a:rPr lang="ko-KR" altLang="en-US" dirty="0" smtClean="0"/>
              <a:t>→ 석탄 기반 에너지원 사용 비중 높음</a:t>
            </a:r>
            <a:endParaRPr lang="en-US" altLang="ko-KR" dirty="0" smtClean="0"/>
          </a:p>
          <a:p>
            <a:endParaRPr lang="en-US" altLang="ko-KR" dirty="0" smtClean="0"/>
          </a:p>
          <a:p>
            <a:r>
              <a:rPr lang="ko-KR" altLang="en-US" dirty="0" smtClean="0"/>
              <a:t>아프리카 국가들 </a:t>
            </a:r>
            <a:r>
              <a:rPr lang="en-US" altLang="ko-KR" dirty="0" smtClean="0"/>
              <a:t>(</a:t>
            </a:r>
            <a:r>
              <a:rPr lang="ko-KR" altLang="en-US" dirty="0" err="1" smtClean="0"/>
              <a:t>잠비아</a:t>
            </a:r>
            <a:r>
              <a:rPr lang="en-US" altLang="ko-KR" dirty="0" smtClean="0"/>
              <a:t>, </a:t>
            </a:r>
            <a:r>
              <a:rPr lang="ko-KR" altLang="en-US" dirty="0" err="1" smtClean="0"/>
              <a:t>우간다</a:t>
            </a:r>
            <a:r>
              <a:rPr lang="ko-KR" altLang="en-US" dirty="0" smtClean="0"/>
              <a:t> 등</a:t>
            </a:r>
            <a:r>
              <a:rPr lang="en-US" altLang="ko-KR" dirty="0" smtClean="0"/>
              <a:t>), </a:t>
            </a:r>
            <a:r>
              <a:rPr lang="ko-KR" altLang="en-US" dirty="0" smtClean="0"/>
              <a:t>소국들</a:t>
            </a:r>
            <a:r>
              <a:rPr lang="en-US" altLang="ko-KR" dirty="0" smtClean="0"/>
              <a:t>(</a:t>
            </a:r>
            <a:r>
              <a:rPr lang="ko-KR" altLang="en-US" dirty="0" smtClean="0"/>
              <a:t>피지</a:t>
            </a:r>
            <a:r>
              <a:rPr lang="en-US" altLang="ko-KR" dirty="0" smtClean="0"/>
              <a:t>, </a:t>
            </a:r>
            <a:r>
              <a:rPr lang="ko-KR" altLang="en-US" dirty="0" err="1" smtClean="0"/>
              <a:t>통가</a:t>
            </a:r>
            <a:r>
              <a:rPr lang="ko-KR" altLang="en-US" dirty="0" smtClean="0"/>
              <a:t> 등</a:t>
            </a:r>
            <a:r>
              <a:rPr lang="en-US" altLang="ko-KR" dirty="0" smtClean="0"/>
              <a:t>)</a:t>
            </a:r>
            <a:br>
              <a:rPr lang="en-US" altLang="ko-KR" dirty="0" smtClean="0"/>
            </a:br>
            <a:r>
              <a:rPr lang="en-US" altLang="ko-KR" dirty="0" smtClean="0"/>
              <a:t>→ </a:t>
            </a:r>
            <a:r>
              <a:rPr lang="ko-KR" altLang="en-US" b="1" dirty="0" smtClean="0"/>
              <a:t>에너지 사용 총량 낮음 </a:t>
            </a:r>
            <a:r>
              <a:rPr lang="en-US" altLang="ko-KR" b="1" dirty="0" smtClean="0"/>
              <a:t>+ </a:t>
            </a:r>
            <a:r>
              <a:rPr lang="ko-KR" altLang="en-US" b="1" dirty="0" smtClean="0"/>
              <a:t>에너지원 구성이 다양하지 않음</a:t>
            </a:r>
            <a:endParaRPr lang="en-US" altLang="ko-KR" b="1" dirty="0" smtClean="0"/>
          </a:p>
          <a:p>
            <a:endParaRPr lang="en-US" altLang="ko-KR" b="1" dirty="0" smtClean="0"/>
          </a:p>
          <a:p>
            <a:r>
              <a:rPr lang="ko-KR" altLang="en-US" b="1" dirty="0" smtClean="0"/>
              <a:t>사우디아라비아</a:t>
            </a:r>
            <a:r>
              <a:rPr lang="en-US" altLang="ko-KR" dirty="0" smtClean="0"/>
              <a:t>, </a:t>
            </a:r>
            <a:r>
              <a:rPr lang="ko-KR" altLang="en-US" b="1" dirty="0" smtClean="0"/>
              <a:t>러시아</a:t>
            </a:r>
            <a:r>
              <a:rPr lang="en-US" altLang="ko-KR" dirty="0" smtClean="0"/>
              <a:t>, </a:t>
            </a:r>
            <a:r>
              <a:rPr lang="ko-KR" altLang="en-US" b="1" dirty="0" smtClean="0"/>
              <a:t>카타르 </a:t>
            </a:r>
            <a:r>
              <a:rPr lang="ko-KR" altLang="en-US" dirty="0" smtClean="0"/>
              <a:t>등</a:t>
            </a:r>
            <a:br>
              <a:rPr lang="ko-KR" altLang="en-US" dirty="0" smtClean="0"/>
            </a:br>
            <a:r>
              <a:rPr lang="ko-KR" altLang="en-US" dirty="0" smtClean="0"/>
              <a:t>→ </a:t>
            </a:r>
            <a:r>
              <a:rPr lang="ko-KR" altLang="en-US" b="1" dirty="0" smtClean="0"/>
              <a:t>석유</a:t>
            </a:r>
            <a:r>
              <a:rPr lang="en-US" altLang="ko-KR" b="1" dirty="0" smtClean="0"/>
              <a:t>·</a:t>
            </a:r>
            <a:r>
              <a:rPr lang="ko-KR" altLang="en-US" b="1" dirty="0" smtClean="0"/>
              <a:t>가스 중심 국가들</a:t>
            </a:r>
            <a:r>
              <a:rPr lang="ko-KR" altLang="en-US" dirty="0" smtClean="0"/>
              <a:t> → 석탄</a:t>
            </a:r>
            <a:r>
              <a:rPr lang="en-US" altLang="ko-KR" dirty="0" smtClean="0"/>
              <a:t>·</a:t>
            </a:r>
            <a:r>
              <a:rPr lang="ko-KR" altLang="en-US" dirty="0" smtClean="0"/>
              <a:t>시멘트 비중은 낮음</a:t>
            </a:r>
            <a:r>
              <a:rPr lang="en-US" altLang="ko-KR" dirty="0" smtClean="0"/>
              <a:t>, </a:t>
            </a:r>
            <a:r>
              <a:rPr lang="ko-KR" altLang="en-US" dirty="0" smtClean="0"/>
              <a:t>상대적으로 청정연료 기반 많음</a:t>
            </a:r>
          </a:p>
          <a:p>
            <a:endParaRPr lang="en-US" altLang="ko-KR" sz="1200" b="1" dirty="0">
              <a:latin typeface="+mn-ea"/>
            </a:endParaRPr>
          </a:p>
        </p:txBody>
      </p:sp>
      <p:sp>
        <p:nvSpPr>
          <p:cNvPr id="4" name="슬라이드 번호 개체 틀 3"/>
          <p:cNvSpPr>
            <a:spLocks noGrp="1"/>
          </p:cNvSpPr>
          <p:nvPr>
            <p:ph type="sldNum" sz="quarter" idx="10"/>
          </p:nvPr>
        </p:nvSpPr>
        <p:spPr/>
        <p:txBody>
          <a:bodyPr/>
          <a:lstStyle/>
          <a:p>
            <a:fld id="{8F9ABC49-ED13-4F77-8E53-C82C693642DC}" type="slidenum">
              <a:rPr lang="ko-KR" altLang="en-US" smtClean="0"/>
              <a:pPr/>
              <a:t>22</a:t>
            </a:fld>
            <a:endParaRPr lang="ko-KR"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pPr marL="0" marR="0" indent="0" algn="l" defTabSz="914400" rtl="0" eaLnBrk="1" fontAlgn="auto" latinLnBrk="1" hangingPunct="1">
              <a:lnSpc>
                <a:spcPct val="100000"/>
              </a:lnSpc>
              <a:spcBef>
                <a:spcPts val="0"/>
              </a:spcBef>
              <a:spcAft>
                <a:spcPts val="0"/>
              </a:spcAft>
              <a:buClrTx/>
              <a:buSzTx/>
              <a:buFontTx/>
              <a:buNone/>
              <a:tabLst/>
              <a:defRPr/>
            </a:pPr>
            <a:r>
              <a:rPr lang="ko-KR" altLang="en-US" sz="1200" dirty="0" smtClean="0"/>
              <a:t>변수 수가 많고 군집 수 최적화</a:t>
            </a:r>
            <a:r>
              <a:rPr lang="en-US" altLang="ko-KR" sz="1200" b="1" dirty="0" smtClean="0">
                <a:latin typeface="NanumBarunGothic Light" panose="020B0603020101020101" pitchFamily="34" charset="-127"/>
                <a:ea typeface="NanumBarunGothic Light" panose="020B0603020101020101" pitchFamily="34" charset="-127"/>
              </a:rPr>
              <a:t>=&gt; </a:t>
            </a:r>
            <a:r>
              <a:rPr lang="ko-KR" altLang="en-US" sz="1200" b="1" dirty="0" smtClean="0">
                <a:latin typeface="NanumBarunGothic Light" panose="020B0603020101020101" pitchFamily="34" charset="-127"/>
                <a:ea typeface="NanumBarunGothic Light" panose="020B0603020101020101" pitchFamily="34" charset="-127"/>
              </a:rPr>
              <a:t>비계층적　군집분석（Ｋｍｅａｎｓ）　수행</a:t>
            </a:r>
            <a:endParaRPr lang="ko-KR" altLang="en-US" sz="1200" dirty="0" smtClean="0"/>
          </a:p>
          <a:p>
            <a:endParaRPr lang="en-US" altLang="ko-KR" sz="1200" b="1" dirty="0">
              <a:latin typeface="+mn-ea"/>
            </a:endParaRPr>
          </a:p>
        </p:txBody>
      </p:sp>
      <p:sp>
        <p:nvSpPr>
          <p:cNvPr id="4" name="슬라이드 번호 개체 틀 3"/>
          <p:cNvSpPr>
            <a:spLocks noGrp="1"/>
          </p:cNvSpPr>
          <p:nvPr>
            <p:ph type="sldNum" sz="quarter" idx="10"/>
          </p:nvPr>
        </p:nvSpPr>
        <p:spPr/>
        <p:txBody>
          <a:bodyPr/>
          <a:lstStyle/>
          <a:p>
            <a:fld id="{8F9ABC49-ED13-4F77-8E53-C82C693642DC}" type="slidenum">
              <a:rPr lang="ko-KR" altLang="en-US" smtClean="0"/>
              <a:pPr/>
              <a:t>23</a:t>
            </a:fld>
            <a:endParaRPr lang="ko-KR"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dirty="0"/>
          </a:p>
        </p:txBody>
      </p:sp>
      <p:sp>
        <p:nvSpPr>
          <p:cNvPr id="4" name="슬라이드 번호 개체 틀 3"/>
          <p:cNvSpPr>
            <a:spLocks noGrp="1"/>
          </p:cNvSpPr>
          <p:nvPr>
            <p:ph type="sldNum" sz="quarter" idx="10"/>
          </p:nvPr>
        </p:nvSpPr>
        <p:spPr/>
        <p:txBody>
          <a:bodyPr/>
          <a:lstStyle/>
          <a:p>
            <a:fld id="{8F9ABC49-ED13-4F77-8E53-C82C693642DC}" type="slidenum">
              <a:rPr lang="ko-KR" altLang="en-US" smtClean="0"/>
              <a:pPr/>
              <a:t>24</a:t>
            </a:fld>
            <a:endParaRPr lang="ko-KR"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r>
              <a:rPr lang="ko-KR" altLang="en-US" dirty="0" smtClean="0"/>
              <a:t>실루엣계수는 </a:t>
            </a:r>
            <a:r>
              <a:rPr lang="en-US" altLang="ko-KR" dirty="0" smtClean="0"/>
              <a:t>1</a:t>
            </a:r>
            <a:r>
              <a:rPr lang="ko-KR" altLang="en-US" dirty="0" smtClean="0"/>
              <a:t>에 가까울수록</a:t>
            </a:r>
            <a:r>
              <a:rPr lang="en-US" altLang="ko-KR" dirty="0" smtClean="0"/>
              <a:t>, SSE(</a:t>
            </a:r>
            <a:r>
              <a:rPr lang="ko-KR" altLang="en-US" dirty="0" err="1" smtClean="0"/>
              <a:t>군집내</a:t>
            </a:r>
            <a:r>
              <a:rPr lang="ko-KR" altLang="en-US" dirty="0" smtClean="0"/>
              <a:t> </a:t>
            </a:r>
            <a:r>
              <a:rPr lang="ko-KR" altLang="en-US" dirty="0" err="1" smtClean="0"/>
              <a:t>제곱합</a:t>
            </a:r>
            <a:r>
              <a:rPr lang="en-US" altLang="ko-KR" dirty="0" smtClean="0"/>
              <a:t>)E</a:t>
            </a:r>
            <a:r>
              <a:rPr lang="ko-KR" altLang="en-US" dirty="0" smtClean="0"/>
              <a:t>는 작을수록 좋은데 적절한 부분이 군집수가 </a:t>
            </a:r>
            <a:r>
              <a:rPr lang="en-US" altLang="ko-KR" dirty="0" smtClean="0"/>
              <a:t>4,8</a:t>
            </a:r>
            <a:r>
              <a:rPr lang="ko-KR" altLang="en-US" dirty="0" smtClean="0"/>
              <a:t>일 때 </a:t>
            </a:r>
            <a:r>
              <a:rPr lang="en-US" altLang="ko-KR" dirty="0" smtClean="0"/>
              <a:t>2</a:t>
            </a:r>
            <a:r>
              <a:rPr lang="ko-KR" altLang="en-US" dirty="0" smtClean="0"/>
              <a:t>군데 보임</a:t>
            </a:r>
            <a:endParaRPr lang="en-US" altLang="ko-KR" dirty="0" smtClean="0"/>
          </a:p>
          <a:p>
            <a:r>
              <a:rPr lang="ko-KR" altLang="en-US" dirty="0" err="1" smtClean="0"/>
              <a:t>앞서한</a:t>
            </a:r>
            <a:r>
              <a:rPr lang="ko-KR" altLang="en-US" dirty="0" smtClean="0"/>
              <a:t> </a:t>
            </a:r>
            <a:r>
              <a:rPr lang="en-US" altLang="ko-KR" dirty="0" err="1" smtClean="0"/>
              <a:t>Cnvalidity</a:t>
            </a:r>
            <a:r>
              <a:rPr lang="ko-KR" altLang="en-US" dirty="0" smtClean="0"/>
              <a:t>와도 일치</a:t>
            </a:r>
            <a:endParaRPr lang="en-US" altLang="ko-KR" dirty="0" smtClean="0"/>
          </a:p>
          <a:p>
            <a:r>
              <a:rPr lang="ko-KR" altLang="en-US" dirty="0" smtClean="0"/>
              <a:t>하지만 군집수가 </a:t>
            </a:r>
            <a:r>
              <a:rPr lang="en-US" altLang="ko-KR" dirty="0" smtClean="0"/>
              <a:t>9</a:t>
            </a:r>
            <a:r>
              <a:rPr lang="ko-KR" altLang="en-US" dirty="0" smtClean="0"/>
              <a:t>일 때는 실루엣 계수가 </a:t>
            </a:r>
            <a:r>
              <a:rPr lang="en-US" altLang="ko-KR" dirty="0" smtClean="0"/>
              <a:t>0.5</a:t>
            </a:r>
            <a:r>
              <a:rPr lang="ko-KR" altLang="en-US" dirty="0" smtClean="0"/>
              <a:t>보다도 낮아 </a:t>
            </a:r>
            <a:r>
              <a:rPr lang="ko-KR" altLang="en-US" dirty="0" err="1" smtClean="0"/>
              <a:t>군집수</a:t>
            </a:r>
            <a:r>
              <a:rPr lang="ko-KR" altLang="en-US" dirty="0" smtClean="0"/>
              <a:t> </a:t>
            </a:r>
            <a:r>
              <a:rPr lang="en-US" altLang="ko-KR" dirty="0" smtClean="0"/>
              <a:t>4</a:t>
            </a:r>
            <a:r>
              <a:rPr lang="ko-KR" altLang="en-US" dirty="0" smtClean="0"/>
              <a:t>인 경우만 진행해보기로 함 </a:t>
            </a:r>
            <a:endParaRPr lang="en-US" altLang="ko-KR" dirty="0" smtClean="0"/>
          </a:p>
        </p:txBody>
      </p:sp>
      <p:sp>
        <p:nvSpPr>
          <p:cNvPr id="4" name="슬라이드 번호 개체 틀 3"/>
          <p:cNvSpPr>
            <a:spLocks noGrp="1"/>
          </p:cNvSpPr>
          <p:nvPr>
            <p:ph type="sldNum" sz="quarter" idx="10"/>
          </p:nvPr>
        </p:nvSpPr>
        <p:spPr/>
        <p:txBody>
          <a:bodyPr/>
          <a:lstStyle/>
          <a:p>
            <a:fld id="{8F9ABC49-ED13-4F77-8E53-C82C693642DC}" type="slidenum">
              <a:rPr lang="ko-KR" altLang="en-US" smtClean="0"/>
              <a:pPr/>
              <a:t>26</a:t>
            </a:fld>
            <a:endParaRPr lang="ko-KR"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r>
              <a:rPr lang="ko-KR" altLang="en-US" dirty="0" smtClean="0"/>
              <a:t>명확한 해석을 위해 중심화된 </a:t>
            </a:r>
            <a:r>
              <a:rPr lang="ko-KR" altLang="en-US" dirty="0" err="1" smtClean="0"/>
              <a:t>변화량</a:t>
            </a:r>
            <a:r>
              <a:rPr lang="ko-KR" altLang="en-US" dirty="0" smtClean="0"/>
              <a:t> 데이터와 주성분 </a:t>
            </a:r>
            <a:r>
              <a:rPr lang="ko-KR" altLang="en-US" dirty="0" err="1" smtClean="0"/>
              <a:t>적재값을</a:t>
            </a:r>
            <a:r>
              <a:rPr lang="ko-KR" altLang="en-US" dirty="0" smtClean="0"/>
              <a:t> </a:t>
            </a:r>
            <a:r>
              <a:rPr lang="ko-KR" altLang="en-US" dirty="0" err="1" smtClean="0"/>
              <a:t>내적하여</a:t>
            </a:r>
            <a:r>
              <a:rPr lang="ko-KR" altLang="en-US" dirty="0" smtClean="0"/>
              <a:t> 주성분 점수 표 생성</a:t>
            </a:r>
            <a:endParaRPr lang="ko-KR" altLang="en-US" dirty="0"/>
          </a:p>
        </p:txBody>
      </p:sp>
      <p:sp>
        <p:nvSpPr>
          <p:cNvPr id="4" name="슬라이드 번호 개체 틀 3"/>
          <p:cNvSpPr>
            <a:spLocks noGrp="1"/>
          </p:cNvSpPr>
          <p:nvPr>
            <p:ph type="sldNum" sz="quarter" idx="10"/>
          </p:nvPr>
        </p:nvSpPr>
        <p:spPr/>
        <p:txBody>
          <a:bodyPr/>
          <a:lstStyle/>
          <a:p>
            <a:fld id="{8F9ABC49-ED13-4F77-8E53-C82C693642DC}" type="slidenum">
              <a:rPr lang="ko-KR" altLang="en-US" smtClean="0"/>
              <a:pPr/>
              <a:t>28</a:t>
            </a:fld>
            <a:endParaRPr lang="ko-KR"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fontScale="92500" lnSpcReduction="20000"/>
          </a:bodyPr>
          <a:lstStyle/>
          <a:p>
            <a:r>
              <a:rPr lang="en-US" altLang="ko-KR" b="1" dirty="0" smtClean="0"/>
              <a:t>Cluster 1</a:t>
            </a:r>
            <a:r>
              <a:rPr lang="ko-KR" altLang="en-US" dirty="0" smtClean="0"/>
              <a:t>은 </a:t>
            </a:r>
            <a:r>
              <a:rPr lang="ko-KR" altLang="en-US" i="1" dirty="0" smtClean="0"/>
              <a:t>중국 단독 클러스터</a:t>
            </a:r>
            <a:r>
              <a:rPr lang="ko-KR" altLang="en-US" dirty="0" smtClean="0"/>
              <a:t>입니다</a:t>
            </a:r>
            <a:r>
              <a:rPr lang="en-US" altLang="ko-KR" dirty="0" smtClean="0"/>
              <a:t>.</a:t>
            </a:r>
            <a:br>
              <a:rPr lang="en-US" altLang="ko-KR" dirty="0" smtClean="0"/>
            </a:br>
            <a:r>
              <a:rPr lang="ko-KR" altLang="en-US" dirty="0" smtClean="0"/>
              <a:t>중국은 최근 </a:t>
            </a:r>
            <a:r>
              <a:rPr lang="en-US" altLang="ko-KR" dirty="0" smtClean="0"/>
              <a:t>20</a:t>
            </a:r>
            <a:r>
              <a:rPr lang="ko-KR" altLang="en-US" dirty="0" smtClean="0"/>
              <a:t>년간 에너지 소비와 온실가스 배출이 압도적으로 증가했으며</a:t>
            </a:r>
            <a:r>
              <a:rPr lang="en-US" altLang="ko-KR" dirty="0" smtClean="0"/>
              <a:t>, </a:t>
            </a:r>
            <a:r>
              <a:rPr lang="ko-KR" altLang="en-US" dirty="0" smtClean="0"/>
              <a:t>특히 석탄 기반 에너지원 사용 비중이 높아지는 특징을 보입니다</a:t>
            </a:r>
            <a:r>
              <a:rPr lang="en-US" altLang="ko-KR" dirty="0" smtClean="0"/>
              <a:t>.</a:t>
            </a:r>
            <a:br>
              <a:rPr lang="en-US" altLang="ko-KR" dirty="0" smtClean="0"/>
            </a:br>
            <a:r>
              <a:rPr lang="ko-KR" altLang="en-US" dirty="0" smtClean="0"/>
              <a:t>또한</a:t>
            </a:r>
            <a:r>
              <a:rPr lang="en-US" altLang="ko-KR" dirty="0" smtClean="0"/>
              <a:t>, 1</a:t>
            </a:r>
            <a:r>
              <a:rPr lang="ko-KR" altLang="en-US" dirty="0" smtClean="0"/>
              <a:t>인당 배출량도 높은 수준입니다</a:t>
            </a:r>
            <a:r>
              <a:rPr lang="en-US" altLang="ko-KR" dirty="0" smtClean="0"/>
              <a:t>.</a:t>
            </a:r>
            <a:br>
              <a:rPr lang="en-US" altLang="ko-KR" dirty="0" smtClean="0"/>
            </a:br>
            <a:r>
              <a:rPr lang="ko-KR" altLang="en-US" dirty="0" smtClean="0"/>
              <a:t>이러한 극단적인 변화로 인해 다른 국가들과 구별되어 단독 클러스터로 형성되었습니다</a:t>
            </a:r>
            <a:r>
              <a:rPr lang="en-US" altLang="ko-KR" dirty="0" smtClean="0"/>
              <a:t>.</a:t>
            </a:r>
          </a:p>
          <a:p>
            <a:r>
              <a:rPr lang="en-US" altLang="ko-KR" b="1" dirty="0" smtClean="0"/>
              <a:t>Cluster 2</a:t>
            </a:r>
            <a:r>
              <a:rPr lang="ko-KR" altLang="en-US" dirty="0" smtClean="0"/>
              <a:t>는 </a:t>
            </a:r>
            <a:r>
              <a:rPr lang="ko-KR" altLang="en-US" i="1" dirty="0" smtClean="0"/>
              <a:t>가장 많은 국가가 포함된 클러스터</a:t>
            </a:r>
            <a:r>
              <a:rPr lang="ko-KR" altLang="en-US" dirty="0" smtClean="0"/>
              <a:t>입니다</a:t>
            </a:r>
            <a:r>
              <a:rPr lang="en-US" altLang="ko-KR" dirty="0" smtClean="0"/>
              <a:t>.</a:t>
            </a:r>
            <a:br>
              <a:rPr lang="en-US" altLang="ko-KR" dirty="0" smtClean="0"/>
            </a:br>
            <a:r>
              <a:rPr lang="ko-KR" altLang="en-US" dirty="0" smtClean="0"/>
              <a:t>유럽 선진국</a:t>
            </a:r>
            <a:r>
              <a:rPr lang="en-US" altLang="ko-KR" dirty="0" smtClean="0"/>
              <a:t>, </a:t>
            </a:r>
            <a:r>
              <a:rPr lang="ko-KR" altLang="en-US" dirty="0" smtClean="0"/>
              <a:t>일본</a:t>
            </a:r>
            <a:r>
              <a:rPr lang="en-US" altLang="ko-KR" dirty="0" smtClean="0"/>
              <a:t>, </a:t>
            </a:r>
            <a:r>
              <a:rPr lang="ko-KR" altLang="en-US" dirty="0" smtClean="0"/>
              <a:t>한국</a:t>
            </a:r>
            <a:r>
              <a:rPr lang="en-US" altLang="ko-KR" dirty="0" smtClean="0"/>
              <a:t>, </a:t>
            </a:r>
            <a:r>
              <a:rPr lang="ko-KR" altLang="en-US" dirty="0" smtClean="0"/>
              <a:t>그 외 다양한 개발도상국들이 포함됩니다</a:t>
            </a:r>
            <a:r>
              <a:rPr lang="en-US" altLang="ko-KR" dirty="0" smtClean="0"/>
              <a:t>.</a:t>
            </a:r>
            <a:br>
              <a:rPr lang="en-US" altLang="ko-KR" dirty="0" smtClean="0"/>
            </a:br>
            <a:r>
              <a:rPr lang="ko-KR" altLang="en-US" dirty="0" smtClean="0"/>
              <a:t>이 클러스터는 전반적으로 에너지 소비와 온실가스 배출 변화량이 크지 않고 안정적인 국가들입니다</a:t>
            </a:r>
            <a:r>
              <a:rPr lang="en-US" altLang="ko-KR" dirty="0" smtClean="0"/>
              <a:t>.</a:t>
            </a:r>
            <a:br>
              <a:rPr lang="en-US" altLang="ko-KR" dirty="0" smtClean="0"/>
            </a:br>
            <a:r>
              <a:rPr lang="ko-KR" altLang="en-US" dirty="0" smtClean="0"/>
              <a:t>또한</a:t>
            </a:r>
            <a:r>
              <a:rPr lang="en-US" altLang="ko-KR" dirty="0" smtClean="0"/>
              <a:t>, </a:t>
            </a:r>
            <a:r>
              <a:rPr lang="ko-KR" altLang="en-US" dirty="0" smtClean="0"/>
              <a:t>석탄 사용이 약간 증가하긴 했지만 전체적으로 큰 변화 없이 정책적 관리가 잘 이루어지고 있는 국가군입니다</a:t>
            </a:r>
            <a:r>
              <a:rPr lang="en-US" altLang="ko-KR" dirty="0" smtClean="0"/>
              <a:t>.</a:t>
            </a:r>
          </a:p>
          <a:p>
            <a:r>
              <a:rPr lang="en-US" altLang="ko-KR" b="1" dirty="0" smtClean="0"/>
              <a:t>Cluster 3</a:t>
            </a:r>
            <a:r>
              <a:rPr lang="ko-KR" altLang="en-US" dirty="0" smtClean="0"/>
              <a:t>는 </a:t>
            </a:r>
            <a:r>
              <a:rPr lang="ko-KR" altLang="en-US" i="1" dirty="0" smtClean="0"/>
              <a:t>브라질</a:t>
            </a:r>
            <a:r>
              <a:rPr lang="en-US" altLang="ko-KR" i="1" dirty="0" smtClean="0"/>
              <a:t>, </a:t>
            </a:r>
            <a:r>
              <a:rPr lang="ko-KR" altLang="en-US" i="1" dirty="0" smtClean="0"/>
              <a:t>인도</a:t>
            </a:r>
            <a:r>
              <a:rPr lang="en-US" altLang="ko-KR" i="1" dirty="0" smtClean="0"/>
              <a:t>, </a:t>
            </a:r>
            <a:r>
              <a:rPr lang="ko-KR" altLang="en-US" i="1" dirty="0" smtClean="0"/>
              <a:t>사우디아라비아</a:t>
            </a:r>
            <a:r>
              <a:rPr lang="en-US" altLang="ko-KR" i="1" dirty="0" smtClean="0"/>
              <a:t>, </a:t>
            </a:r>
            <a:r>
              <a:rPr lang="ko-KR" altLang="en-US" i="1" dirty="0" smtClean="0"/>
              <a:t>카타르</a:t>
            </a:r>
            <a:r>
              <a:rPr lang="en-US" altLang="ko-KR" i="1" dirty="0" smtClean="0"/>
              <a:t>, </a:t>
            </a:r>
            <a:r>
              <a:rPr lang="ko-KR" altLang="en-US" i="1" dirty="0" smtClean="0"/>
              <a:t>아랍에미리트</a:t>
            </a:r>
            <a:r>
              <a:rPr lang="ko-KR" altLang="en-US" dirty="0" smtClean="0"/>
              <a:t> 등 에너지 수출국과 개발도상국들이 주로 포함되어 있습니다</a:t>
            </a:r>
            <a:r>
              <a:rPr lang="en-US" altLang="ko-KR" dirty="0" smtClean="0"/>
              <a:t>.</a:t>
            </a:r>
            <a:br>
              <a:rPr lang="en-US" altLang="ko-KR" dirty="0" smtClean="0"/>
            </a:br>
            <a:r>
              <a:rPr lang="ko-KR" altLang="en-US" dirty="0" smtClean="0"/>
              <a:t>이 국가들은 최근 에너지 소비와 배출량이 증가하는 추세이며</a:t>
            </a:r>
            <a:r>
              <a:rPr lang="en-US" altLang="ko-KR" dirty="0" smtClean="0"/>
              <a:t>, </a:t>
            </a:r>
            <a:r>
              <a:rPr lang="ko-KR" altLang="en-US" dirty="0" smtClean="0"/>
              <a:t>특히 석유</a:t>
            </a:r>
            <a:r>
              <a:rPr lang="en-US" altLang="ko-KR" dirty="0" smtClean="0"/>
              <a:t>·</a:t>
            </a:r>
            <a:r>
              <a:rPr lang="ko-KR" altLang="en-US" dirty="0" smtClean="0"/>
              <a:t>가스 기반 에너지 사용이 많이 증가한 특징을 보입니다</a:t>
            </a:r>
            <a:r>
              <a:rPr lang="en-US" altLang="ko-KR" dirty="0" smtClean="0"/>
              <a:t>.</a:t>
            </a:r>
            <a:br>
              <a:rPr lang="en-US" altLang="ko-KR" dirty="0" smtClean="0"/>
            </a:br>
            <a:r>
              <a:rPr lang="ko-KR" altLang="en-US" dirty="0" smtClean="0"/>
              <a:t>반면</a:t>
            </a:r>
            <a:r>
              <a:rPr lang="en-US" altLang="ko-KR" dirty="0" smtClean="0"/>
              <a:t>, 1</a:t>
            </a:r>
            <a:r>
              <a:rPr lang="ko-KR" altLang="en-US" dirty="0" smtClean="0"/>
              <a:t>인당 배출량은 오히려 증가한 국가들이 많아 효율성 측면에서는 상대적으로 낮은 편입니다</a:t>
            </a:r>
            <a:r>
              <a:rPr lang="en-US" altLang="ko-KR" dirty="0" smtClean="0"/>
              <a:t>.</a:t>
            </a:r>
          </a:p>
          <a:p>
            <a:r>
              <a:rPr lang="en-US" altLang="ko-KR" b="1" dirty="0" smtClean="0"/>
              <a:t>Cluster 4</a:t>
            </a:r>
            <a:r>
              <a:rPr lang="ko-KR" altLang="en-US" dirty="0" smtClean="0"/>
              <a:t>는 </a:t>
            </a:r>
            <a:r>
              <a:rPr lang="ko-KR" altLang="en-US" i="1" dirty="0" smtClean="0"/>
              <a:t>미국 단독 클러스터</a:t>
            </a:r>
            <a:r>
              <a:rPr lang="ko-KR" altLang="en-US" dirty="0" smtClean="0"/>
              <a:t>입니다</a:t>
            </a:r>
            <a:r>
              <a:rPr lang="en-US" altLang="ko-KR" dirty="0" smtClean="0"/>
              <a:t>.</a:t>
            </a:r>
            <a:br>
              <a:rPr lang="en-US" altLang="ko-KR" dirty="0" smtClean="0"/>
            </a:br>
            <a:r>
              <a:rPr lang="ko-KR" altLang="en-US" dirty="0" smtClean="0"/>
              <a:t>미국은 전체 에너지 소비와 온실가스 배출이 증가한 국가이지만</a:t>
            </a:r>
            <a:r>
              <a:rPr lang="en-US" altLang="ko-KR" dirty="0" smtClean="0"/>
              <a:t>, </a:t>
            </a:r>
            <a:r>
              <a:rPr lang="ko-KR" altLang="en-US" dirty="0" smtClean="0"/>
              <a:t>에너지 효율화 정책으로 인해 </a:t>
            </a:r>
            <a:r>
              <a:rPr lang="en-US" altLang="ko-KR" dirty="0" smtClean="0"/>
              <a:t>1</a:t>
            </a:r>
            <a:r>
              <a:rPr lang="ko-KR" altLang="en-US" dirty="0" smtClean="0"/>
              <a:t>인당 배출량은 오히려 감소한 특징을 보입니다</a:t>
            </a:r>
            <a:r>
              <a:rPr lang="en-US" altLang="ko-KR" dirty="0" smtClean="0"/>
              <a:t>.</a:t>
            </a:r>
            <a:br>
              <a:rPr lang="en-US" altLang="ko-KR" dirty="0" smtClean="0"/>
            </a:br>
            <a:r>
              <a:rPr lang="ko-KR" altLang="en-US" dirty="0" smtClean="0"/>
              <a:t>또한</a:t>
            </a:r>
            <a:r>
              <a:rPr lang="en-US" altLang="ko-KR" dirty="0" smtClean="0"/>
              <a:t>, </a:t>
            </a:r>
            <a:r>
              <a:rPr lang="ko-KR" altLang="en-US" dirty="0" smtClean="0"/>
              <a:t>석유</a:t>
            </a:r>
            <a:r>
              <a:rPr lang="en-US" altLang="ko-KR" dirty="0" smtClean="0"/>
              <a:t>·</a:t>
            </a:r>
            <a:r>
              <a:rPr lang="ko-KR" altLang="en-US" dirty="0" smtClean="0"/>
              <a:t>가스</a:t>
            </a:r>
            <a:r>
              <a:rPr lang="en-US" altLang="ko-KR" dirty="0" smtClean="0"/>
              <a:t>·</a:t>
            </a:r>
            <a:r>
              <a:rPr lang="ko-KR" altLang="en-US" dirty="0" smtClean="0"/>
              <a:t>원자력 기반 에너지 사용이 증가하면서 독자적인 에너지 구조를 보이기 때문에 단독 클러스터로 분류되었습니다</a:t>
            </a:r>
            <a:r>
              <a:rPr lang="en-US" altLang="ko-KR" dirty="0" smtClean="0"/>
              <a:t>.</a:t>
            </a:r>
          </a:p>
          <a:p>
            <a:r>
              <a:rPr lang="ko-KR" altLang="en-US" b="1" dirty="0" smtClean="0"/>
              <a:t>요약하면</a:t>
            </a:r>
            <a:r>
              <a:rPr lang="en-US" altLang="ko-KR" dirty="0" smtClean="0"/>
              <a:t>,</a:t>
            </a:r>
            <a:br>
              <a:rPr lang="en-US" altLang="ko-KR" dirty="0" smtClean="0"/>
            </a:br>
            <a:r>
              <a:rPr lang="ko-KR" altLang="en-US" dirty="0" smtClean="0"/>
              <a:t>중국은 초고속 성장과 석탄 중심 에너지 구조로 독자적인 변화를 보이고 있고</a:t>
            </a:r>
            <a:r>
              <a:rPr lang="en-US" altLang="ko-KR" dirty="0" smtClean="0"/>
              <a:t>,</a:t>
            </a:r>
            <a:br>
              <a:rPr lang="en-US" altLang="ko-KR" dirty="0" smtClean="0"/>
            </a:br>
            <a:r>
              <a:rPr lang="ko-KR" altLang="en-US" dirty="0" smtClean="0"/>
              <a:t>미국은 고효율 </a:t>
            </a:r>
            <a:r>
              <a:rPr lang="ko-KR" altLang="en-US" dirty="0" err="1" smtClean="0"/>
              <a:t>고소비</a:t>
            </a:r>
            <a:r>
              <a:rPr lang="ko-KR" altLang="en-US" dirty="0" smtClean="0"/>
              <a:t> 구조를 가지며 독립된 특성을 보이고 있습니다</a:t>
            </a:r>
            <a:r>
              <a:rPr lang="en-US" altLang="ko-KR" dirty="0" smtClean="0"/>
              <a:t>.</a:t>
            </a:r>
            <a:br>
              <a:rPr lang="en-US" altLang="ko-KR" dirty="0" smtClean="0"/>
            </a:br>
            <a:r>
              <a:rPr lang="ko-KR" altLang="en-US" dirty="0" smtClean="0"/>
              <a:t>그 외 대부분의 선진국들은 변화가 안정적이며</a:t>
            </a:r>
            <a:r>
              <a:rPr lang="en-US" altLang="ko-KR" dirty="0" smtClean="0"/>
              <a:t>, </a:t>
            </a:r>
            <a:r>
              <a:rPr lang="ko-KR" altLang="en-US" dirty="0" smtClean="0"/>
              <a:t>개발도상국 및 에너지 수출국들은 석유</a:t>
            </a:r>
            <a:r>
              <a:rPr lang="en-US" altLang="ko-KR" dirty="0" smtClean="0"/>
              <a:t>·</a:t>
            </a:r>
            <a:r>
              <a:rPr lang="ko-KR" altLang="en-US" dirty="0" smtClean="0"/>
              <a:t>가스 중심으로 변화하는 특징이 있습니다</a:t>
            </a:r>
            <a:r>
              <a:rPr lang="en-US" altLang="ko-KR" dirty="0" smtClean="0"/>
              <a:t>.</a:t>
            </a:r>
          </a:p>
          <a:p>
            <a:endParaRPr lang="ko-KR" altLang="en-US" dirty="0"/>
          </a:p>
        </p:txBody>
      </p:sp>
      <p:sp>
        <p:nvSpPr>
          <p:cNvPr id="4" name="슬라이드 번호 개체 틀 3"/>
          <p:cNvSpPr>
            <a:spLocks noGrp="1"/>
          </p:cNvSpPr>
          <p:nvPr>
            <p:ph type="sldNum" sz="quarter" idx="10"/>
          </p:nvPr>
        </p:nvSpPr>
        <p:spPr/>
        <p:txBody>
          <a:bodyPr/>
          <a:lstStyle/>
          <a:p>
            <a:fld id="{8F9ABC49-ED13-4F77-8E53-C82C693642DC}" type="slidenum">
              <a:rPr lang="ko-KR" altLang="en-US" smtClean="0"/>
              <a:pPr/>
              <a:t>30</a:t>
            </a:fld>
            <a:endParaRPr lang="ko-KR"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dirty="0"/>
          </a:p>
        </p:txBody>
      </p:sp>
      <p:sp>
        <p:nvSpPr>
          <p:cNvPr id="4" name="슬라이드 번호 개체 틀 3"/>
          <p:cNvSpPr>
            <a:spLocks noGrp="1"/>
          </p:cNvSpPr>
          <p:nvPr>
            <p:ph type="sldNum" sz="quarter" idx="10"/>
          </p:nvPr>
        </p:nvSpPr>
        <p:spPr/>
        <p:txBody>
          <a:bodyPr/>
          <a:lstStyle/>
          <a:p>
            <a:fld id="{8F9ABC49-ED13-4F77-8E53-C82C693642DC}" type="slidenum">
              <a:rPr lang="ko-KR" altLang="en-US" smtClean="0"/>
              <a:pPr/>
              <a:t>32</a:t>
            </a:fld>
            <a:endParaRPr lang="ko-KR"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r>
              <a:rPr lang="ko-KR" altLang="en-US" dirty="0" smtClean="0"/>
              <a:t>인도</a:t>
            </a:r>
            <a:r>
              <a:rPr lang="en-US" altLang="ko-KR" dirty="0" smtClean="0"/>
              <a:t>,</a:t>
            </a:r>
            <a:r>
              <a:rPr lang="ko-KR" altLang="en-US" dirty="0" smtClean="0"/>
              <a:t>네팔 같은 아시아 개발도상국</a:t>
            </a:r>
            <a:endParaRPr lang="en-US" altLang="ko-KR" dirty="0" smtClean="0"/>
          </a:p>
          <a:p>
            <a:r>
              <a:rPr lang="ko-KR" altLang="en-US" dirty="0" smtClean="0"/>
              <a:t>화석연료기반</a:t>
            </a:r>
            <a:r>
              <a:rPr lang="en-US" altLang="ko-KR" dirty="0" smtClean="0"/>
              <a:t>+</a:t>
            </a:r>
            <a:r>
              <a:rPr lang="ko-KR" altLang="en-US" dirty="0" smtClean="0"/>
              <a:t>산업성장기 </a:t>
            </a:r>
            <a:r>
              <a:rPr lang="en-US" altLang="ko-KR" dirty="0" smtClean="0"/>
              <a:t>-&gt; </a:t>
            </a:r>
            <a:r>
              <a:rPr lang="ko-KR" altLang="en-US" smtClean="0"/>
              <a:t>배출량 급증</a:t>
            </a:r>
            <a:endParaRPr lang="ko-KR" altLang="en-US" dirty="0"/>
          </a:p>
        </p:txBody>
      </p:sp>
      <p:sp>
        <p:nvSpPr>
          <p:cNvPr id="4" name="슬라이드 번호 개체 틀 3"/>
          <p:cNvSpPr>
            <a:spLocks noGrp="1"/>
          </p:cNvSpPr>
          <p:nvPr>
            <p:ph type="sldNum" sz="quarter" idx="10"/>
          </p:nvPr>
        </p:nvSpPr>
        <p:spPr/>
        <p:txBody>
          <a:bodyPr/>
          <a:lstStyle/>
          <a:p>
            <a:fld id="{8F9ABC49-ED13-4F77-8E53-C82C693642DC}" type="slidenum">
              <a:rPr lang="ko-KR" altLang="en-US" smtClean="0"/>
              <a:pPr/>
              <a:t>33</a:t>
            </a:fld>
            <a:endParaRPr lang="ko-KR"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6/1/2025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6/1/2025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6/1/2025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png"/><Relationship Id="rId7"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3.png"/><Relationship Id="rId10" Type="http://schemas.openxmlformats.org/officeDocument/2006/relationships/image" Target="../media/image19.png"/><Relationship Id="rId4" Type="http://schemas.openxmlformats.org/officeDocument/2006/relationships/image" Target="../media/image4.png"/><Relationship Id="rId9"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png"/><Relationship Id="rId7"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3.png"/><Relationship Id="rId4" Type="http://schemas.openxmlformats.org/officeDocument/2006/relationships/image" Target="../media/image4.png"/><Relationship Id="rId9" Type="http://schemas.openxmlformats.org/officeDocument/2006/relationships/image" Target="../media/image23.png"/></Relationships>
</file>

<file path=ppt/slides/_rels/slide10.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png"/><Relationship Id="rId7"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3.png"/><Relationship Id="rId10" Type="http://schemas.openxmlformats.org/officeDocument/2006/relationships/image" Target="../media/image28.png"/><Relationship Id="rId4" Type="http://schemas.openxmlformats.org/officeDocument/2006/relationships/image" Target="../media/image4.png"/><Relationship Id="rId9" Type="http://schemas.openxmlformats.org/officeDocument/2006/relationships/image" Target="../media/image27.png"/></Relationships>
</file>

<file path=ppt/slides/_rels/slide11.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1.png"/><Relationship Id="rId7"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3.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5.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1.png"/><Relationship Id="rId7" Type="http://schemas.openxmlformats.org/officeDocument/2006/relationships/image" Target="../media/image37.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3.png"/><Relationship Id="rId10" Type="http://schemas.openxmlformats.org/officeDocument/2006/relationships/image" Target="../media/image40.png"/><Relationship Id="rId4" Type="http://schemas.openxmlformats.org/officeDocument/2006/relationships/image" Target="../media/image4.png"/><Relationship Id="rId9" Type="http://schemas.openxmlformats.org/officeDocument/2006/relationships/image" Target="../media/image39.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3.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3.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4.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3.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45.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1.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45.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1.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1.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1.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1.png"/><Relationship Id="rId7" Type="http://schemas.openxmlformats.org/officeDocument/2006/relationships/image" Target="../media/image48.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47.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50.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3.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2.png"/><Relationship Id="rId5" Type="http://schemas.openxmlformats.org/officeDocument/2006/relationships/image" Target="../media/image4.png"/><Relationship Id="rId4" Type="http://schemas.openxmlformats.org/officeDocument/2006/relationships/image" Target="../media/image51.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54.png"/><Relationship Id="rId5" Type="http://schemas.openxmlformats.org/officeDocument/2006/relationships/image" Target="../media/image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1.png"/><Relationship Id="rId7" Type="http://schemas.openxmlformats.org/officeDocument/2006/relationships/image" Target="../media/image58.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57.png"/><Relationship Id="rId5" Type="http://schemas.openxmlformats.org/officeDocument/2006/relationships/image" Target="../media/image4.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60.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3.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image" Target="../media/image43.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29BEE"/>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cstate="print"/>
          <a:stretch>
            <a:fillRect/>
          </a:stretch>
        </p:blipFill>
        <p:spPr>
          <a:xfrm>
            <a:off x="292100" y="292100"/>
            <a:ext cx="17716500" cy="9715500"/>
          </a:xfrm>
          <a:prstGeom prst="rect">
            <a:avLst/>
          </a:prstGeom>
        </p:spPr>
      </p:pic>
      <p:pic>
        <p:nvPicPr>
          <p:cNvPr id="3" name="Picture 3"/>
          <p:cNvPicPr>
            <a:picLocks noChangeAspect="1"/>
          </p:cNvPicPr>
          <p:nvPr/>
        </p:nvPicPr>
        <p:blipFill>
          <a:blip r:embed="rId3" cstate="print"/>
          <a:stretch>
            <a:fillRect/>
          </a:stretch>
        </p:blipFill>
        <p:spPr>
          <a:xfrm>
            <a:off x="749300" y="9118600"/>
            <a:ext cx="16789400" cy="25400"/>
          </a:xfrm>
          <a:prstGeom prst="rect">
            <a:avLst/>
          </a:prstGeom>
        </p:spPr>
      </p:pic>
      <p:pic>
        <p:nvPicPr>
          <p:cNvPr id="4" name="Picture 4"/>
          <p:cNvPicPr>
            <a:picLocks noChangeAspect="1"/>
          </p:cNvPicPr>
          <p:nvPr/>
        </p:nvPicPr>
        <p:blipFill>
          <a:blip r:embed="rId3" cstate="print"/>
          <a:stretch>
            <a:fillRect/>
          </a:stretch>
        </p:blipFill>
        <p:spPr>
          <a:xfrm>
            <a:off x="749300" y="9664700"/>
            <a:ext cx="16789400" cy="25400"/>
          </a:xfrm>
          <a:prstGeom prst="rect">
            <a:avLst/>
          </a:prstGeom>
        </p:spPr>
      </p:pic>
      <p:pic>
        <p:nvPicPr>
          <p:cNvPr id="5" name="Picture 5"/>
          <p:cNvPicPr>
            <a:picLocks noChangeAspect="1"/>
          </p:cNvPicPr>
          <p:nvPr/>
        </p:nvPicPr>
        <p:blipFill>
          <a:blip r:embed="rId4" cstate="print"/>
          <a:stretch>
            <a:fillRect/>
          </a:stretch>
        </p:blipFill>
        <p:spPr>
          <a:xfrm>
            <a:off x="16611600" y="0"/>
            <a:ext cx="673100" cy="965200"/>
          </a:xfrm>
          <a:prstGeom prst="rect">
            <a:avLst/>
          </a:prstGeom>
        </p:spPr>
      </p:pic>
      <p:sp>
        <p:nvSpPr>
          <p:cNvPr id="8" name="TextBox 8"/>
          <p:cNvSpPr txBox="1"/>
          <p:nvPr/>
        </p:nvSpPr>
        <p:spPr>
          <a:xfrm>
            <a:off x="13093700" y="9232900"/>
            <a:ext cx="4076700" cy="330200"/>
          </a:xfrm>
          <a:prstGeom prst="rect">
            <a:avLst/>
          </a:prstGeom>
        </p:spPr>
        <p:txBody>
          <a:bodyPr lIns="0" tIns="0" rIns="0" bIns="0" rtlCol="0" anchor="ctr"/>
          <a:lstStyle/>
          <a:p>
            <a:pPr lvl="0" algn="r">
              <a:lnSpc>
                <a:spcPct val="99600"/>
              </a:lnSpc>
            </a:pPr>
            <a:r>
              <a:rPr lang="en-US" sz="1900" b="0" i="0" u="none" strike="noStrike" dirty="0">
                <a:solidFill>
                  <a:srgbClr val="229BEE"/>
                </a:solidFill>
                <a:latin typeface="+mn-ea"/>
              </a:rPr>
              <a:t> </a:t>
            </a:r>
            <a:r>
              <a:rPr lang="en-US" sz="1900" b="0" i="0" u="none" strike="noStrike" dirty="0" smtClean="0">
                <a:solidFill>
                  <a:srgbClr val="229BEE"/>
                </a:solidFill>
                <a:latin typeface="+mn-ea"/>
              </a:rPr>
              <a:t>kyjness@naver.com</a:t>
            </a:r>
            <a:r>
              <a:rPr lang="en-US" sz="1900" b="0" i="0" u="none" strike="noStrike" dirty="0">
                <a:solidFill>
                  <a:srgbClr val="229BEE"/>
                </a:solidFill>
                <a:latin typeface="+mn-ea"/>
              </a:rPr>
              <a:t> </a:t>
            </a:r>
          </a:p>
        </p:txBody>
      </p:sp>
      <p:sp>
        <p:nvSpPr>
          <p:cNvPr id="9" name="TextBox 9"/>
          <p:cNvSpPr txBox="1"/>
          <p:nvPr/>
        </p:nvSpPr>
        <p:spPr>
          <a:xfrm>
            <a:off x="1117600" y="9232900"/>
            <a:ext cx="4076700" cy="330200"/>
          </a:xfrm>
          <a:prstGeom prst="rect">
            <a:avLst/>
          </a:prstGeom>
        </p:spPr>
        <p:txBody>
          <a:bodyPr lIns="0" tIns="0" rIns="0" bIns="0" rtlCol="0" anchor="ctr"/>
          <a:lstStyle/>
          <a:p>
            <a:pPr lvl="0" algn="l">
              <a:lnSpc>
                <a:spcPct val="99600"/>
              </a:lnSpc>
            </a:pPr>
            <a:r>
              <a:rPr lang="ko-KR" sz="1900" b="0" i="0" u="none" strike="noStrike" dirty="0">
                <a:solidFill>
                  <a:srgbClr val="229BEE"/>
                </a:solidFill>
                <a:latin typeface="+mn-ea"/>
              </a:rPr>
              <a:t>담당자</a:t>
            </a:r>
            <a:r>
              <a:rPr lang="en-US" sz="1900" b="0" i="0" u="none" strike="noStrike" spc="200" dirty="0">
                <a:solidFill>
                  <a:srgbClr val="229BEE"/>
                </a:solidFill>
                <a:latin typeface="+mn-ea"/>
              </a:rPr>
              <a:t> </a:t>
            </a:r>
            <a:r>
              <a:rPr lang="en-US" sz="1900" b="0" i="0" u="none" strike="noStrike" dirty="0">
                <a:solidFill>
                  <a:srgbClr val="229BEE"/>
                </a:solidFill>
                <a:latin typeface="+mn-ea"/>
              </a:rPr>
              <a:t>l</a:t>
            </a:r>
            <a:r>
              <a:rPr lang="en-US" sz="1900" b="0" i="0" u="none" strike="noStrike" spc="200" dirty="0">
                <a:solidFill>
                  <a:srgbClr val="229BEE"/>
                </a:solidFill>
                <a:latin typeface="+mn-ea"/>
              </a:rPr>
              <a:t> </a:t>
            </a:r>
            <a:r>
              <a:rPr lang="ko-KR" altLang="en-US" sz="1900" dirty="0" smtClean="0">
                <a:solidFill>
                  <a:srgbClr val="229BEE"/>
                </a:solidFill>
                <a:latin typeface="+mn-ea"/>
              </a:rPr>
              <a:t>강유진</a:t>
            </a:r>
            <a:endParaRPr lang="ko-KR" sz="1900" b="0" i="0" u="none" strike="noStrike" dirty="0">
              <a:solidFill>
                <a:srgbClr val="229BEE"/>
              </a:solidFill>
              <a:latin typeface="+mn-ea"/>
            </a:endParaRPr>
          </a:p>
        </p:txBody>
      </p:sp>
      <p:sp>
        <p:nvSpPr>
          <p:cNvPr id="10" name="TextBox 10"/>
          <p:cNvSpPr txBox="1"/>
          <p:nvPr/>
        </p:nvSpPr>
        <p:spPr>
          <a:xfrm>
            <a:off x="1117600" y="6057900"/>
            <a:ext cx="16103600" cy="2870200"/>
          </a:xfrm>
          <a:prstGeom prst="rect">
            <a:avLst/>
          </a:prstGeom>
        </p:spPr>
        <p:txBody>
          <a:bodyPr lIns="0" tIns="0" rIns="0" bIns="0" rtlCol="0" anchor="ctr"/>
          <a:lstStyle/>
          <a:p>
            <a:pPr lvl="0">
              <a:lnSpc>
                <a:spcPct val="99600"/>
              </a:lnSpc>
            </a:pPr>
            <a:r>
              <a:rPr lang="en-US" altLang="ko-KR" sz="6000" b="1" dirty="0" smtClean="0">
                <a:latin typeface="NanumBarunGothic" panose="020B0603020101020101" pitchFamily="34" charset="-127"/>
                <a:ea typeface="NanumBarunGothic" panose="020B0603020101020101" pitchFamily="34" charset="-127"/>
              </a:rPr>
              <a:t>PCA</a:t>
            </a:r>
            <a:r>
              <a:rPr lang="ko-KR" altLang="ko-KR" sz="6000" b="1" dirty="0" smtClean="0">
                <a:latin typeface="NanumBarunGothic" panose="020B0603020101020101" pitchFamily="34" charset="-127"/>
                <a:ea typeface="NanumBarunGothic" panose="020B0603020101020101" pitchFamily="34" charset="-127"/>
              </a:rPr>
              <a:t>와 군집분석을 활용한 </a:t>
            </a:r>
            <a:endParaRPr lang="en-US" altLang="ko-KR" sz="6000" b="1" dirty="0" smtClean="0">
              <a:latin typeface="NanumBarunGothic" panose="020B0603020101020101" pitchFamily="34" charset="-127"/>
              <a:ea typeface="NanumBarunGothic" panose="020B0603020101020101" pitchFamily="34" charset="-127"/>
            </a:endParaRPr>
          </a:p>
          <a:p>
            <a:pPr lvl="0">
              <a:lnSpc>
                <a:spcPct val="99600"/>
              </a:lnSpc>
            </a:pPr>
            <a:r>
              <a:rPr lang="ko-KR" altLang="ko-KR" sz="6000" b="1" dirty="0" smtClean="0">
                <a:latin typeface="NanumBarunGothic" panose="020B0603020101020101" pitchFamily="34" charset="-127"/>
                <a:ea typeface="NanumBarunGothic" panose="020B0603020101020101" pitchFamily="34" charset="-127"/>
              </a:rPr>
              <a:t>국가별 에너지 및 배출 특성 분석</a:t>
            </a:r>
            <a:endParaRPr lang="ko-KR" sz="6000" b="0" i="0" u="none" strike="noStrike" dirty="0">
              <a:solidFill>
                <a:srgbClr val="4D4D4D"/>
              </a:solidFill>
              <a:ea typeface="Pretendard Medium"/>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29BEE"/>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cstate="print"/>
          <a:stretch>
            <a:fillRect/>
          </a:stretch>
        </p:blipFill>
        <p:spPr>
          <a:xfrm>
            <a:off x="292100" y="292100"/>
            <a:ext cx="17716500" cy="9715500"/>
          </a:xfrm>
          <a:prstGeom prst="rect">
            <a:avLst/>
          </a:prstGeom>
        </p:spPr>
      </p:pic>
      <p:pic>
        <p:nvPicPr>
          <p:cNvPr id="3" name="Picture 3"/>
          <p:cNvPicPr>
            <a:picLocks noChangeAspect="1"/>
          </p:cNvPicPr>
          <p:nvPr/>
        </p:nvPicPr>
        <p:blipFill>
          <a:blip r:embed="rId3" cstate="print"/>
          <a:stretch>
            <a:fillRect/>
          </a:stretch>
        </p:blipFill>
        <p:spPr>
          <a:xfrm>
            <a:off x="1003300" y="2641600"/>
            <a:ext cx="16281400" cy="25400"/>
          </a:xfrm>
          <a:prstGeom prst="rect">
            <a:avLst/>
          </a:prstGeom>
        </p:spPr>
      </p:pic>
      <p:pic>
        <p:nvPicPr>
          <p:cNvPr id="4" name="Picture 4"/>
          <p:cNvPicPr>
            <a:picLocks noChangeAspect="1"/>
          </p:cNvPicPr>
          <p:nvPr/>
        </p:nvPicPr>
        <p:blipFill>
          <a:blip r:embed="rId4" cstate="print">
            <a:alphaModFix amt="30000"/>
          </a:blip>
          <a:stretch>
            <a:fillRect/>
          </a:stretch>
        </p:blipFill>
        <p:spPr>
          <a:xfrm>
            <a:off x="1003300" y="6324600"/>
            <a:ext cx="16281400" cy="25400"/>
          </a:xfrm>
          <a:prstGeom prst="rect">
            <a:avLst/>
          </a:prstGeom>
        </p:spPr>
      </p:pic>
      <p:pic>
        <p:nvPicPr>
          <p:cNvPr id="5" name="Picture 5"/>
          <p:cNvPicPr>
            <a:picLocks noChangeAspect="1"/>
          </p:cNvPicPr>
          <p:nvPr/>
        </p:nvPicPr>
        <p:blipFill>
          <a:blip r:embed="rId5" cstate="print">
            <a:alphaModFix amt="30000"/>
          </a:blip>
          <a:stretch>
            <a:fillRect/>
          </a:stretch>
        </p:blipFill>
        <p:spPr>
          <a:xfrm rot="5400000">
            <a:off x="3797300" y="6324600"/>
            <a:ext cx="5295900" cy="25400"/>
          </a:xfrm>
          <a:prstGeom prst="rect">
            <a:avLst/>
          </a:prstGeom>
        </p:spPr>
      </p:pic>
      <p:pic>
        <p:nvPicPr>
          <p:cNvPr id="6" name="Picture 6"/>
          <p:cNvPicPr>
            <a:picLocks noChangeAspect="1"/>
          </p:cNvPicPr>
          <p:nvPr/>
        </p:nvPicPr>
        <p:blipFill>
          <a:blip r:embed="rId5" cstate="print">
            <a:alphaModFix amt="30000"/>
          </a:blip>
          <a:stretch>
            <a:fillRect/>
          </a:stretch>
        </p:blipFill>
        <p:spPr>
          <a:xfrm rot="5400000">
            <a:off x="9207500" y="6324600"/>
            <a:ext cx="5295900" cy="25400"/>
          </a:xfrm>
          <a:prstGeom prst="rect">
            <a:avLst/>
          </a:prstGeom>
        </p:spPr>
      </p:pic>
      <p:pic>
        <p:nvPicPr>
          <p:cNvPr id="7" name="Picture 7"/>
          <p:cNvPicPr>
            <a:picLocks noChangeAspect="1"/>
          </p:cNvPicPr>
          <p:nvPr/>
        </p:nvPicPr>
        <p:blipFill>
          <a:blip r:embed="rId6" cstate="print"/>
          <a:stretch>
            <a:fillRect/>
          </a:stretch>
        </p:blipFill>
        <p:spPr>
          <a:xfrm>
            <a:off x="16611600" y="0"/>
            <a:ext cx="673100" cy="965200"/>
          </a:xfrm>
          <a:prstGeom prst="rect">
            <a:avLst/>
          </a:prstGeom>
        </p:spPr>
      </p:pic>
      <p:sp>
        <p:nvSpPr>
          <p:cNvPr id="8" name="TextBox 8"/>
          <p:cNvSpPr txBox="1"/>
          <p:nvPr/>
        </p:nvSpPr>
        <p:spPr>
          <a:xfrm>
            <a:off x="1625600" y="6934200"/>
            <a:ext cx="4203700" cy="812800"/>
          </a:xfrm>
          <a:prstGeom prst="rect">
            <a:avLst/>
          </a:prstGeom>
        </p:spPr>
        <p:txBody>
          <a:bodyPr lIns="0" tIns="0" rIns="0" bIns="0" rtlCol="0" anchor="ctr"/>
          <a:lstStyle/>
          <a:p>
            <a:pPr lvl="0" algn="ctr">
              <a:lnSpc>
                <a:spcPct val="98770"/>
              </a:lnSpc>
            </a:pPr>
            <a:r>
              <a:rPr lang="en-US" sz="4600" b="1" i="0" u="none" strike="noStrike" dirty="0">
                <a:solidFill>
                  <a:srgbClr val="229BEE"/>
                </a:solidFill>
                <a:latin typeface="+mn-ea"/>
              </a:rPr>
              <a:t>04</a:t>
            </a:r>
          </a:p>
        </p:txBody>
      </p:sp>
      <p:sp>
        <p:nvSpPr>
          <p:cNvPr id="9" name="TextBox 9"/>
          <p:cNvSpPr txBox="1"/>
          <p:nvPr/>
        </p:nvSpPr>
        <p:spPr>
          <a:xfrm>
            <a:off x="1663700" y="7848600"/>
            <a:ext cx="4152900" cy="774700"/>
          </a:xfrm>
          <a:prstGeom prst="rect">
            <a:avLst/>
          </a:prstGeom>
        </p:spPr>
        <p:txBody>
          <a:bodyPr lIns="0" tIns="0" rIns="0" bIns="0" rtlCol="0" anchor="ctr"/>
          <a:lstStyle/>
          <a:p>
            <a:pPr lvl="0" algn="ctr">
              <a:lnSpc>
                <a:spcPct val="107899"/>
              </a:lnSpc>
            </a:pPr>
            <a:r>
              <a:rPr lang="ko-KR" altLang="en-US" sz="2200" dirty="0" smtClean="0">
                <a:solidFill>
                  <a:srgbClr val="4D4D4D"/>
                </a:solidFill>
                <a:latin typeface="Noto Sans KR Medium" pitchFamily="50" charset="-127"/>
                <a:ea typeface="Noto Sans KR Medium" pitchFamily="50" charset="-127"/>
              </a:rPr>
              <a:t>군집분석</a:t>
            </a:r>
            <a:endParaRPr lang="en-US" altLang="ko-KR" sz="2200" dirty="0">
              <a:solidFill>
                <a:srgbClr val="4D4D4D"/>
              </a:solidFill>
              <a:latin typeface="Noto Sans KR Medium" pitchFamily="50" charset="-127"/>
              <a:ea typeface="Noto Sans KR Medium" pitchFamily="50" charset="-127"/>
            </a:endParaRPr>
          </a:p>
        </p:txBody>
      </p:sp>
      <p:sp>
        <p:nvSpPr>
          <p:cNvPr id="10" name="TextBox 10"/>
          <p:cNvSpPr txBox="1"/>
          <p:nvPr/>
        </p:nvSpPr>
        <p:spPr>
          <a:xfrm>
            <a:off x="1625600" y="3911600"/>
            <a:ext cx="4203700" cy="812800"/>
          </a:xfrm>
          <a:prstGeom prst="rect">
            <a:avLst/>
          </a:prstGeom>
        </p:spPr>
        <p:txBody>
          <a:bodyPr lIns="0" tIns="0" rIns="0" bIns="0" rtlCol="0" anchor="ctr"/>
          <a:lstStyle/>
          <a:p>
            <a:pPr lvl="0" algn="ctr">
              <a:lnSpc>
                <a:spcPct val="98770"/>
              </a:lnSpc>
            </a:pPr>
            <a:r>
              <a:rPr lang="en-US" sz="4600" b="1" i="0" u="none" strike="noStrike" dirty="0">
                <a:solidFill>
                  <a:srgbClr val="229BEE"/>
                </a:solidFill>
                <a:latin typeface="+mn-ea"/>
              </a:rPr>
              <a:t>01</a:t>
            </a:r>
          </a:p>
        </p:txBody>
      </p:sp>
      <p:sp>
        <p:nvSpPr>
          <p:cNvPr id="11" name="TextBox 11"/>
          <p:cNvSpPr txBox="1"/>
          <p:nvPr/>
        </p:nvSpPr>
        <p:spPr>
          <a:xfrm>
            <a:off x="1663700" y="4826000"/>
            <a:ext cx="4152900" cy="774700"/>
          </a:xfrm>
          <a:prstGeom prst="rect">
            <a:avLst/>
          </a:prstGeom>
        </p:spPr>
        <p:txBody>
          <a:bodyPr lIns="0" tIns="0" rIns="0" bIns="0" rtlCol="0" anchor="ctr"/>
          <a:lstStyle/>
          <a:p>
            <a:pPr lvl="0" algn="ctr">
              <a:lnSpc>
                <a:spcPct val="107899"/>
              </a:lnSpc>
            </a:pPr>
            <a:r>
              <a:rPr lang="ko-KR" altLang="en-US" sz="2200" b="0" i="0" u="none" strike="noStrike" dirty="0" smtClean="0">
                <a:solidFill>
                  <a:srgbClr val="4D4D4D"/>
                </a:solidFill>
                <a:latin typeface="Noto Sans KR Medium" pitchFamily="50" charset="-127"/>
                <a:ea typeface="Noto Sans KR Medium" pitchFamily="50" charset="-127"/>
              </a:rPr>
              <a:t>선정이유 및 목표</a:t>
            </a:r>
            <a:endParaRPr lang="en-US" sz="2200" b="0" i="0" u="none" strike="noStrike" dirty="0">
              <a:solidFill>
                <a:srgbClr val="4D4D4D"/>
              </a:solidFill>
              <a:latin typeface="Noto Sans KR Medium" pitchFamily="50" charset="-127"/>
              <a:ea typeface="Noto Sans KR Medium" pitchFamily="50" charset="-127"/>
            </a:endParaRPr>
          </a:p>
        </p:txBody>
      </p:sp>
      <p:sp>
        <p:nvSpPr>
          <p:cNvPr id="12" name="TextBox 12"/>
          <p:cNvSpPr txBox="1"/>
          <p:nvPr/>
        </p:nvSpPr>
        <p:spPr>
          <a:xfrm>
            <a:off x="7118350" y="3898900"/>
            <a:ext cx="4089400" cy="812800"/>
          </a:xfrm>
          <a:prstGeom prst="rect">
            <a:avLst/>
          </a:prstGeom>
        </p:spPr>
        <p:txBody>
          <a:bodyPr lIns="0" tIns="0" rIns="0" bIns="0" rtlCol="0" anchor="ctr"/>
          <a:lstStyle/>
          <a:p>
            <a:pPr lvl="0" algn="ctr">
              <a:lnSpc>
                <a:spcPct val="98770"/>
              </a:lnSpc>
            </a:pPr>
            <a:r>
              <a:rPr lang="en-US" sz="4600" b="1" i="0" u="none" strike="noStrike" dirty="0">
                <a:solidFill>
                  <a:srgbClr val="229BEE"/>
                </a:solidFill>
                <a:latin typeface="+mn-ea"/>
              </a:rPr>
              <a:t>02</a:t>
            </a:r>
          </a:p>
        </p:txBody>
      </p:sp>
      <p:sp>
        <p:nvSpPr>
          <p:cNvPr id="13" name="TextBox 13"/>
          <p:cNvSpPr txBox="1"/>
          <p:nvPr/>
        </p:nvSpPr>
        <p:spPr>
          <a:xfrm>
            <a:off x="7086600" y="4826000"/>
            <a:ext cx="4152900" cy="774700"/>
          </a:xfrm>
          <a:prstGeom prst="rect">
            <a:avLst/>
          </a:prstGeom>
        </p:spPr>
        <p:txBody>
          <a:bodyPr lIns="0" tIns="0" rIns="0" bIns="0" rtlCol="0" anchor="ctr"/>
          <a:lstStyle/>
          <a:p>
            <a:pPr lvl="0" algn="ctr">
              <a:lnSpc>
                <a:spcPct val="107899"/>
              </a:lnSpc>
            </a:pPr>
            <a:r>
              <a:rPr lang="ko-KR" altLang="en-US" sz="2200" b="0" i="0" u="none" strike="noStrike" dirty="0" smtClean="0">
                <a:solidFill>
                  <a:srgbClr val="4D4D4D"/>
                </a:solidFill>
                <a:latin typeface="Noto Sans KR Medium" pitchFamily="50" charset="-127"/>
                <a:ea typeface="Noto Sans KR Medium" pitchFamily="50" charset="-127"/>
              </a:rPr>
              <a:t>데이터 설명 및 전처리</a:t>
            </a:r>
            <a:endParaRPr lang="en-US" sz="2200" b="0" i="0" u="none" strike="noStrike" dirty="0">
              <a:solidFill>
                <a:srgbClr val="4D4D4D"/>
              </a:solidFill>
              <a:latin typeface="Noto Sans KR Medium" pitchFamily="50" charset="-127"/>
              <a:ea typeface="Noto Sans KR Medium" pitchFamily="50" charset="-127"/>
            </a:endParaRPr>
          </a:p>
        </p:txBody>
      </p:sp>
      <p:sp>
        <p:nvSpPr>
          <p:cNvPr id="14" name="TextBox 14"/>
          <p:cNvSpPr txBox="1"/>
          <p:nvPr/>
        </p:nvSpPr>
        <p:spPr>
          <a:xfrm>
            <a:off x="12509500" y="3886200"/>
            <a:ext cx="4203700" cy="812800"/>
          </a:xfrm>
          <a:prstGeom prst="rect">
            <a:avLst/>
          </a:prstGeom>
        </p:spPr>
        <p:txBody>
          <a:bodyPr lIns="0" tIns="0" rIns="0" bIns="0" rtlCol="0" anchor="ctr"/>
          <a:lstStyle/>
          <a:p>
            <a:pPr lvl="0" algn="ctr">
              <a:lnSpc>
                <a:spcPct val="98770"/>
              </a:lnSpc>
            </a:pPr>
            <a:r>
              <a:rPr lang="en-US" sz="4600" b="1" i="0" u="none" strike="noStrike" dirty="0">
                <a:solidFill>
                  <a:srgbClr val="229BEE"/>
                </a:solidFill>
                <a:latin typeface="+mn-ea"/>
              </a:rPr>
              <a:t>03</a:t>
            </a:r>
          </a:p>
        </p:txBody>
      </p:sp>
      <p:sp>
        <p:nvSpPr>
          <p:cNvPr id="15" name="TextBox 15"/>
          <p:cNvSpPr txBox="1"/>
          <p:nvPr/>
        </p:nvSpPr>
        <p:spPr>
          <a:xfrm>
            <a:off x="12547600" y="4826000"/>
            <a:ext cx="4152900" cy="774700"/>
          </a:xfrm>
          <a:prstGeom prst="rect">
            <a:avLst/>
          </a:prstGeom>
        </p:spPr>
        <p:txBody>
          <a:bodyPr lIns="0" tIns="0" rIns="0" bIns="0" rtlCol="0" anchor="ctr"/>
          <a:lstStyle/>
          <a:p>
            <a:pPr lvl="0" algn="ctr">
              <a:lnSpc>
                <a:spcPct val="107899"/>
              </a:lnSpc>
            </a:pPr>
            <a:r>
              <a:rPr lang="en-US" sz="2200" dirty="0" smtClean="0">
                <a:solidFill>
                  <a:srgbClr val="4D4D4D"/>
                </a:solidFill>
                <a:latin typeface="Noto Sans KR Medium" pitchFamily="50" charset="-127"/>
                <a:ea typeface="Noto Sans KR Medium" pitchFamily="50" charset="-127"/>
              </a:rPr>
              <a:t>PCA</a:t>
            </a:r>
            <a:endParaRPr lang="en-US" sz="2200" b="0" i="0" u="none" strike="noStrike" dirty="0">
              <a:solidFill>
                <a:srgbClr val="4D4D4D"/>
              </a:solidFill>
              <a:latin typeface="Noto Sans KR Medium" pitchFamily="50" charset="-127"/>
              <a:ea typeface="Noto Sans KR Medium" pitchFamily="50" charset="-127"/>
            </a:endParaRPr>
          </a:p>
        </p:txBody>
      </p:sp>
      <p:sp>
        <p:nvSpPr>
          <p:cNvPr id="16" name="TextBox 16"/>
          <p:cNvSpPr txBox="1"/>
          <p:nvPr/>
        </p:nvSpPr>
        <p:spPr>
          <a:xfrm>
            <a:off x="7061200" y="6934200"/>
            <a:ext cx="4203700" cy="812800"/>
          </a:xfrm>
          <a:prstGeom prst="rect">
            <a:avLst/>
          </a:prstGeom>
        </p:spPr>
        <p:txBody>
          <a:bodyPr lIns="0" tIns="0" rIns="0" bIns="0" rtlCol="0" anchor="ctr"/>
          <a:lstStyle/>
          <a:p>
            <a:pPr lvl="0" algn="ctr">
              <a:lnSpc>
                <a:spcPct val="98770"/>
              </a:lnSpc>
            </a:pPr>
            <a:r>
              <a:rPr lang="en-US" sz="4600" b="1" i="0" u="none" strike="noStrike" dirty="0">
                <a:solidFill>
                  <a:srgbClr val="229BEE"/>
                </a:solidFill>
                <a:latin typeface="+mn-ea"/>
              </a:rPr>
              <a:t>05</a:t>
            </a:r>
          </a:p>
        </p:txBody>
      </p:sp>
      <p:sp>
        <p:nvSpPr>
          <p:cNvPr id="17" name="TextBox 17"/>
          <p:cNvSpPr txBox="1"/>
          <p:nvPr/>
        </p:nvSpPr>
        <p:spPr>
          <a:xfrm>
            <a:off x="7086600" y="7848600"/>
            <a:ext cx="4152900" cy="774700"/>
          </a:xfrm>
          <a:prstGeom prst="rect">
            <a:avLst/>
          </a:prstGeom>
        </p:spPr>
        <p:txBody>
          <a:bodyPr lIns="0" tIns="0" rIns="0" bIns="0" rtlCol="0" anchor="ctr"/>
          <a:lstStyle/>
          <a:p>
            <a:pPr lvl="0" algn="ctr">
              <a:lnSpc>
                <a:spcPct val="107899"/>
              </a:lnSpc>
            </a:pPr>
            <a:endParaRPr lang="en-US" sz="2200" b="0" i="0" u="none" strike="noStrike" dirty="0">
              <a:solidFill>
                <a:srgbClr val="4D4D4D"/>
              </a:solidFill>
              <a:latin typeface="Noto Sans KR Medium" pitchFamily="50" charset="-127"/>
              <a:ea typeface="Noto Sans KR Medium" pitchFamily="50" charset="-127"/>
            </a:endParaRPr>
          </a:p>
        </p:txBody>
      </p:sp>
      <p:sp>
        <p:nvSpPr>
          <p:cNvPr id="20" name="TextBox 20"/>
          <p:cNvSpPr txBox="1"/>
          <p:nvPr/>
        </p:nvSpPr>
        <p:spPr>
          <a:xfrm>
            <a:off x="2476500" y="990600"/>
            <a:ext cx="13335000" cy="1435100"/>
          </a:xfrm>
          <a:prstGeom prst="rect">
            <a:avLst/>
          </a:prstGeom>
        </p:spPr>
        <p:txBody>
          <a:bodyPr lIns="0" tIns="0" rIns="0" bIns="0" rtlCol="0" anchor="ctr"/>
          <a:lstStyle/>
          <a:p>
            <a:pPr lvl="0" algn="ctr">
              <a:lnSpc>
                <a:spcPct val="98770"/>
              </a:lnSpc>
            </a:pPr>
            <a:r>
              <a:rPr lang="ko-KR" sz="7900" b="0" i="0" u="none" strike="noStrike" dirty="0" smtClean="0">
                <a:solidFill>
                  <a:srgbClr val="4D4D4D"/>
                </a:solidFill>
                <a:latin typeface="Noto Sans KR Medium" pitchFamily="50" charset="-127"/>
                <a:ea typeface="Noto Sans KR Medium" pitchFamily="50" charset="-127"/>
              </a:rPr>
              <a:t>목차</a:t>
            </a:r>
            <a:endParaRPr lang="ko-KR" sz="7900" b="0" i="0" u="none" strike="noStrike" dirty="0">
              <a:solidFill>
                <a:srgbClr val="4D4D4D"/>
              </a:solidFill>
              <a:latin typeface="Noto Sans KR Medium" pitchFamily="50" charset="-127"/>
              <a:ea typeface="Noto Sans KR Medium" pitchFamily="50" charset="-127"/>
            </a:endParaRPr>
          </a:p>
        </p:txBody>
      </p:sp>
      <p:sp>
        <p:nvSpPr>
          <p:cNvPr id="21" name="TextBox 19"/>
          <p:cNvSpPr txBox="1"/>
          <p:nvPr/>
        </p:nvSpPr>
        <p:spPr>
          <a:xfrm>
            <a:off x="7010400" y="7810500"/>
            <a:ext cx="4152900" cy="774700"/>
          </a:xfrm>
          <a:prstGeom prst="rect">
            <a:avLst/>
          </a:prstGeom>
        </p:spPr>
        <p:txBody>
          <a:bodyPr lIns="0" tIns="0" rIns="0" bIns="0" rtlCol="0" anchor="ctr"/>
          <a:lstStyle/>
          <a:p>
            <a:pPr lvl="0" algn="ctr">
              <a:lnSpc>
                <a:spcPct val="107899"/>
              </a:lnSpc>
            </a:pPr>
            <a:r>
              <a:rPr lang="ko-KR" altLang="en-US" sz="2200" b="0" i="0" u="none" strike="noStrike" dirty="0" smtClean="0">
                <a:solidFill>
                  <a:srgbClr val="4D4D4D"/>
                </a:solidFill>
                <a:latin typeface="Noto Sans KR Medium" pitchFamily="50" charset="-127"/>
                <a:ea typeface="Noto Sans KR Medium" pitchFamily="50" charset="-127"/>
              </a:rPr>
              <a:t>결과</a:t>
            </a:r>
            <a:endParaRPr lang="en-US" sz="2200" b="0" i="0" u="none" strike="noStrike" dirty="0">
              <a:solidFill>
                <a:srgbClr val="4D4D4D"/>
              </a:solidFill>
              <a:latin typeface="Noto Sans KR Medium" pitchFamily="50" charset="-127"/>
              <a:ea typeface="Noto Sans KR Medium" pitchFamily="50" charset="-127"/>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29BEE"/>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cstate="print"/>
          <a:stretch>
            <a:fillRect/>
          </a:stretch>
        </p:blipFill>
        <p:spPr>
          <a:xfrm>
            <a:off x="292100" y="292100"/>
            <a:ext cx="17716500" cy="9715500"/>
          </a:xfrm>
          <a:prstGeom prst="rect">
            <a:avLst/>
          </a:prstGeom>
        </p:spPr>
      </p:pic>
      <p:pic>
        <p:nvPicPr>
          <p:cNvPr id="3" name="Picture 3"/>
          <p:cNvPicPr>
            <a:picLocks noChangeAspect="1"/>
          </p:cNvPicPr>
          <p:nvPr/>
        </p:nvPicPr>
        <p:blipFill>
          <a:blip r:embed="rId3" cstate="print">
            <a:alphaModFix amt="30000"/>
          </a:blip>
          <a:stretch>
            <a:fillRect/>
          </a:stretch>
        </p:blipFill>
        <p:spPr>
          <a:xfrm>
            <a:off x="1498600" y="8331200"/>
            <a:ext cx="6045200" cy="25400"/>
          </a:xfrm>
          <a:prstGeom prst="rect">
            <a:avLst/>
          </a:prstGeom>
        </p:spPr>
      </p:pic>
      <p:pic>
        <p:nvPicPr>
          <p:cNvPr id="4" name="Picture 4"/>
          <p:cNvPicPr>
            <a:picLocks noChangeAspect="1"/>
          </p:cNvPicPr>
          <p:nvPr/>
        </p:nvPicPr>
        <p:blipFill>
          <a:blip r:embed="rId4" cstate="print"/>
          <a:stretch>
            <a:fillRect/>
          </a:stretch>
        </p:blipFill>
        <p:spPr>
          <a:xfrm>
            <a:off x="16611600" y="0"/>
            <a:ext cx="673100" cy="965200"/>
          </a:xfrm>
          <a:prstGeom prst="rect">
            <a:avLst/>
          </a:prstGeom>
        </p:spPr>
      </p:pic>
      <p:sp>
        <p:nvSpPr>
          <p:cNvPr id="5" name="TextBox 5"/>
          <p:cNvSpPr txBox="1"/>
          <p:nvPr/>
        </p:nvSpPr>
        <p:spPr>
          <a:xfrm>
            <a:off x="1333500" y="3708400"/>
            <a:ext cx="8293100" cy="3378200"/>
          </a:xfrm>
          <a:prstGeom prst="rect">
            <a:avLst/>
          </a:prstGeom>
        </p:spPr>
        <p:txBody>
          <a:bodyPr lIns="0" tIns="0" rIns="0" bIns="0" rtlCol="0" anchor="ctr"/>
          <a:lstStyle/>
          <a:p>
            <a:pPr lvl="0" algn="l">
              <a:lnSpc>
                <a:spcPct val="115287"/>
              </a:lnSpc>
            </a:pPr>
            <a:r>
              <a:rPr lang="en-US" sz="19000" b="0" i="0" u="none" strike="noStrike" dirty="0">
                <a:solidFill>
                  <a:srgbClr val="229BEE"/>
                </a:solidFill>
                <a:latin typeface="+mn-ea"/>
              </a:rPr>
              <a:t>01</a:t>
            </a:r>
          </a:p>
        </p:txBody>
      </p:sp>
      <p:sp>
        <p:nvSpPr>
          <p:cNvPr id="6" name="TextBox 6"/>
          <p:cNvSpPr txBox="1"/>
          <p:nvPr/>
        </p:nvSpPr>
        <p:spPr>
          <a:xfrm>
            <a:off x="1498600" y="6667500"/>
            <a:ext cx="9080500" cy="1498600"/>
          </a:xfrm>
          <a:prstGeom prst="rect">
            <a:avLst/>
          </a:prstGeom>
        </p:spPr>
        <p:txBody>
          <a:bodyPr lIns="0" tIns="0" rIns="0" bIns="0" rtlCol="0" anchor="ctr"/>
          <a:lstStyle/>
          <a:p>
            <a:pPr lvl="0" algn="l">
              <a:lnSpc>
                <a:spcPct val="115287"/>
              </a:lnSpc>
            </a:pPr>
            <a:r>
              <a:rPr lang="ko-KR" altLang="en-US" sz="8400" b="0" i="0" u="none" strike="noStrike" dirty="0" smtClean="0">
                <a:solidFill>
                  <a:srgbClr val="4D4D4D"/>
                </a:solidFill>
                <a:latin typeface="Noto Sans KR Medium" pitchFamily="50" charset="-127"/>
                <a:ea typeface="Noto Sans KR Medium" pitchFamily="50" charset="-127"/>
              </a:rPr>
              <a:t>선정이유 및 목표</a:t>
            </a:r>
            <a:endParaRPr lang="ko-KR" sz="8400" b="0" i="0" u="none" strike="noStrike" dirty="0">
              <a:solidFill>
                <a:srgbClr val="4D4D4D"/>
              </a:solidFill>
              <a:latin typeface="Noto Sans KR Medium" pitchFamily="50" charset="-127"/>
              <a:ea typeface="Noto Sans KR Medium" pitchFamily="50" charset="-127"/>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29BEE"/>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cstate="print"/>
          <a:stretch>
            <a:fillRect/>
          </a:stretch>
        </p:blipFill>
        <p:spPr>
          <a:xfrm>
            <a:off x="292100" y="292100"/>
            <a:ext cx="17716500" cy="9715500"/>
          </a:xfrm>
          <a:prstGeom prst="rect">
            <a:avLst/>
          </a:prstGeom>
        </p:spPr>
      </p:pic>
      <p:pic>
        <p:nvPicPr>
          <p:cNvPr id="4" name="Picture 4"/>
          <p:cNvPicPr>
            <a:picLocks noChangeAspect="1"/>
          </p:cNvPicPr>
          <p:nvPr/>
        </p:nvPicPr>
        <p:blipFill>
          <a:blip r:embed="rId3" cstate="print"/>
          <a:stretch>
            <a:fillRect/>
          </a:stretch>
        </p:blipFill>
        <p:spPr>
          <a:xfrm>
            <a:off x="16611600" y="0"/>
            <a:ext cx="673100" cy="965200"/>
          </a:xfrm>
          <a:prstGeom prst="rect">
            <a:avLst/>
          </a:prstGeom>
        </p:spPr>
      </p:pic>
      <p:pic>
        <p:nvPicPr>
          <p:cNvPr id="5" name="Picture 5"/>
          <p:cNvPicPr>
            <a:picLocks noChangeAspect="1"/>
          </p:cNvPicPr>
          <p:nvPr/>
        </p:nvPicPr>
        <p:blipFill>
          <a:blip r:embed="rId4" cstate="print"/>
          <a:stretch>
            <a:fillRect/>
          </a:stretch>
        </p:blipFill>
        <p:spPr>
          <a:xfrm>
            <a:off x="5257800" y="1790700"/>
            <a:ext cx="10896600" cy="3124200"/>
          </a:xfrm>
          <a:prstGeom prst="rect">
            <a:avLst/>
          </a:prstGeom>
        </p:spPr>
      </p:pic>
      <p:pic>
        <p:nvPicPr>
          <p:cNvPr id="7" name="Picture 7"/>
          <p:cNvPicPr>
            <a:picLocks noChangeAspect="1"/>
          </p:cNvPicPr>
          <p:nvPr/>
        </p:nvPicPr>
        <p:blipFill>
          <a:blip r:embed="rId5" cstate="print"/>
          <a:stretch>
            <a:fillRect/>
          </a:stretch>
        </p:blipFill>
        <p:spPr>
          <a:xfrm>
            <a:off x="1371600" y="5981700"/>
            <a:ext cx="11722100" cy="3200400"/>
          </a:xfrm>
          <a:prstGeom prst="rect">
            <a:avLst/>
          </a:prstGeom>
        </p:spPr>
      </p:pic>
      <p:pic>
        <p:nvPicPr>
          <p:cNvPr id="12" name="Picture 12"/>
          <p:cNvPicPr>
            <a:picLocks noChangeAspect="1"/>
          </p:cNvPicPr>
          <p:nvPr/>
        </p:nvPicPr>
        <p:blipFill>
          <a:blip r:embed="rId6" cstate="print"/>
          <a:stretch>
            <a:fillRect/>
          </a:stretch>
        </p:blipFill>
        <p:spPr>
          <a:xfrm>
            <a:off x="1371600" y="1562100"/>
            <a:ext cx="3441700" cy="3441700"/>
          </a:xfrm>
          <a:prstGeom prst="rect">
            <a:avLst/>
          </a:prstGeom>
        </p:spPr>
      </p:pic>
      <p:sp>
        <p:nvSpPr>
          <p:cNvPr id="14" name="TextBox 14"/>
          <p:cNvSpPr txBox="1"/>
          <p:nvPr/>
        </p:nvSpPr>
        <p:spPr>
          <a:xfrm>
            <a:off x="1295400" y="2933700"/>
            <a:ext cx="3543300" cy="622300"/>
          </a:xfrm>
          <a:prstGeom prst="rect">
            <a:avLst/>
          </a:prstGeom>
        </p:spPr>
        <p:txBody>
          <a:bodyPr lIns="0" tIns="0" rIns="0" bIns="0" rtlCol="0" anchor="ctr"/>
          <a:lstStyle/>
          <a:p>
            <a:pPr lvl="0" algn="ctr">
              <a:lnSpc>
                <a:spcPct val="116199"/>
              </a:lnSpc>
            </a:pPr>
            <a:r>
              <a:rPr lang="ko-KR" altLang="en-US" sz="3400" dirty="0" smtClean="0">
                <a:solidFill>
                  <a:srgbClr val="FFFFFF"/>
                </a:solidFill>
                <a:latin typeface="Pretendard Medium"/>
              </a:rPr>
              <a:t>선정이유</a:t>
            </a:r>
            <a:endParaRPr lang="en-US" sz="3400" b="0" i="0" u="none" strike="noStrike" dirty="0">
              <a:solidFill>
                <a:srgbClr val="FFFFFF"/>
              </a:solidFill>
              <a:latin typeface="Pretendard Medium"/>
            </a:endParaRPr>
          </a:p>
        </p:txBody>
      </p:sp>
      <p:sp>
        <p:nvSpPr>
          <p:cNvPr id="16" name="TextBox 16"/>
          <p:cNvSpPr txBox="1"/>
          <p:nvPr/>
        </p:nvSpPr>
        <p:spPr>
          <a:xfrm>
            <a:off x="7391400" y="660400"/>
            <a:ext cx="3505200" cy="444500"/>
          </a:xfrm>
          <a:prstGeom prst="rect">
            <a:avLst/>
          </a:prstGeom>
        </p:spPr>
        <p:txBody>
          <a:bodyPr lIns="0" tIns="0" rIns="0" bIns="0" rtlCol="0" anchor="ctr"/>
          <a:lstStyle/>
          <a:p>
            <a:pPr lvl="0" algn="ctr">
              <a:lnSpc>
                <a:spcPct val="98770"/>
              </a:lnSpc>
            </a:pPr>
            <a:r>
              <a:rPr lang="en-US" sz="2500" b="0" i="0" u="none" strike="noStrike" dirty="0">
                <a:solidFill>
                  <a:srgbClr val="229BEE"/>
                </a:solidFill>
                <a:latin typeface="+mn-ea"/>
              </a:rPr>
              <a:t>CHAPTER </a:t>
            </a:r>
            <a:r>
              <a:rPr lang="en-US" sz="2500" b="0" i="0" u="none" strike="noStrike" dirty="0" smtClean="0">
                <a:solidFill>
                  <a:srgbClr val="229BEE"/>
                </a:solidFill>
                <a:latin typeface="+mn-ea"/>
              </a:rPr>
              <a:t>01</a:t>
            </a:r>
            <a:endParaRPr lang="en-US" sz="2500" b="0" i="0" u="none" strike="noStrike" dirty="0">
              <a:solidFill>
                <a:srgbClr val="229BEE"/>
              </a:solidFill>
              <a:latin typeface="+mn-ea"/>
            </a:endParaRPr>
          </a:p>
        </p:txBody>
      </p:sp>
      <p:sp>
        <p:nvSpPr>
          <p:cNvPr id="19" name="TextBox 19"/>
          <p:cNvSpPr txBox="1"/>
          <p:nvPr/>
        </p:nvSpPr>
        <p:spPr>
          <a:xfrm>
            <a:off x="1828800" y="6286500"/>
            <a:ext cx="11582400" cy="2667000"/>
          </a:xfrm>
          <a:prstGeom prst="rect">
            <a:avLst/>
          </a:prstGeom>
        </p:spPr>
        <p:txBody>
          <a:bodyPr lIns="0" tIns="0" rIns="0" bIns="0" rtlCol="0" anchor="ctr"/>
          <a:lstStyle/>
          <a:p>
            <a:r>
              <a:rPr lang="en-US" altLang="ko-KR" sz="2400" dirty="0" smtClean="0"/>
              <a:t>PCA</a:t>
            </a:r>
            <a:r>
              <a:rPr lang="ko-KR" altLang="en-US" sz="2400" dirty="0" smtClean="0"/>
              <a:t>를 통해 국가들의 변화 방향과 변화 패턴을 파악하고</a:t>
            </a:r>
            <a:r>
              <a:rPr lang="en-US" altLang="ko-KR" sz="2400" dirty="0" smtClean="0"/>
              <a:t>, </a:t>
            </a:r>
          </a:p>
          <a:p>
            <a:r>
              <a:rPr lang="ko-KR" altLang="en-US" sz="2400" dirty="0" smtClean="0"/>
              <a:t>군집분석을 통해 변화 양상이 유사한 국가 그룹을 도출하는 것</a:t>
            </a:r>
            <a:endParaRPr lang="en-US" altLang="ko-KR" sz="2400" dirty="0" smtClean="0"/>
          </a:p>
          <a:p>
            <a:r>
              <a:rPr lang="en-US" altLang="ko-KR" sz="2400" dirty="0" smtClean="0"/>
              <a:t>=&gt;"</a:t>
            </a:r>
            <a:r>
              <a:rPr lang="ko-KR" altLang="en-US" sz="2400" dirty="0" smtClean="0"/>
              <a:t>어떤 국가들이 빠르게 변화하고 있는지</a:t>
            </a:r>
            <a:r>
              <a:rPr lang="en-US" altLang="ko-KR" sz="2400" dirty="0" smtClean="0"/>
              <a:t>", </a:t>
            </a:r>
          </a:p>
          <a:p>
            <a:r>
              <a:rPr lang="en-US" altLang="ko-KR" sz="2400" dirty="0" smtClean="0"/>
              <a:t>=&gt;"</a:t>
            </a:r>
            <a:r>
              <a:rPr lang="ko-KR" altLang="en-US" sz="2400" dirty="0" smtClean="0"/>
              <a:t>유사한 변화 흐름을 보이는 국가군은 어떤 특성을 가지는지</a:t>
            </a:r>
            <a:r>
              <a:rPr lang="en-US" altLang="ko-KR" sz="2400" dirty="0" smtClean="0"/>
              <a:t>"</a:t>
            </a:r>
            <a:endParaRPr lang="en-US" altLang="ko-KR" sz="2400" dirty="0"/>
          </a:p>
        </p:txBody>
      </p:sp>
      <p:sp>
        <p:nvSpPr>
          <p:cNvPr id="23" name="TextBox 23"/>
          <p:cNvSpPr txBox="1"/>
          <p:nvPr/>
        </p:nvSpPr>
        <p:spPr>
          <a:xfrm>
            <a:off x="5486400" y="2247900"/>
            <a:ext cx="10515600" cy="2044700"/>
          </a:xfrm>
          <a:prstGeom prst="rect">
            <a:avLst/>
          </a:prstGeom>
        </p:spPr>
        <p:txBody>
          <a:bodyPr lIns="0" tIns="0" rIns="0" bIns="0" rtlCol="0" anchor="ctr"/>
          <a:lstStyle/>
          <a:p>
            <a:r>
              <a:rPr lang="ko-KR" altLang="en-US" sz="2400" dirty="0" smtClean="0"/>
              <a:t>최근에 전 세계적으로 에너지 소비와 온실가스 배출이 기후 변화에 큰 영향을 미치고 있어 국가별로 이러한 변화 방향과 속도가 어떻게 다른지 분석해보고자 하였습니다</a:t>
            </a:r>
            <a:r>
              <a:rPr lang="en-US" altLang="ko-KR" sz="2400" dirty="0" smtClean="0"/>
              <a:t>.</a:t>
            </a:r>
            <a:endParaRPr lang="en-US" altLang="ko-KR" sz="2400" dirty="0"/>
          </a:p>
        </p:txBody>
      </p:sp>
      <p:pic>
        <p:nvPicPr>
          <p:cNvPr id="25" name="Picture 12"/>
          <p:cNvPicPr>
            <a:picLocks noChangeAspect="1"/>
          </p:cNvPicPr>
          <p:nvPr/>
        </p:nvPicPr>
        <p:blipFill>
          <a:blip r:embed="rId6" cstate="print"/>
          <a:stretch>
            <a:fillRect/>
          </a:stretch>
        </p:blipFill>
        <p:spPr>
          <a:xfrm>
            <a:off x="13639800" y="5829300"/>
            <a:ext cx="3441700" cy="3441700"/>
          </a:xfrm>
          <a:prstGeom prst="rect">
            <a:avLst/>
          </a:prstGeom>
        </p:spPr>
      </p:pic>
      <p:sp>
        <p:nvSpPr>
          <p:cNvPr id="26" name="TextBox 14"/>
          <p:cNvSpPr txBox="1"/>
          <p:nvPr/>
        </p:nvSpPr>
        <p:spPr>
          <a:xfrm>
            <a:off x="13563600" y="7200900"/>
            <a:ext cx="3543300" cy="622300"/>
          </a:xfrm>
          <a:prstGeom prst="rect">
            <a:avLst/>
          </a:prstGeom>
        </p:spPr>
        <p:txBody>
          <a:bodyPr lIns="0" tIns="0" rIns="0" bIns="0" rtlCol="0" anchor="ctr"/>
          <a:lstStyle/>
          <a:p>
            <a:pPr lvl="0" algn="ctr">
              <a:lnSpc>
                <a:spcPct val="116199"/>
              </a:lnSpc>
            </a:pPr>
            <a:r>
              <a:rPr lang="ko-KR" altLang="en-US" sz="3400" b="0" i="0" u="none" strike="noStrike" dirty="0" smtClean="0">
                <a:solidFill>
                  <a:srgbClr val="FFFFFF"/>
                </a:solidFill>
                <a:latin typeface="Pretendard Medium"/>
              </a:rPr>
              <a:t>목표</a:t>
            </a:r>
            <a:endParaRPr lang="en-US" sz="3400" b="0" i="0" u="none" strike="noStrike" dirty="0">
              <a:solidFill>
                <a:srgbClr val="FFFFFF"/>
              </a:solidFill>
              <a:latin typeface="Pretendard Medium"/>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29BEE"/>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cstate="print"/>
          <a:stretch>
            <a:fillRect/>
          </a:stretch>
        </p:blipFill>
        <p:spPr>
          <a:xfrm>
            <a:off x="292100" y="292100"/>
            <a:ext cx="17716500" cy="9715500"/>
          </a:xfrm>
          <a:prstGeom prst="rect">
            <a:avLst/>
          </a:prstGeom>
        </p:spPr>
      </p:pic>
      <p:pic>
        <p:nvPicPr>
          <p:cNvPr id="3" name="Picture 3"/>
          <p:cNvPicPr>
            <a:picLocks noChangeAspect="1"/>
          </p:cNvPicPr>
          <p:nvPr/>
        </p:nvPicPr>
        <p:blipFill>
          <a:blip r:embed="rId3" cstate="print">
            <a:alphaModFix amt="30000"/>
          </a:blip>
          <a:stretch>
            <a:fillRect/>
          </a:stretch>
        </p:blipFill>
        <p:spPr>
          <a:xfrm>
            <a:off x="1498600" y="8331200"/>
            <a:ext cx="6045200" cy="25400"/>
          </a:xfrm>
          <a:prstGeom prst="rect">
            <a:avLst/>
          </a:prstGeom>
        </p:spPr>
      </p:pic>
      <p:pic>
        <p:nvPicPr>
          <p:cNvPr id="4" name="Picture 4"/>
          <p:cNvPicPr>
            <a:picLocks noChangeAspect="1"/>
          </p:cNvPicPr>
          <p:nvPr/>
        </p:nvPicPr>
        <p:blipFill>
          <a:blip r:embed="rId4" cstate="print"/>
          <a:stretch>
            <a:fillRect/>
          </a:stretch>
        </p:blipFill>
        <p:spPr>
          <a:xfrm>
            <a:off x="16611600" y="0"/>
            <a:ext cx="673100" cy="965200"/>
          </a:xfrm>
          <a:prstGeom prst="rect">
            <a:avLst/>
          </a:prstGeom>
        </p:spPr>
      </p:pic>
      <p:sp>
        <p:nvSpPr>
          <p:cNvPr id="5" name="TextBox 5"/>
          <p:cNvSpPr txBox="1"/>
          <p:nvPr/>
        </p:nvSpPr>
        <p:spPr>
          <a:xfrm>
            <a:off x="1333500" y="3708400"/>
            <a:ext cx="8293100" cy="3378200"/>
          </a:xfrm>
          <a:prstGeom prst="rect">
            <a:avLst/>
          </a:prstGeom>
        </p:spPr>
        <p:txBody>
          <a:bodyPr lIns="0" tIns="0" rIns="0" bIns="0" rtlCol="0" anchor="ctr"/>
          <a:lstStyle/>
          <a:p>
            <a:pPr lvl="0" algn="l">
              <a:lnSpc>
                <a:spcPct val="115287"/>
              </a:lnSpc>
            </a:pPr>
            <a:r>
              <a:rPr lang="en-US" sz="19000" b="0" i="0" u="none" strike="noStrike" dirty="0" smtClean="0">
                <a:solidFill>
                  <a:srgbClr val="229BEE"/>
                </a:solidFill>
                <a:latin typeface="+mn-ea"/>
              </a:rPr>
              <a:t>02</a:t>
            </a:r>
            <a:endParaRPr lang="en-US" sz="19000" b="0" i="0" u="none" strike="noStrike" dirty="0">
              <a:solidFill>
                <a:srgbClr val="229BEE"/>
              </a:solidFill>
              <a:latin typeface="+mn-ea"/>
            </a:endParaRPr>
          </a:p>
        </p:txBody>
      </p:sp>
      <p:sp>
        <p:nvSpPr>
          <p:cNvPr id="6" name="TextBox 6"/>
          <p:cNvSpPr txBox="1"/>
          <p:nvPr/>
        </p:nvSpPr>
        <p:spPr>
          <a:xfrm>
            <a:off x="1498600" y="6667500"/>
            <a:ext cx="11988800" cy="1498600"/>
          </a:xfrm>
          <a:prstGeom prst="rect">
            <a:avLst/>
          </a:prstGeom>
        </p:spPr>
        <p:txBody>
          <a:bodyPr lIns="0" tIns="0" rIns="0" bIns="0" rtlCol="0" anchor="ctr"/>
          <a:lstStyle/>
          <a:p>
            <a:pPr lvl="0" algn="l">
              <a:lnSpc>
                <a:spcPct val="115287"/>
              </a:lnSpc>
            </a:pPr>
            <a:r>
              <a:rPr lang="ko-KR" altLang="en-US" sz="8400" b="0" i="0" u="none" strike="noStrike" dirty="0" smtClean="0">
                <a:solidFill>
                  <a:srgbClr val="4D4D4D"/>
                </a:solidFill>
                <a:latin typeface="Noto Sans KR Medium" pitchFamily="50" charset="-127"/>
                <a:ea typeface="Noto Sans KR Medium" pitchFamily="50" charset="-127"/>
              </a:rPr>
              <a:t>데이터 설명 및 전처리</a:t>
            </a:r>
            <a:endParaRPr lang="ko-KR" sz="8400" b="0" i="0" u="none" strike="noStrike" dirty="0">
              <a:solidFill>
                <a:srgbClr val="4D4D4D"/>
              </a:solidFill>
              <a:latin typeface="Noto Sans KR Medium" pitchFamily="50" charset="-127"/>
              <a:ea typeface="Noto Sans KR Medium" pitchFamily="50" charset="-127"/>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29BEE"/>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cstate="print"/>
          <a:stretch>
            <a:fillRect/>
          </a:stretch>
        </p:blipFill>
        <p:spPr>
          <a:xfrm>
            <a:off x="292100" y="292100"/>
            <a:ext cx="17716500" cy="9715500"/>
          </a:xfrm>
          <a:prstGeom prst="rect">
            <a:avLst/>
          </a:prstGeom>
        </p:spPr>
      </p:pic>
      <p:pic>
        <p:nvPicPr>
          <p:cNvPr id="4" name="Picture 4"/>
          <p:cNvPicPr>
            <a:picLocks noChangeAspect="1"/>
          </p:cNvPicPr>
          <p:nvPr/>
        </p:nvPicPr>
        <p:blipFill>
          <a:blip r:embed="rId3" cstate="print"/>
          <a:stretch>
            <a:fillRect/>
          </a:stretch>
        </p:blipFill>
        <p:spPr>
          <a:xfrm>
            <a:off x="1003300" y="2171700"/>
            <a:ext cx="16281400" cy="25400"/>
          </a:xfrm>
          <a:prstGeom prst="rect">
            <a:avLst/>
          </a:prstGeom>
        </p:spPr>
      </p:pic>
      <p:pic>
        <p:nvPicPr>
          <p:cNvPr id="5" name="Picture 5"/>
          <p:cNvPicPr>
            <a:picLocks noChangeAspect="1"/>
          </p:cNvPicPr>
          <p:nvPr/>
        </p:nvPicPr>
        <p:blipFill>
          <a:blip r:embed="rId4" cstate="print"/>
          <a:stretch>
            <a:fillRect/>
          </a:stretch>
        </p:blipFill>
        <p:spPr>
          <a:xfrm>
            <a:off x="16611600" y="0"/>
            <a:ext cx="673100" cy="965200"/>
          </a:xfrm>
          <a:prstGeom prst="rect">
            <a:avLst/>
          </a:prstGeom>
        </p:spPr>
      </p:pic>
      <p:sp>
        <p:nvSpPr>
          <p:cNvPr id="8" name="TextBox 8"/>
          <p:cNvSpPr txBox="1"/>
          <p:nvPr/>
        </p:nvSpPr>
        <p:spPr>
          <a:xfrm>
            <a:off x="2476500" y="876300"/>
            <a:ext cx="13335000" cy="1422400"/>
          </a:xfrm>
          <a:prstGeom prst="rect">
            <a:avLst/>
          </a:prstGeom>
        </p:spPr>
        <p:txBody>
          <a:bodyPr lIns="0" tIns="0" rIns="0" bIns="0" rtlCol="0" anchor="ctr"/>
          <a:lstStyle/>
          <a:p>
            <a:pPr lvl="0" algn="ctr">
              <a:lnSpc>
                <a:spcPct val="98770"/>
              </a:lnSpc>
            </a:pPr>
            <a:r>
              <a:rPr lang="ko-KR" altLang="en-US" sz="5400" b="0" i="0" u="none" strike="noStrike" dirty="0" err="1" smtClean="0">
                <a:solidFill>
                  <a:srgbClr val="4D4D4D"/>
                </a:solidFill>
                <a:latin typeface="Noto Sans KR Medium" pitchFamily="50" charset="-127"/>
                <a:ea typeface="Noto Sans KR Medium" pitchFamily="50" charset="-127"/>
              </a:rPr>
              <a:t>데이터셋</a:t>
            </a:r>
            <a:endParaRPr lang="ko-KR" sz="5400" b="0" i="0" u="none" strike="noStrike" dirty="0">
              <a:solidFill>
                <a:srgbClr val="4D4D4D"/>
              </a:solidFill>
              <a:latin typeface="Noto Sans KR Medium" pitchFamily="50" charset="-127"/>
              <a:ea typeface="Noto Sans KR Medium" pitchFamily="50" charset="-127"/>
            </a:endParaRPr>
          </a:p>
        </p:txBody>
      </p:sp>
      <p:sp>
        <p:nvSpPr>
          <p:cNvPr id="9" name="TextBox 9"/>
          <p:cNvSpPr txBox="1"/>
          <p:nvPr/>
        </p:nvSpPr>
        <p:spPr>
          <a:xfrm>
            <a:off x="7391400" y="660400"/>
            <a:ext cx="3505200" cy="457200"/>
          </a:xfrm>
          <a:prstGeom prst="rect">
            <a:avLst/>
          </a:prstGeom>
        </p:spPr>
        <p:txBody>
          <a:bodyPr lIns="0" tIns="0" rIns="0" bIns="0" rtlCol="0" anchor="ctr"/>
          <a:lstStyle/>
          <a:p>
            <a:pPr lvl="0" algn="ctr">
              <a:lnSpc>
                <a:spcPct val="98770"/>
              </a:lnSpc>
            </a:pPr>
            <a:r>
              <a:rPr lang="en-US" sz="2500" b="0" i="0" u="none" strike="noStrike" dirty="0">
                <a:solidFill>
                  <a:srgbClr val="229BEE"/>
                </a:solidFill>
                <a:latin typeface="+mn-ea"/>
              </a:rPr>
              <a:t>CHAPTER 02</a:t>
            </a:r>
          </a:p>
        </p:txBody>
      </p:sp>
      <p:pic>
        <p:nvPicPr>
          <p:cNvPr id="27650" name="Picture 2"/>
          <p:cNvPicPr>
            <a:picLocks noChangeAspect="1" noChangeArrowheads="1"/>
          </p:cNvPicPr>
          <p:nvPr/>
        </p:nvPicPr>
        <p:blipFill>
          <a:blip r:embed="rId5" cstate="print"/>
          <a:srcRect/>
          <a:stretch>
            <a:fillRect/>
          </a:stretch>
        </p:blipFill>
        <p:spPr bwMode="auto">
          <a:xfrm>
            <a:off x="990600" y="5143500"/>
            <a:ext cx="8077200" cy="4800600"/>
          </a:xfrm>
          <a:prstGeom prst="rect">
            <a:avLst/>
          </a:prstGeom>
          <a:noFill/>
          <a:ln w="9525">
            <a:noFill/>
            <a:miter lim="800000"/>
            <a:headEnd/>
            <a:tailEnd/>
          </a:ln>
          <a:effectLst/>
        </p:spPr>
      </p:pic>
      <p:pic>
        <p:nvPicPr>
          <p:cNvPr id="27651" name="Picture 3"/>
          <p:cNvPicPr>
            <a:picLocks noChangeAspect="1" noChangeArrowheads="1"/>
          </p:cNvPicPr>
          <p:nvPr/>
        </p:nvPicPr>
        <p:blipFill>
          <a:blip r:embed="rId6" cstate="print"/>
          <a:srcRect/>
          <a:stretch>
            <a:fillRect/>
          </a:stretch>
        </p:blipFill>
        <p:spPr bwMode="auto">
          <a:xfrm>
            <a:off x="9601200" y="3924300"/>
            <a:ext cx="8001000" cy="3657600"/>
          </a:xfrm>
          <a:prstGeom prst="rect">
            <a:avLst/>
          </a:prstGeom>
          <a:noFill/>
          <a:ln w="9525">
            <a:noFill/>
            <a:miter lim="800000"/>
            <a:headEnd/>
            <a:tailEnd/>
          </a:ln>
          <a:effectLst/>
        </p:spPr>
      </p:pic>
      <p:pic>
        <p:nvPicPr>
          <p:cNvPr id="27652" name="Picture 4"/>
          <p:cNvPicPr>
            <a:picLocks noChangeAspect="1" noChangeArrowheads="1"/>
          </p:cNvPicPr>
          <p:nvPr/>
        </p:nvPicPr>
        <p:blipFill>
          <a:blip r:embed="rId7" cstate="print"/>
          <a:srcRect/>
          <a:stretch>
            <a:fillRect/>
          </a:stretch>
        </p:blipFill>
        <p:spPr bwMode="auto">
          <a:xfrm>
            <a:off x="9525000" y="7505700"/>
            <a:ext cx="8153400" cy="2362200"/>
          </a:xfrm>
          <a:prstGeom prst="rect">
            <a:avLst/>
          </a:prstGeom>
          <a:noFill/>
          <a:ln w="9525">
            <a:noFill/>
            <a:miter lim="800000"/>
            <a:headEnd/>
            <a:tailEnd/>
          </a:ln>
          <a:effectLst/>
        </p:spPr>
      </p:pic>
      <p:pic>
        <p:nvPicPr>
          <p:cNvPr id="11" name="Picture 3"/>
          <p:cNvPicPr>
            <a:picLocks noChangeAspect="1" noChangeArrowheads="1"/>
          </p:cNvPicPr>
          <p:nvPr/>
        </p:nvPicPr>
        <p:blipFill>
          <a:blip r:embed="rId8" cstate="print"/>
          <a:srcRect/>
          <a:stretch>
            <a:fillRect/>
          </a:stretch>
        </p:blipFill>
        <p:spPr bwMode="auto">
          <a:xfrm>
            <a:off x="1752600" y="2247900"/>
            <a:ext cx="14706600" cy="1676400"/>
          </a:xfrm>
          <a:prstGeom prst="rect">
            <a:avLst/>
          </a:prstGeom>
          <a:noFill/>
          <a:ln w="9525">
            <a:noFill/>
            <a:miter lim="800000"/>
            <a:headEnd/>
            <a:tailEnd/>
          </a:ln>
          <a:effectLst/>
        </p:spPr>
      </p:pic>
      <p:sp>
        <p:nvSpPr>
          <p:cNvPr id="12" name="TextBox 6"/>
          <p:cNvSpPr txBox="1"/>
          <p:nvPr/>
        </p:nvSpPr>
        <p:spPr>
          <a:xfrm>
            <a:off x="1143000" y="3543300"/>
            <a:ext cx="8382000" cy="1524000"/>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lvl="0">
              <a:lnSpc>
                <a:spcPct val="128650"/>
              </a:lnSpc>
              <a:buFont typeface="Arial" pitchFamily="34" charset="0"/>
              <a:buChar char="•"/>
            </a:pPr>
            <a:r>
              <a:rPr lang="en-US" altLang="ko-KR" sz="2400" dirty="0" smtClean="0">
                <a:latin typeface="+mn-ea"/>
              </a:rPr>
              <a:t>1980</a:t>
            </a:r>
            <a:r>
              <a:rPr lang="ko-KR" altLang="en-US" sz="2400" dirty="0" smtClean="0">
                <a:latin typeface="+mn-ea"/>
              </a:rPr>
              <a:t>년부터 </a:t>
            </a:r>
            <a:r>
              <a:rPr lang="en-US" altLang="ko-KR" sz="2400" dirty="0" smtClean="0">
                <a:latin typeface="+mn-ea"/>
              </a:rPr>
              <a:t>2021</a:t>
            </a:r>
            <a:r>
              <a:rPr lang="ko-KR" altLang="en-US" sz="2400" dirty="0" smtClean="0">
                <a:latin typeface="+mn-ea"/>
              </a:rPr>
              <a:t>년까지 전 세계 </a:t>
            </a:r>
            <a:r>
              <a:rPr lang="en-US" altLang="ko-KR" sz="2400" dirty="0" smtClean="0">
                <a:latin typeface="+mn-ea"/>
              </a:rPr>
              <a:t>211</a:t>
            </a:r>
            <a:r>
              <a:rPr lang="ko-KR" altLang="en-US" sz="2400" dirty="0" smtClean="0">
                <a:latin typeface="+mn-ea"/>
              </a:rPr>
              <a:t>개 국가의 에너지 생산</a:t>
            </a:r>
            <a:r>
              <a:rPr lang="en-US" altLang="ko-KR" sz="2400" dirty="0" smtClean="0">
                <a:latin typeface="+mn-ea"/>
              </a:rPr>
              <a:t>, </a:t>
            </a:r>
            <a:r>
              <a:rPr lang="ko-KR" altLang="en-US" sz="2400" dirty="0" smtClean="0">
                <a:latin typeface="+mn-ea"/>
              </a:rPr>
              <a:t>온실가스 배출</a:t>
            </a:r>
            <a:r>
              <a:rPr lang="en-US" altLang="ko-KR" sz="2400" dirty="0" smtClean="0">
                <a:latin typeface="+mn-ea"/>
              </a:rPr>
              <a:t>, </a:t>
            </a:r>
            <a:r>
              <a:rPr lang="ko-KR" altLang="en-US" sz="2400" dirty="0" smtClean="0">
                <a:latin typeface="+mn-ea"/>
              </a:rPr>
              <a:t>인구</a:t>
            </a:r>
            <a:r>
              <a:rPr lang="en-US" altLang="ko-KR" sz="2400" dirty="0" smtClean="0">
                <a:latin typeface="+mn-ea"/>
              </a:rPr>
              <a:t>, </a:t>
            </a:r>
            <a:r>
              <a:rPr lang="ko-KR" altLang="en-US" sz="2400" dirty="0" smtClean="0">
                <a:latin typeface="+mn-ea"/>
              </a:rPr>
              <a:t>기후 변화 지표를 포함한 종합 데이터</a:t>
            </a:r>
            <a:endParaRPr lang="en-US" altLang="ko-KR" sz="2400" dirty="0" smtClean="0">
              <a:latin typeface="+mn-ea"/>
            </a:endParaRPr>
          </a:p>
          <a:p>
            <a:pPr lvl="0">
              <a:lnSpc>
                <a:spcPct val="128650"/>
              </a:lnSpc>
              <a:buFont typeface="Arial" pitchFamily="34" charset="0"/>
              <a:buChar char="•"/>
            </a:pPr>
            <a:r>
              <a:rPr lang="ko-KR" altLang="en-US" sz="2400" dirty="0" err="1" smtClean="0">
                <a:latin typeface="+mn-ea"/>
              </a:rPr>
              <a:t>행</a:t>
            </a:r>
            <a:r>
              <a:rPr lang="en-US" altLang="ko-KR" sz="2400" dirty="0" smtClean="0">
                <a:latin typeface="+mn-ea"/>
              </a:rPr>
              <a:t>(rows): 8862</a:t>
            </a:r>
            <a:r>
              <a:rPr lang="ko-KR" altLang="en-US" sz="2400" dirty="0" smtClean="0">
                <a:latin typeface="+mn-ea"/>
              </a:rPr>
              <a:t>개</a:t>
            </a:r>
            <a:r>
              <a:rPr lang="en-US" altLang="ko-KR" sz="2400" dirty="0" smtClean="0">
                <a:latin typeface="+mn-ea"/>
              </a:rPr>
              <a:t>, </a:t>
            </a:r>
            <a:r>
              <a:rPr lang="ko-KR" altLang="en-US" sz="2400" dirty="0" smtClean="0">
                <a:latin typeface="+mn-ea"/>
              </a:rPr>
              <a:t>열</a:t>
            </a:r>
            <a:r>
              <a:rPr lang="en-US" altLang="ko-KR" sz="2400" dirty="0" smtClean="0">
                <a:latin typeface="+mn-ea"/>
              </a:rPr>
              <a:t>(columns): 21</a:t>
            </a:r>
            <a:r>
              <a:rPr lang="ko-KR" altLang="en-US" sz="2400" dirty="0" smtClean="0">
                <a:latin typeface="+mn-ea"/>
              </a:rPr>
              <a:t>개</a:t>
            </a:r>
            <a:endParaRPr lang="en-US" altLang="ko-KR" sz="2400" dirty="0" smtClean="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65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765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76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29BEE"/>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cstate="print"/>
          <a:stretch>
            <a:fillRect/>
          </a:stretch>
        </p:blipFill>
        <p:spPr>
          <a:xfrm>
            <a:off x="292100" y="292100"/>
            <a:ext cx="17716500" cy="9715500"/>
          </a:xfrm>
          <a:prstGeom prst="rect">
            <a:avLst/>
          </a:prstGeom>
        </p:spPr>
      </p:pic>
      <p:pic>
        <p:nvPicPr>
          <p:cNvPr id="4" name="Picture 4"/>
          <p:cNvPicPr>
            <a:picLocks noChangeAspect="1"/>
          </p:cNvPicPr>
          <p:nvPr/>
        </p:nvPicPr>
        <p:blipFill>
          <a:blip r:embed="rId4" cstate="print"/>
          <a:stretch>
            <a:fillRect/>
          </a:stretch>
        </p:blipFill>
        <p:spPr>
          <a:xfrm>
            <a:off x="1003300" y="2171700"/>
            <a:ext cx="16281400" cy="25400"/>
          </a:xfrm>
          <a:prstGeom prst="rect">
            <a:avLst/>
          </a:prstGeom>
        </p:spPr>
      </p:pic>
      <p:pic>
        <p:nvPicPr>
          <p:cNvPr id="5" name="Picture 5"/>
          <p:cNvPicPr>
            <a:picLocks noChangeAspect="1"/>
          </p:cNvPicPr>
          <p:nvPr/>
        </p:nvPicPr>
        <p:blipFill>
          <a:blip r:embed="rId5" cstate="print"/>
          <a:stretch>
            <a:fillRect/>
          </a:stretch>
        </p:blipFill>
        <p:spPr>
          <a:xfrm>
            <a:off x="16611600" y="0"/>
            <a:ext cx="673100" cy="965200"/>
          </a:xfrm>
          <a:prstGeom prst="rect">
            <a:avLst/>
          </a:prstGeom>
        </p:spPr>
      </p:pic>
      <p:sp>
        <p:nvSpPr>
          <p:cNvPr id="8" name="TextBox 8"/>
          <p:cNvSpPr txBox="1"/>
          <p:nvPr/>
        </p:nvSpPr>
        <p:spPr>
          <a:xfrm>
            <a:off x="2476500" y="876300"/>
            <a:ext cx="13335000" cy="1422400"/>
          </a:xfrm>
          <a:prstGeom prst="rect">
            <a:avLst/>
          </a:prstGeom>
        </p:spPr>
        <p:txBody>
          <a:bodyPr lIns="0" tIns="0" rIns="0" bIns="0" rtlCol="0" anchor="ctr"/>
          <a:lstStyle/>
          <a:p>
            <a:pPr lvl="0" algn="ctr">
              <a:lnSpc>
                <a:spcPct val="98770"/>
              </a:lnSpc>
            </a:pPr>
            <a:r>
              <a:rPr lang="ko-KR" altLang="en-US" sz="5400" dirty="0" smtClean="0">
                <a:solidFill>
                  <a:srgbClr val="4D4D4D"/>
                </a:solidFill>
                <a:latin typeface="Noto Sans KR Medium" pitchFamily="50" charset="-127"/>
                <a:ea typeface="Noto Sans KR Medium" pitchFamily="50" charset="-127"/>
              </a:rPr>
              <a:t>데이터 전처리</a:t>
            </a:r>
            <a:endParaRPr lang="ko-KR" sz="5400" b="0" i="0" u="none" strike="noStrike" dirty="0">
              <a:solidFill>
                <a:srgbClr val="4D4D4D"/>
              </a:solidFill>
              <a:latin typeface="Noto Sans KR Medium" pitchFamily="50" charset="-127"/>
              <a:ea typeface="Noto Sans KR Medium" pitchFamily="50" charset="-127"/>
            </a:endParaRPr>
          </a:p>
        </p:txBody>
      </p:sp>
      <p:sp>
        <p:nvSpPr>
          <p:cNvPr id="9" name="TextBox 9"/>
          <p:cNvSpPr txBox="1"/>
          <p:nvPr/>
        </p:nvSpPr>
        <p:spPr>
          <a:xfrm>
            <a:off x="7391400" y="660400"/>
            <a:ext cx="3505200" cy="457200"/>
          </a:xfrm>
          <a:prstGeom prst="rect">
            <a:avLst/>
          </a:prstGeom>
        </p:spPr>
        <p:txBody>
          <a:bodyPr lIns="0" tIns="0" rIns="0" bIns="0" rtlCol="0" anchor="ctr"/>
          <a:lstStyle/>
          <a:p>
            <a:pPr lvl="0" algn="ctr">
              <a:lnSpc>
                <a:spcPct val="98770"/>
              </a:lnSpc>
            </a:pPr>
            <a:r>
              <a:rPr lang="en-US" sz="2500" b="0" i="0" u="none" strike="noStrike" dirty="0">
                <a:solidFill>
                  <a:srgbClr val="229BEE"/>
                </a:solidFill>
                <a:latin typeface="+mn-ea"/>
              </a:rPr>
              <a:t>CHAPTER 02</a:t>
            </a:r>
          </a:p>
        </p:txBody>
      </p:sp>
      <p:sp>
        <p:nvSpPr>
          <p:cNvPr id="11" name="TextBox 10">
            <a:extLst>
              <a:ext uri="{FF2B5EF4-FFF2-40B4-BE49-F238E27FC236}">
                <a16:creationId xmlns="" xmlns:a16="http://schemas.microsoft.com/office/drawing/2014/main" id="{9868D4D3-D354-8A4A-E870-E4A7DA56A02E}"/>
              </a:ext>
            </a:extLst>
          </p:cNvPr>
          <p:cNvSpPr txBox="1"/>
          <p:nvPr/>
        </p:nvSpPr>
        <p:spPr>
          <a:xfrm>
            <a:off x="990600" y="2400300"/>
            <a:ext cx="14020800" cy="430887"/>
          </a:xfrm>
          <a:prstGeom prst="rect">
            <a:avLst/>
          </a:prstGeom>
          <a:noFill/>
        </p:spPr>
        <p:txBody>
          <a:bodyPr wrap="square" rtlCol="0">
            <a:spAutoFit/>
          </a:bodyPr>
          <a:lstStyle/>
          <a:p>
            <a:r>
              <a:rPr lang="ko-KR" altLang="en-US" sz="2200" dirty="0">
                <a:latin typeface="NanumBarunGothic Light" panose="020B0603020101020101" pitchFamily="34" charset="-127"/>
                <a:ea typeface="NanumBarunGothic Light" panose="020B0603020101020101" pitchFamily="34" charset="-127"/>
              </a:rPr>
              <a:t>시계열 데이터를 두 시기로 나눠서 </a:t>
            </a:r>
            <a:r>
              <a:rPr lang="ko-KR" altLang="en-US" sz="2200" dirty="0" smtClean="0">
                <a:latin typeface="NanumBarunGothic Light" panose="020B0603020101020101" pitchFamily="34" charset="-127"/>
                <a:ea typeface="NanumBarunGothic Light" panose="020B0603020101020101" pitchFamily="34" charset="-127"/>
              </a:rPr>
              <a:t>평균값을 구하고</a:t>
            </a:r>
            <a:r>
              <a:rPr lang="en-US" altLang="ko-KR" sz="2200" dirty="0" smtClean="0">
                <a:latin typeface="NanumBarunGothic Light" panose="020B0603020101020101" pitchFamily="34" charset="-127"/>
                <a:ea typeface="NanumBarunGothic Light" panose="020B0603020101020101" pitchFamily="34" charset="-127"/>
              </a:rPr>
              <a:t>,</a:t>
            </a:r>
            <a:r>
              <a:rPr lang="ko-KR" altLang="en-US" sz="2200" dirty="0" err="1" smtClean="0">
                <a:latin typeface="NanumBarunGothic Light" panose="020B0603020101020101" pitchFamily="34" charset="-127"/>
                <a:ea typeface="NanumBarunGothic Light" panose="020B0603020101020101" pitchFamily="34" charset="-127"/>
              </a:rPr>
              <a:t>변화량</a:t>
            </a:r>
            <a:r>
              <a:rPr lang="en-US" altLang="ko-KR" sz="2200" dirty="0">
                <a:latin typeface="NanumBarunGothic Light" panose="020B0603020101020101" pitchFamily="34" charset="-127"/>
                <a:ea typeface="NanumBarunGothic Light" panose="020B0603020101020101" pitchFamily="34" charset="-127"/>
              </a:rPr>
              <a:t>(</a:t>
            </a:r>
            <a:r>
              <a:rPr lang="ko-KR" altLang="en-US" sz="2200" dirty="0">
                <a:latin typeface="NanumBarunGothic Light" panose="020B0603020101020101" pitchFamily="34" charset="-127"/>
                <a:ea typeface="NanumBarunGothic Light" panose="020B0603020101020101" pitchFamily="34" charset="-127"/>
              </a:rPr>
              <a:t>최근</a:t>
            </a:r>
            <a:r>
              <a:rPr lang="en-US" altLang="ko-KR" sz="2200" dirty="0">
                <a:latin typeface="NanumBarunGothic Light" panose="020B0603020101020101" pitchFamily="34" charset="-127"/>
                <a:ea typeface="NanumBarunGothic Light" panose="020B0603020101020101" pitchFamily="34" charset="-127"/>
              </a:rPr>
              <a:t>-</a:t>
            </a:r>
            <a:r>
              <a:rPr lang="ko-KR" altLang="en-US" sz="2200" dirty="0">
                <a:latin typeface="NanumBarunGothic Light" panose="020B0603020101020101" pitchFamily="34" charset="-127"/>
                <a:ea typeface="NanumBarunGothic Light" panose="020B0603020101020101" pitchFamily="34" charset="-127"/>
              </a:rPr>
              <a:t>과거</a:t>
            </a:r>
            <a:r>
              <a:rPr lang="en-US" altLang="ko-KR" sz="2200" dirty="0">
                <a:latin typeface="NanumBarunGothic Light" panose="020B0603020101020101" pitchFamily="34" charset="-127"/>
                <a:ea typeface="NanumBarunGothic Light" panose="020B0603020101020101" pitchFamily="34" charset="-127"/>
              </a:rPr>
              <a:t>)</a:t>
            </a:r>
            <a:r>
              <a:rPr lang="ko-KR" altLang="en-US" sz="2200" dirty="0">
                <a:latin typeface="NanumBarunGothic Light" panose="020B0603020101020101" pitchFamily="34" charset="-127"/>
                <a:ea typeface="NanumBarunGothic Light" panose="020B0603020101020101" pitchFamily="34" charset="-127"/>
              </a:rPr>
              <a:t>을 계산</a:t>
            </a:r>
            <a:endParaRPr lang="en-US" altLang="ko-KR" sz="2200" dirty="0">
              <a:latin typeface="NanumBarunGothic Light" panose="020B0603020101020101" pitchFamily="34" charset="-127"/>
              <a:ea typeface="NanumBarunGothic Light" panose="020B0603020101020101" pitchFamily="34" charset="-127"/>
            </a:endParaRPr>
          </a:p>
        </p:txBody>
      </p:sp>
      <p:sp>
        <p:nvSpPr>
          <p:cNvPr id="14" name="TextBox 13">
            <a:extLst>
              <a:ext uri="{FF2B5EF4-FFF2-40B4-BE49-F238E27FC236}">
                <a16:creationId xmlns="" xmlns:a16="http://schemas.microsoft.com/office/drawing/2014/main" id="{9868D4D3-D354-8A4A-E870-E4A7DA56A02E}"/>
              </a:ext>
            </a:extLst>
          </p:cNvPr>
          <p:cNvSpPr txBox="1"/>
          <p:nvPr/>
        </p:nvSpPr>
        <p:spPr>
          <a:xfrm>
            <a:off x="914400" y="3162300"/>
            <a:ext cx="17145000" cy="769441"/>
          </a:xfrm>
          <a:prstGeom prst="rect">
            <a:avLst/>
          </a:prstGeom>
          <a:noFill/>
        </p:spPr>
        <p:txBody>
          <a:bodyPr wrap="square" rtlCol="0">
            <a:spAutoFit/>
          </a:bodyPr>
          <a:lstStyle/>
          <a:p>
            <a:r>
              <a:rPr lang="ko-KR" altLang="en-US" sz="2200" b="1" dirty="0" err="1" smtClean="0">
                <a:latin typeface="NanumBarunGothic Light" panose="020B0603020101020101" pitchFamily="34" charset="-127"/>
                <a:ea typeface="NanumBarunGothic Light" panose="020B0603020101020101" pitchFamily="34" charset="-127"/>
              </a:rPr>
              <a:t>수치형</a:t>
            </a:r>
            <a:r>
              <a:rPr lang="ko-KR" altLang="en-US" sz="2200" b="1" dirty="0" smtClean="0">
                <a:latin typeface="NanumBarunGothic Light" panose="020B0603020101020101" pitchFamily="34" charset="-127"/>
                <a:ea typeface="NanumBarunGothic Light" panose="020B0603020101020101" pitchFamily="34" charset="-127"/>
              </a:rPr>
              <a:t> 변수만 추출</a:t>
            </a:r>
            <a:r>
              <a:rPr lang="en-US" altLang="ko-KR" sz="2200" b="1" dirty="0" smtClean="0">
                <a:latin typeface="NanumBarunGothic Light" panose="020B0603020101020101" pitchFamily="34" charset="-127"/>
                <a:ea typeface="NanumBarunGothic Light" panose="020B0603020101020101" pitchFamily="34" charset="-127"/>
              </a:rPr>
              <a:t>(</a:t>
            </a:r>
            <a:r>
              <a:rPr lang="en-US" altLang="ko-KR" sz="2200" dirty="0" smtClean="0">
                <a:latin typeface="NanumBarunGothic Light" panose="020B0603020101020101" pitchFamily="34" charset="-127"/>
                <a:ea typeface="NanumBarunGothic Light" panose="020B0603020101020101" pitchFamily="34" charset="-127"/>
              </a:rPr>
              <a:t>Year, Country, ISO.alpha-3,temp change(</a:t>
            </a:r>
            <a:r>
              <a:rPr lang="ko-KR" altLang="en-US" sz="2200" dirty="0" smtClean="0">
                <a:latin typeface="NanumBarunGothic Light" panose="020B0603020101020101" pitchFamily="34" charset="-127"/>
                <a:ea typeface="NanumBarunGothic Light" panose="020B0603020101020101" pitchFamily="34" charset="-127"/>
              </a:rPr>
              <a:t>종속변수</a:t>
            </a:r>
            <a:r>
              <a:rPr lang="en-US" altLang="ko-KR" sz="2200" dirty="0" smtClean="0">
                <a:latin typeface="NanumBarunGothic Light" panose="020B0603020101020101" pitchFamily="34" charset="-127"/>
                <a:ea typeface="NanumBarunGothic Light" panose="020B0603020101020101" pitchFamily="34" charset="-127"/>
              </a:rPr>
              <a:t>) </a:t>
            </a:r>
            <a:r>
              <a:rPr lang="ko-KR" altLang="en-US" sz="2200" dirty="0" smtClean="0">
                <a:latin typeface="NanumBarunGothic Light" panose="020B0603020101020101" pitchFamily="34" charset="-127"/>
                <a:ea typeface="NanumBarunGothic Light" panose="020B0603020101020101" pitchFamily="34" charset="-127"/>
              </a:rPr>
              <a:t>제외한　온실가스，에너지，환경　관련 총１</a:t>
            </a:r>
            <a:r>
              <a:rPr lang="en-US" altLang="ko-KR" sz="2200" dirty="0" smtClean="0">
                <a:latin typeface="NanumBarunGothic Light" panose="020B0603020101020101" pitchFamily="34" charset="-127"/>
                <a:ea typeface="NanumBarunGothic Light" panose="020B0603020101020101" pitchFamily="34" charset="-127"/>
              </a:rPr>
              <a:t>6</a:t>
            </a:r>
            <a:r>
              <a:rPr lang="ko-KR" altLang="en-US" sz="2200" dirty="0" smtClean="0">
                <a:latin typeface="NanumBarunGothic Light" panose="020B0603020101020101" pitchFamily="34" charset="-127"/>
                <a:ea typeface="NanumBarunGothic Light" panose="020B0603020101020101" pitchFamily="34" charset="-127"/>
              </a:rPr>
              <a:t>개 </a:t>
            </a:r>
            <a:r>
              <a:rPr lang="ko-KR" altLang="en-US" sz="2200" dirty="0" err="1" smtClean="0">
                <a:latin typeface="NanumBarunGothic Light" panose="020B0603020101020101" pitchFamily="34" charset="-127"/>
                <a:ea typeface="NanumBarunGothic Light" panose="020B0603020101020101" pitchFamily="34" charset="-127"/>
              </a:rPr>
              <a:t>컬럼</a:t>
            </a:r>
            <a:r>
              <a:rPr lang="en-US" altLang="ko-KR" sz="2200" dirty="0" smtClean="0">
                <a:latin typeface="NanumBarunGothic Light" panose="020B0603020101020101" pitchFamily="34" charset="-127"/>
                <a:ea typeface="NanumBarunGothic Light" panose="020B0603020101020101" pitchFamily="34" charset="-127"/>
              </a:rPr>
              <a:t>)</a:t>
            </a:r>
          </a:p>
          <a:p>
            <a:endParaRPr lang="en-US" altLang="ko-KR" sz="2200" b="1" dirty="0">
              <a:latin typeface="NanumBarunGothic Light" panose="020B0603020101020101" pitchFamily="34" charset="-127"/>
              <a:ea typeface="NanumBarunGothic Light" panose="020B0603020101020101" pitchFamily="34" charset="-127"/>
            </a:endParaRPr>
          </a:p>
        </p:txBody>
      </p:sp>
      <p:pic>
        <p:nvPicPr>
          <p:cNvPr id="28675" name="Picture 3"/>
          <p:cNvPicPr>
            <a:picLocks noChangeAspect="1" noChangeArrowheads="1"/>
          </p:cNvPicPr>
          <p:nvPr/>
        </p:nvPicPr>
        <p:blipFill>
          <a:blip r:embed="rId6" cstate="print"/>
          <a:srcRect/>
          <a:stretch>
            <a:fillRect/>
          </a:stretch>
        </p:blipFill>
        <p:spPr bwMode="auto">
          <a:xfrm>
            <a:off x="914400" y="5905500"/>
            <a:ext cx="8763000" cy="1600200"/>
          </a:xfrm>
          <a:prstGeom prst="rect">
            <a:avLst/>
          </a:prstGeom>
          <a:noFill/>
          <a:ln w="9525">
            <a:noFill/>
            <a:miter lim="800000"/>
            <a:headEnd/>
            <a:tailEnd/>
          </a:ln>
          <a:effectLst/>
        </p:spPr>
      </p:pic>
      <p:sp>
        <p:nvSpPr>
          <p:cNvPr id="16" name="TextBox 15">
            <a:extLst>
              <a:ext uri="{FF2B5EF4-FFF2-40B4-BE49-F238E27FC236}">
                <a16:creationId xmlns="" xmlns:a16="http://schemas.microsoft.com/office/drawing/2014/main" id="{9868D4D3-D354-8A4A-E870-E4A7DA56A02E}"/>
              </a:ext>
            </a:extLst>
          </p:cNvPr>
          <p:cNvSpPr txBox="1"/>
          <p:nvPr/>
        </p:nvSpPr>
        <p:spPr>
          <a:xfrm>
            <a:off x="914400" y="5372100"/>
            <a:ext cx="6477000" cy="430887"/>
          </a:xfrm>
          <a:prstGeom prst="rect">
            <a:avLst/>
          </a:prstGeom>
          <a:noFill/>
        </p:spPr>
        <p:txBody>
          <a:bodyPr wrap="square" rtlCol="0">
            <a:spAutoFit/>
          </a:bodyPr>
          <a:lstStyle/>
          <a:p>
            <a:r>
              <a:rPr lang="en-US" altLang="ko-KR" sz="2200" b="1" dirty="0" smtClean="0">
                <a:latin typeface="NanumBarunGothic Light" panose="020B0603020101020101" pitchFamily="34" charset="-127"/>
                <a:ea typeface="NanumBarunGothic Light" panose="020B0603020101020101" pitchFamily="34" charset="-127"/>
              </a:rPr>
              <a:t>1. </a:t>
            </a:r>
            <a:r>
              <a:rPr lang="ko-KR" altLang="en-US" sz="2200" b="1" dirty="0" smtClean="0">
                <a:latin typeface="NanumBarunGothic Light" panose="020B0603020101020101" pitchFamily="34" charset="-127"/>
                <a:ea typeface="NanumBarunGothic Light" panose="020B0603020101020101" pitchFamily="34" charset="-127"/>
              </a:rPr>
              <a:t>과거 평균 </a:t>
            </a:r>
            <a:r>
              <a:rPr lang="en-US" altLang="ko-KR" sz="2200" b="1" dirty="0" smtClean="0">
                <a:latin typeface="NanumBarunGothic Light" panose="020B0603020101020101" pitchFamily="34" charset="-127"/>
                <a:ea typeface="NanumBarunGothic Light" panose="020B0603020101020101" pitchFamily="34" charset="-127"/>
              </a:rPr>
              <a:t>(1980–2000)</a:t>
            </a:r>
            <a:endParaRPr lang="en-US" altLang="ko-KR" sz="2200" b="1" dirty="0">
              <a:latin typeface="NanumBarunGothic Light" panose="020B0603020101020101" pitchFamily="34" charset="-127"/>
              <a:ea typeface="NanumBarunGothic Light" panose="020B0603020101020101" pitchFamily="34" charset="-127"/>
            </a:endParaRPr>
          </a:p>
        </p:txBody>
      </p:sp>
      <p:sp>
        <p:nvSpPr>
          <p:cNvPr id="17" name="TextBox 16">
            <a:extLst>
              <a:ext uri="{FF2B5EF4-FFF2-40B4-BE49-F238E27FC236}">
                <a16:creationId xmlns="" xmlns:a16="http://schemas.microsoft.com/office/drawing/2014/main" id="{9868D4D3-D354-8A4A-E870-E4A7DA56A02E}"/>
              </a:ext>
            </a:extLst>
          </p:cNvPr>
          <p:cNvSpPr txBox="1"/>
          <p:nvPr/>
        </p:nvSpPr>
        <p:spPr>
          <a:xfrm>
            <a:off x="914400" y="7658100"/>
            <a:ext cx="6477000" cy="430887"/>
          </a:xfrm>
          <a:prstGeom prst="rect">
            <a:avLst/>
          </a:prstGeom>
          <a:noFill/>
        </p:spPr>
        <p:txBody>
          <a:bodyPr wrap="square" rtlCol="0">
            <a:spAutoFit/>
          </a:bodyPr>
          <a:lstStyle/>
          <a:p>
            <a:r>
              <a:rPr lang="en-US" altLang="ko-KR" sz="2200" b="1" dirty="0" smtClean="0">
                <a:latin typeface="NanumBarunGothic Light" panose="020B0603020101020101" pitchFamily="34" charset="-127"/>
                <a:ea typeface="NanumBarunGothic Light" panose="020B0603020101020101" pitchFamily="34" charset="-127"/>
              </a:rPr>
              <a:t>2. </a:t>
            </a:r>
            <a:r>
              <a:rPr lang="ko-KR" altLang="en-US" sz="2200" b="1" dirty="0" smtClean="0">
                <a:latin typeface="NanumBarunGothic Light" panose="020B0603020101020101" pitchFamily="34" charset="-127"/>
                <a:ea typeface="NanumBarunGothic Light" panose="020B0603020101020101" pitchFamily="34" charset="-127"/>
              </a:rPr>
              <a:t>현재 평균 </a:t>
            </a:r>
            <a:r>
              <a:rPr lang="en-US" altLang="ko-KR" sz="2200" b="1" dirty="0" smtClean="0">
                <a:latin typeface="NanumBarunGothic Light" panose="020B0603020101020101" pitchFamily="34" charset="-127"/>
                <a:ea typeface="NanumBarunGothic Light" panose="020B0603020101020101" pitchFamily="34" charset="-127"/>
              </a:rPr>
              <a:t>(2001–2021)</a:t>
            </a:r>
            <a:endParaRPr lang="en-US" altLang="ko-KR" sz="2200" b="1" dirty="0">
              <a:latin typeface="NanumBarunGothic Light" panose="020B0603020101020101" pitchFamily="34" charset="-127"/>
              <a:ea typeface="NanumBarunGothic Light" panose="020B0603020101020101" pitchFamily="34" charset="-127"/>
            </a:endParaRPr>
          </a:p>
        </p:txBody>
      </p:sp>
      <p:pic>
        <p:nvPicPr>
          <p:cNvPr id="28676" name="Picture 4"/>
          <p:cNvPicPr>
            <a:picLocks noChangeAspect="1" noChangeArrowheads="1"/>
          </p:cNvPicPr>
          <p:nvPr/>
        </p:nvPicPr>
        <p:blipFill>
          <a:blip r:embed="rId7" cstate="print"/>
          <a:srcRect/>
          <a:stretch>
            <a:fillRect/>
          </a:stretch>
        </p:blipFill>
        <p:spPr bwMode="auto">
          <a:xfrm>
            <a:off x="914400" y="8191500"/>
            <a:ext cx="8763000" cy="1600200"/>
          </a:xfrm>
          <a:prstGeom prst="rect">
            <a:avLst/>
          </a:prstGeom>
          <a:noFill/>
          <a:ln w="9525">
            <a:noFill/>
            <a:miter lim="800000"/>
            <a:headEnd/>
            <a:tailEnd/>
          </a:ln>
          <a:effectLst/>
        </p:spPr>
      </p:pic>
      <p:pic>
        <p:nvPicPr>
          <p:cNvPr id="28677" name="Picture 5"/>
          <p:cNvPicPr>
            <a:picLocks noChangeAspect="1" noChangeArrowheads="1"/>
          </p:cNvPicPr>
          <p:nvPr/>
        </p:nvPicPr>
        <p:blipFill>
          <a:blip r:embed="rId8" cstate="print"/>
          <a:srcRect t="33333"/>
          <a:stretch>
            <a:fillRect/>
          </a:stretch>
        </p:blipFill>
        <p:spPr bwMode="auto">
          <a:xfrm>
            <a:off x="914400" y="3771900"/>
            <a:ext cx="8763000" cy="1447800"/>
          </a:xfrm>
          <a:prstGeom prst="rect">
            <a:avLst/>
          </a:prstGeom>
          <a:noFill/>
          <a:ln w="9525">
            <a:noFill/>
            <a:miter lim="800000"/>
            <a:headEnd/>
            <a:tailEnd/>
          </a:ln>
          <a:effectLst/>
        </p:spPr>
      </p:pic>
      <p:sp>
        <p:nvSpPr>
          <p:cNvPr id="15" name="TextBox 14">
            <a:extLst>
              <a:ext uri="{FF2B5EF4-FFF2-40B4-BE49-F238E27FC236}">
                <a16:creationId xmlns="" xmlns:a16="http://schemas.microsoft.com/office/drawing/2014/main" id="{9868D4D3-D354-8A4A-E870-E4A7DA56A02E}"/>
              </a:ext>
            </a:extLst>
          </p:cNvPr>
          <p:cNvSpPr txBox="1"/>
          <p:nvPr/>
        </p:nvSpPr>
        <p:spPr>
          <a:xfrm>
            <a:off x="9982200" y="4076700"/>
            <a:ext cx="6477000" cy="430887"/>
          </a:xfrm>
          <a:prstGeom prst="rect">
            <a:avLst/>
          </a:prstGeom>
          <a:noFill/>
        </p:spPr>
        <p:txBody>
          <a:bodyPr wrap="square" rtlCol="0">
            <a:spAutoFit/>
          </a:bodyPr>
          <a:lstStyle/>
          <a:p>
            <a:r>
              <a:rPr lang="en-US" altLang="ko-KR" sz="2200" b="1" dirty="0" smtClean="0">
                <a:latin typeface="NanumBarunGothic Light" panose="020B0603020101020101" pitchFamily="34" charset="-127"/>
                <a:ea typeface="NanumBarunGothic Light" panose="020B0603020101020101" pitchFamily="34" charset="-127"/>
              </a:rPr>
              <a:t>3. </a:t>
            </a:r>
            <a:r>
              <a:rPr lang="ko-KR" altLang="en-US" sz="2200" b="1" dirty="0" err="1" smtClean="0">
                <a:latin typeface="NanumBarunGothic Light" panose="020B0603020101020101" pitchFamily="34" charset="-127"/>
                <a:ea typeface="NanumBarunGothic Light" panose="020B0603020101020101" pitchFamily="34" charset="-127"/>
              </a:rPr>
              <a:t>변화량</a:t>
            </a:r>
            <a:r>
              <a:rPr lang="ko-KR" altLang="en-US" sz="2200" b="1" dirty="0" smtClean="0">
                <a:latin typeface="NanumBarunGothic Light" panose="020B0603020101020101" pitchFamily="34" charset="-127"/>
                <a:ea typeface="NanumBarunGothic Light" panose="020B0603020101020101" pitchFamily="34" charset="-127"/>
              </a:rPr>
              <a:t> </a:t>
            </a:r>
            <a:r>
              <a:rPr lang="en-US" altLang="ko-KR" sz="2200" b="1" dirty="0" smtClean="0">
                <a:latin typeface="NanumBarunGothic Light" panose="020B0603020101020101" pitchFamily="34" charset="-127"/>
                <a:ea typeface="NanumBarunGothic Light" panose="020B0603020101020101" pitchFamily="34" charset="-127"/>
              </a:rPr>
              <a:t>= </a:t>
            </a:r>
            <a:r>
              <a:rPr lang="ko-KR" altLang="en-US" sz="2200" b="1" dirty="0" smtClean="0">
                <a:latin typeface="NanumBarunGothic Light" panose="020B0603020101020101" pitchFamily="34" charset="-127"/>
                <a:ea typeface="NanumBarunGothic Light" panose="020B0603020101020101" pitchFamily="34" charset="-127"/>
              </a:rPr>
              <a:t>최근 </a:t>
            </a:r>
            <a:r>
              <a:rPr lang="en-US" altLang="ko-KR" sz="2200" b="1" dirty="0" smtClean="0">
                <a:latin typeface="NanumBarunGothic Light" panose="020B0603020101020101" pitchFamily="34" charset="-127"/>
                <a:ea typeface="NanumBarunGothic Light" panose="020B0603020101020101" pitchFamily="34" charset="-127"/>
              </a:rPr>
              <a:t>- </a:t>
            </a:r>
            <a:r>
              <a:rPr lang="ko-KR" altLang="en-US" sz="2200" b="1" dirty="0" smtClean="0">
                <a:latin typeface="NanumBarunGothic Light" panose="020B0603020101020101" pitchFamily="34" charset="-127"/>
                <a:ea typeface="NanumBarunGothic Light" panose="020B0603020101020101" pitchFamily="34" charset="-127"/>
              </a:rPr>
              <a:t>과거</a:t>
            </a:r>
            <a:endParaRPr lang="en-US" altLang="ko-KR" sz="2200" b="1" dirty="0">
              <a:latin typeface="NanumBarunGothic Light" panose="020B0603020101020101" pitchFamily="34" charset="-127"/>
              <a:ea typeface="NanumBarunGothic Light" panose="020B0603020101020101" pitchFamily="34" charset="-127"/>
            </a:endParaRPr>
          </a:p>
        </p:txBody>
      </p:sp>
      <p:pic>
        <p:nvPicPr>
          <p:cNvPr id="18" name="Picture 2"/>
          <p:cNvPicPr>
            <a:picLocks noChangeAspect="1" noChangeArrowheads="1"/>
          </p:cNvPicPr>
          <p:nvPr/>
        </p:nvPicPr>
        <p:blipFill>
          <a:blip r:embed="rId9" cstate="print"/>
          <a:srcRect/>
          <a:stretch>
            <a:fillRect/>
          </a:stretch>
        </p:blipFill>
        <p:spPr bwMode="auto">
          <a:xfrm>
            <a:off x="9906000" y="4533900"/>
            <a:ext cx="7924800" cy="1752600"/>
          </a:xfrm>
          <a:prstGeom prst="rect">
            <a:avLst/>
          </a:prstGeom>
          <a:noFill/>
          <a:ln w="9525">
            <a:noFill/>
            <a:miter lim="800000"/>
            <a:headEnd/>
            <a:tailEnd/>
          </a:ln>
          <a:effectLst/>
        </p:spPr>
      </p:pic>
      <p:pic>
        <p:nvPicPr>
          <p:cNvPr id="19" name="Picture 7"/>
          <p:cNvPicPr>
            <a:picLocks noChangeAspect="1" noChangeArrowheads="1"/>
          </p:cNvPicPr>
          <p:nvPr/>
        </p:nvPicPr>
        <p:blipFill>
          <a:blip r:embed="rId10" cstate="print"/>
          <a:srcRect t="-2547" r="41725"/>
          <a:stretch>
            <a:fillRect/>
          </a:stretch>
        </p:blipFill>
        <p:spPr bwMode="auto">
          <a:xfrm>
            <a:off x="9906000" y="6362700"/>
            <a:ext cx="8001000" cy="3200400"/>
          </a:xfrm>
          <a:prstGeom prst="rect">
            <a:avLst/>
          </a:prstGeom>
          <a:noFill/>
          <a:ln w="9525">
            <a:noFill/>
            <a:miter lim="800000"/>
            <a:headEnd/>
            <a:tailEnd/>
          </a:ln>
          <a:effectLst/>
        </p:spPr>
      </p:pic>
      <p:sp>
        <p:nvSpPr>
          <p:cNvPr id="20" name="TextBox 19">
            <a:extLst>
              <a:ext uri="{FF2B5EF4-FFF2-40B4-BE49-F238E27FC236}">
                <a16:creationId xmlns="" xmlns:a16="http://schemas.microsoft.com/office/drawing/2014/main" id="{6B6347B5-3E2E-502E-1BED-35445B94ECD0}"/>
              </a:ext>
            </a:extLst>
          </p:cNvPr>
          <p:cNvSpPr txBox="1"/>
          <p:nvPr/>
        </p:nvSpPr>
        <p:spPr>
          <a:xfrm>
            <a:off x="14175318" y="9558635"/>
            <a:ext cx="3807882" cy="461665"/>
          </a:xfrm>
          <a:prstGeom prst="rect">
            <a:avLst/>
          </a:prstGeom>
          <a:noFill/>
        </p:spPr>
        <p:txBody>
          <a:bodyPr wrap="square">
            <a:spAutoFit/>
          </a:bodyPr>
          <a:lstStyle/>
          <a:p>
            <a:r>
              <a:rPr lang="en-US" altLang="ko-KR" sz="2400" dirty="0" smtClean="0">
                <a:latin typeface="NanumBarunGothic Light" panose="020B0603020101020101" pitchFamily="34" charset="-127"/>
                <a:ea typeface="NanumBarunGothic Light" panose="020B0603020101020101" pitchFamily="34" charset="-127"/>
              </a:rPr>
              <a:t>211</a:t>
            </a:r>
            <a:r>
              <a:rPr lang="en-US" altLang="ko-KR" sz="2400" dirty="0" smtClean="0">
                <a:effectLst/>
                <a:latin typeface="NanumBarunGothic Light" panose="020B0603020101020101" pitchFamily="34" charset="-127"/>
                <a:ea typeface="NanumBarunGothic Light" panose="020B0603020101020101" pitchFamily="34" charset="-127"/>
              </a:rPr>
              <a:t> </a:t>
            </a:r>
            <a:r>
              <a:rPr lang="en-US" altLang="ko-KR" sz="2400" dirty="0">
                <a:effectLst/>
                <a:latin typeface="NanumBarunGothic Light" panose="020B0603020101020101" pitchFamily="34" charset="-127"/>
                <a:ea typeface="NanumBarunGothic Light" panose="020B0603020101020101" pitchFamily="34" charset="-127"/>
              </a:rPr>
              <a:t>rows × </a:t>
            </a:r>
            <a:r>
              <a:rPr lang="ko-KR" altLang="en-US" sz="2400" dirty="0" smtClean="0">
                <a:latin typeface="NanumBarunGothic Light" panose="020B0603020101020101" pitchFamily="34" charset="-127"/>
                <a:ea typeface="NanumBarunGothic Light" panose="020B0603020101020101" pitchFamily="34" charset="-127"/>
              </a:rPr>
              <a:t>１７</a:t>
            </a:r>
            <a:r>
              <a:rPr lang="en-US" altLang="ko-KR" sz="2400" dirty="0" smtClean="0">
                <a:effectLst/>
                <a:latin typeface="NanumBarunGothic Light" panose="020B0603020101020101" pitchFamily="34" charset="-127"/>
                <a:ea typeface="NanumBarunGothic Light" panose="020B0603020101020101" pitchFamily="34" charset="-127"/>
              </a:rPr>
              <a:t> </a:t>
            </a:r>
            <a:r>
              <a:rPr lang="en-US" altLang="ko-KR" sz="2400" dirty="0">
                <a:effectLst/>
                <a:latin typeface="NanumBarunGothic Light" panose="020B0603020101020101" pitchFamily="34" charset="-127"/>
                <a:ea typeface="NanumBarunGothic Light" panose="020B0603020101020101" pitchFamily="34" charset="-127"/>
              </a:rPr>
              <a:t>columns</a:t>
            </a:r>
            <a:endParaRPr lang="ko-KR" altLang="en-US" sz="2400" dirty="0">
              <a:latin typeface="NanumBarunGothic Light" panose="020B0603020101020101" pitchFamily="34" charset="-127"/>
              <a:ea typeface="NanumBarunGothic Light" panose="020B0603020101020101" pitchFamily="34" charset="-127"/>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67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867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867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17" grpId="0"/>
      <p:bldP spid="15" grpId="0"/>
      <p:bldP spid="20"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29BEE"/>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cstate="print"/>
          <a:stretch>
            <a:fillRect/>
          </a:stretch>
        </p:blipFill>
        <p:spPr>
          <a:xfrm>
            <a:off x="292100" y="292100"/>
            <a:ext cx="17716500" cy="9715500"/>
          </a:xfrm>
          <a:prstGeom prst="rect">
            <a:avLst/>
          </a:prstGeom>
        </p:spPr>
      </p:pic>
      <p:pic>
        <p:nvPicPr>
          <p:cNvPr id="3" name="Picture 3"/>
          <p:cNvPicPr>
            <a:picLocks noChangeAspect="1"/>
          </p:cNvPicPr>
          <p:nvPr/>
        </p:nvPicPr>
        <p:blipFill>
          <a:blip r:embed="rId3" cstate="print">
            <a:alphaModFix amt="30000"/>
          </a:blip>
          <a:stretch>
            <a:fillRect/>
          </a:stretch>
        </p:blipFill>
        <p:spPr>
          <a:xfrm>
            <a:off x="1498600" y="8331200"/>
            <a:ext cx="6045200" cy="25400"/>
          </a:xfrm>
          <a:prstGeom prst="rect">
            <a:avLst/>
          </a:prstGeom>
        </p:spPr>
      </p:pic>
      <p:pic>
        <p:nvPicPr>
          <p:cNvPr id="4" name="Picture 4"/>
          <p:cNvPicPr>
            <a:picLocks noChangeAspect="1"/>
          </p:cNvPicPr>
          <p:nvPr/>
        </p:nvPicPr>
        <p:blipFill>
          <a:blip r:embed="rId4" cstate="print"/>
          <a:stretch>
            <a:fillRect/>
          </a:stretch>
        </p:blipFill>
        <p:spPr>
          <a:xfrm>
            <a:off x="16611600" y="0"/>
            <a:ext cx="673100" cy="965200"/>
          </a:xfrm>
          <a:prstGeom prst="rect">
            <a:avLst/>
          </a:prstGeom>
        </p:spPr>
      </p:pic>
      <p:sp>
        <p:nvSpPr>
          <p:cNvPr id="5" name="TextBox 5"/>
          <p:cNvSpPr txBox="1"/>
          <p:nvPr/>
        </p:nvSpPr>
        <p:spPr>
          <a:xfrm>
            <a:off x="1333500" y="3708400"/>
            <a:ext cx="8293100" cy="3378200"/>
          </a:xfrm>
          <a:prstGeom prst="rect">
            <a:avLst/>
          </a:prstGeom>
        </p:spPr>
        <p:txBody>
          <a:bodyPr lIns="0" tIns="0" rIns="0" bIns="0" rtlCol="0" anchor="ctr"/>
          <a:lstStyle/>
          <a:p>
            <a:pPr lvl="0" algn="l">
              <a:lnSpc>
                <a:spcPct val="115287"/>
              </a:lnSpc>
            </a:pPr>
            <a:r>
              <a:rPr lang="en-US" sz="19000" b="0" i="0" u="none" strike="noStrike" dirty="0" smtClean="0">
                <a:solidFill>
                  <a:srgbClr val="229BEE"/>
                </a:solidFill>
                <a:latin typeface="+mn-ea"/>
              </a:rPr>
              <a:t>03</a:t>
            </a:r>
            <a:endParaRPr lang="en-US" sz="19000" b="0" i="0" u="none" strike="noStrike" dirty="0">
              <a:solidFill>
                <a:srgbClr val="229BEE"/>
              </a:solidFill>
              <a:latin typeface="+mn-ea"/>
            </a:endParaRPr>
          </a:p>
        </p:txBody>
      </p:sp>
      <p:sp>
        <p:nvSpPr>
          <p:cNvPr id="6" name="TextBox 6"/>
          <p:cNvSpPr txBox="1"/>
          <p:nvPr/>
        </p:nvSpPr>
        <p:spPr>
          <a:xfrm>
            <a:off x="1498600" y="6667500"/>
            <a:ext cx="9080500" cy="1498600"/>
          </a:xfrm>
          <a:prstGeom prst="rect">
            <a:avLst/>
          </a:prstGeom>
        </p:spPr>
        <p:txBody>
          <a:bodyPr lIns="0" tIns="0" rIns="0" bIns="0" rtlCol="0" anchor="ctr"/>
          <a:lstStyle/>
          <a:p>
            <a:pPr lvl="0" algn="l">
              <a:lnSpc>
                <a:spcPct val="115287"/>
              </a:lnSpc>
            </a:pPr>
            <a:r>
              <a:rPr lang="en-US" altLang="ko-KR" sz="8400" b="0" i="0" u="none" strike="noStrike" dirty="0" smtClean="0">
                <a:solidFill>
                  <a:srgbClr val="4D4D4D"/>
                </a:solidFill>
                <a:latin typeface="Noto Sans KR Medium" pitchFamily="50" charset="-127"/>
                <a:ea typeface="Noto Sans KR Medium" pitchFamily="50" charset="-127"/>
              </a:rPr>
              <a:t>PCA</a:t>
            </a:r>
            <a:endParaRPr lang="ko-KR" sz="8400" b="0" i="0" u="none" strike="noStrike" dirty="0">
              <a:solidFill>
                <a:srgbClr val="4D4D4D"/>
              </a:solidFill>
              <a:latin typeface="Noto Sans KR Medium" pitchFamily="50" charset="-127"/>
              <a:ea typeface="Noto Sans KR Medium" pitchFamily="50" charset="-127"/>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29BEE"/>
        </a:solidFill>
        <a:effectLst/>
      </p:bgPr>
    </p:bg>
    <p:spTree>
      <p:nvGrpSpPr>
        <p:cNvPr id="1" name=""/>
        <p:cNvGrpSpPr/>
        <p:nvPr/>
      </p:nvGrpSpPr>
      <p:grpSpPr>
        <a:xfrm>
          <a:off x="0" y="0"/>
          <a:ext cx="0" cy="0"/>
          <a:chOff x="0" y="0"/>
          <a:chExt cx="0" cy="0"/>
        </a:xfrm>
      </p:grpSpPr>
      <p:pic>
        <p:nvPicPr>
          <p:cNvPr id="18" name="Picture 2"/>
          <p:cNvPicPr>
            <a:picLocks noChangeAspect="1"/>
          </p:cNvPicPr>
          <p:nvPr/>
        </p:nvPicPr>
        <p:blipFill>
          <a:blip r:embed="rId3" cstate="print"/>
          <a:stretch>
            <a:fillRect/>
          </a:stretch>
        </p:blipFill>
        <p:spPr>
          <a:xfrm>
            <a:off x="292100" y="292100"/>
            <a:ext cx="17716500" cy="9715500"/>
          </a:xfrm>
          <a:prstGeom prst="rect">
            <a:avLst/>
          </a:prstGeom>
        </p:spPr>
      </p:pic>
      <p:pic>
        <p:nvPicPr>
          <p:cNvPr id="3" name="Picture 3"/>
          <p:cNvPicPr>
            <a:picLocks noChangeAspect="1"/>
          </p:cNvPicPr>
          <p:nvPr/>
        </p:nvPicPr>
        <p:blipFill>
          <a:blip r:embed="rId4" cstate="print"/>
          <a:stretch>
            <a:fillRect/>
          </a:stretch>
        </p:blipFill>
        <p:spPr>
          <a:xfrm>
            <a:off x="1003300" y="2171700"/>
            <a:ext cx="16281400" cy="25400"/>
          </a:xfrm>
          <a:prstGeom prst="rect">
            <a:avLst/>
          </a:prstGeom>
        </p:spPr>
      </p:pic>
      <p:pic>
        <p:nvPicPr>
          <p:cNvPr id="4" name="Picture 4"/>
          <p:cNvPicPr>
            <a:picLocks noChangeAspect="1"/>
          </p:cNvPicPr>
          <p:nvPr/>
        </p:nvPicPr>
        <p:blipFill>
          <a:blip r:embed="rId5" cstate="print"/>
          <a:stretch>
            <a:fillRect/>
          </a:stretch>
        </p:blipFill>
        <p:spPr>
          <a:xfrm>
            <a:off x="16611600" y="0"/>
            <a:ext cx="673100" cy="965200"/>
          </a:xfrm>
          <a:prstGeom prst="rect">
            <a:avLst/>
          </a:prstGeom>
        </p:spPr>
      </p:pic>
      <p:sp>
        <p:nvSpPr>
          <p:cNvPr id="11" name="TextBox 11"/>
          <p:cNvSpPr txBox="1"/>
          <p:nvPr/>
        </p:nvSpPr>
        <p:spPr>
          <a:xfrm>
            <a:off x="2476500" y="876300"/>
            <a:ext cx="13335000" cy="1409700"/>
          </a:xfrm>
          <a:prstGeom prst="rect">
            <a:avLst/>
          </a:prstGeom>
        </p:spPr>
        <p:txBody>
          <a:bodyPr lIns="0" tIns="0" rIns="0" bIns="0" rtlCol="0" anchor="ctr"/>
          <a:lstStyle/>
          <a:p>
            <a:pPr lvl="0" algn="ctr">
              <a:lnSpc>
                <a:spcPct val="98770"/>
              </a:lnSpc>
            </a:pPr>
            <a:r>
              <a:rPr lang="en-US" altLang="ko-KR" sz="5400" dirty="0" smtClean="0">
                <a:solidFill>
                  <a:srgbClr val="4D4D4D"/>
                </a:solidFill>
                <a:latin typeface="Noto Sans KR Medium" pitchFamily="50" charset="-127"/>
                <a:ea typeface="Noto Sans KR Medium" pitchFamily="50" charset="-127"/>
              </a:rPr>
              <a:t>1.</a:t>
            </a:r>
            <a:r>
              <a:rPr lang="ko-KR" altLang="en-US" sz="5400" dirty="0" smtClean="0">
                <a:solidFill>
                  <a:srgbClr val="4D4D4D"/>
                </a:solidFill>
                <a:latin typeface="Noto Sans KR Medium" pitchFamily="50" charset="-127"/>
                <a:ea typeface="Noto Sans KR Medium" pitchFamily="50" charset="-127"/>
              </a:rPr>
              <a:t>상관행렬</a:t>
            </a:r>
            <a:r>
              <a:rPr lang="en-US" altLang="ko-KR" sz="5400" dirty="0" smtClean="0">
                <a:solidFill>
                  <a:srgbClr val="4D4D4D"/>
                </a:solidFill>
                <a:latin typeface="Noto Sans KR Medium" pitchFamily="50" charset="-127"/>
                <a:ea typeface="Noto Sans KR Medium" pitchFamily="50" charset="-127"/>
              </a:rPr>
              <a:t>(R)</a:t>
            </a:r>
            <a:r>
              <a:rPr lang="ko-KR" altLang="en-US" sz="5400" dirty="0" smtClean="0">
                <a:solidFill>
                  <a:srgbClr val="4D4D4D"/>
                </a:solidFill>
                <a:latin typeface="Noto Sans KR Medium" pitchFamily="50" charset="-127"/>
                <a:ea typeface="Noto Sans KR Medium" pitchFamily="50" charset="-127"/>
              </a:rPr>
              <a:t> 계산</a:t>
            </a:r>
            <a:endParaRPr lang="ko-KR" sz="5400" b="0" i="0" u="none" strike="noStrike" dirty="0">
              <a:solidFill>
                <a:srgbClr val="4D4D4D"/>
              </a:solidFill>
              <a:latin typeface="Noto Sans KR Medium" pitchFamily="50" charset="-127"/>
              <a:ea typeface="Noto Sans KR Medium" pitchFamily="50" charset="-127"/>
            </a:endParaRPr>
          </a:p>
        </p:txBody>
      </p:sp>
      <p:sp>
        <p:nvSpPr>
          <p:cNvPr id="9" name="TextBox 8">
            <a:extLst>
              <a:ext uri="{FF2B5EF4-FFF2-40B4-BE49-F238E27FC236}">
                <a16:creationId xmlns="" xmlns:a16="http://schemas.microsoft.com/office/drawing/2014/main" id="{9868D4D3-D354-8A4A-E870-E4A7DA56A02E}"/>
              </a:ext>
            </a:extLst>
          </p:cNvPr>
          <p:cNvSpPr txBox="1"/>
          <p:nvPr/>
        </p:nvSpPr>
        <p:spPr>
          <a:xfrm>
            <a:off x="914400" y="3417213"/>
            <a:ext cx="6477000" cy="430887"/>
          </a:xfrm>
          <a:prstGeom prst="rect">
            <a:avLst/>
          </a:prstGeom>
          <a:noFill/>
        </p:spPr>
        <p:txBody>
          <a:bodyPr wrap="square" rtlCol="0">
            <a:spAutoFit/>
          </a:bodyPr>
          <a:lstStyle/>
          <a:p>
            <a:r>
              <a:rPr lang="ko-KR" altLang="en-US" sz="2200" b="1" dirty="0" err="1" smtClean="0">
                <a:latin typeface="NanumBarunGothic Light" panose="020B0603020101020101" pitchFamily="34" charset="-127"/>
                <a:ea typeface="NanumBarunGothic Light" panose="020B0603020101020101" pitchFamily="34" charset="-127"/>
              </a:rPr>
              <a:t>변화량</a:t>
            </a:r>
            <a:r>
              <a:rPr lang="ko-KR" altLang="en-US" sz="2200" b="1" dirty="0" smtClean="0">
                <a:latin typeface="NanumBarunGothic Light" panose="020B0603020101020101" pitchFamily="34" charset="-127"/>
                <a:ea typeface="NanumBarunGothic Light" panose="020B0603020101020101" pitchFamily="34" charset="-127"/>
              </a:rPr>
              <a:t> 데이터</a:t>
            </a:r>
            <a:endParaRPr lang="en-US" altLang="ko-KR" sz="2200" b="1" dirty="0">
              <a:latin typeface="NanumBarunGothic Light" panose="020B0603020101020101" pitchFamily="34" charset="-127"/>
              <a:ea typeface="NanumBarunGothic Light" panose="020B0603020101020101" pitchFamily="34" charset="-127"/>
            </a:endParaRPr>
          </a:p>
        </p:txBody>
      </p:sp>
      <p:pic>
        <p:nvPicPr>
          <p:cNvPr id="13" name="Picture 7"/>
          <p:cNvPicPr>
            <a:picLocks noChangeAspect="1" noChangeArrowheads="1"/>
          </p:cNvPicPr>
          <p:nvPr/>
        </p:nvPicPr>
        <p:blipFill>
          <a:blip r:embed="rId6" cstate="print"/>
          <a:srcRect r="50171" b="7692"/>
          <a:stretch>
            <a:fillRect/>
          </a:stretch>
        </p:blipFill>
        <p:spPr bwMode="auto">
          <a:xfrm>
            <a:off x="838200" y="5753100"/>
            <a:ext cx="4889500" cy="1066800"/>
          </a:xfrm>
          <a:prstGeom prst="rect">
            <a:avLst/>
          </a:prstGeom>
          <a:noFill/>
          <a:ln w="9525">
            <a:noFill/>
            <a:miter lim="800000"/>
            <a:headEnd/>
            <a:tailEnd/>
          </a:ln>
          <a:effectLst/>
        </p:spPr>
      </p:pic>
      <p:sp>
        <p:nvSpPr>
          <p:cNvPr id="15" name="TextBox 14"/>
          <p:cNvSpPr txBox="1"/>
          <p:nvPr/>
        </p:nvSpPr>
        <p:spPr>
          <a:xfrm>
            <a:off x="838200" y="5352990"/>
            <a:ext cx="3429000" cy="400110"/>
          </a:xfrm>
          <a:prstGeom prst="rect">
            <a:avLst/>
          </a:prstGeom>
          <a:noFill/>
        </p:spPr>
        <p:txBody>
          <a:bodyPr wrap="square" rtlCol="0">
            <a:spAutoFit/>
          </a:bodyPr>
          <a:lstStyle/>
          <a:p>
            <a:r>
              <a:rPr lang="ko-KR" altLang="en-US" sz="2000" b="1" dirty="0" smtClean="0"/>
              <a:t>범주형 </a:t>
            </a:r>
            <a:r>
              <a:rPr lang="ko-KR" altLang="en-US" sz="2000" b="1" dirty="0" err="1" smtClean="0"/>
              <a:t>컬럼인</a:t>
            </a:r>
            <a:r>
              <a:rPr lang="ko-KR" altLang="en-US" sz="2000" b="1" dirty="0" smtClean="0"/>
              <a:t> </a:t>
            </a:r>
            <a:r>
              <a:rPr lang="en-US" altLang="ko-KR" sz="2000" b="1" dirty="0" smtClean="0"/>
              <a:t>‘Country’ </a:t>
            </a:r>
            <a:r>
              <a:rPr lang="ko-KR" altLang="en-US" sz="2000" b="1" dirty="0" smtClean="0"/>
              <a:t>제거</a:t>
            </a:r>
            <a:endParaRPr lang="en-US" altLang="ko-KR" sz="2000" b="1" dirty="0" smtClean="0"/>
          </a:p>
        </p:txBody>
      </p:sp>
      <p:sp>
        <p:nvSpPr>
          <p:cNvPr id="16" name="TextBox 15">
            <a:extLst>
              <a:ext uri="{FF2B5EF4-FFF2-40B4-BE49-F238E27FC236}">
                <a16:creationId xmlns="" xmlns:a16="http://schemas.microsoft.com/office/drawing/2014/main" id="{9868D4D3-D354-8A4A-E870-E4A7DA56A02E}"/>
              </a:ext>
            </a:extLst>
          </p:cNvPr>
          <p:cNvSpPr txBox="1"/>
          <p:nvPr/>
        </p:nvSpPr>
        <p:spPr>
          <a:xfrm>
            <a:off x="3200400" y="2476500"/>
            <a:ext cx="6477000" cy="430887"/>
          </a:xfrm>
          <a:prstGeom prst="rect">
            <a:avLst/>
          </a:prstGeom>
          <a:noFill/>
        </p:spPr>
        <p:txBody>
          <a:bodyPr wrap="square" rtlCol="0">
            <a:spAutoFit/>
          </a:bodyPr>
          <a:lstStyle/>
          <a:p>
            <a:endParaRPr lang="en-US" altLang="ko-KR" sz="2200" b="1" dirty="0">
              <a:latin typeface="NanumBarunGothic Light" panose="020B0603020101020101" pitchFamily="34" charset="-127"/>
              <a:ea typeface="NanumBarunGothic Light" panose="020B0603020101020101" pitchFamily="34" charset="-127"/>
            </a:endParaRPr>
          </a:p>
        </p:txBody>
      </p:sp>
      <p:sp>
        <p:nvSpPr>
          <p:cNvPr id="17" name="TextBox 16">
            <a:extLst>
              <a:ext uri="{FF2B5EF4-FFF2-40B4-BE49-F238E27FC236}">
                <a16:creationId xmlns="" xmlns:a16="http://schemas.microsoft.com/office/drawing/2014/main" id="{9868D4D3-D354-8A4A-E870-E4A7DA56A02E}"/>
              </a:ext>
            </a:extLst>
          </p:cNvPr>
          <p:cNvSpPr txBox="1"/>
          <p:nvPr/>
        </p:nvSpPr>
        <p:spPr>
          <a:xfrm>
            <a:off x="3657600" y="2476500"/>
            <a:ext cx="6553200" cy="461665"/>
          </a:xfrm>
          <a:prstGeom prst="rect">
            <a:avLst/>
          </a:prstGeom>
          <a:noFill/>
        </p:spPr>
        <p:txBody>
          <a:bodyPr wrap="square" rtlCol="0">
            <a:spAutoFit/>
          </a:bodyPr>
          <a:lstStyle/>
          <a:p>
            <a:r>
              <a:rPr lang="ko-KR" altLang="en-US" sz="2400" dirty="0" err="1" smtClean="0"/>
              <a:t>변수별</a:t>
            </a:r>
            <a:r>
              <a:rPr lang="ko-KR" altLang="en-US" sz="2400" dirty="0" smtClean="0"/>
              <a:t> </a:t>
            </a:r>
            <a:r>
              <a:rPr lang="en-US" altLang="ko-KR" sz="2400" dirty="0" smtClean="0"/>
              <a:t>"</a:t>
            </a:r>
            <a:r>
              <a:rPr lang="ko-KR" altLang="en-US" sz="2400" dirty="0" smtClean="0"/>
              <a:t>절대값 </a:t>
            </a:r>
            <a:r>
              <a:rPr lang="en-US" altLang="ko-KR" sz="2400" dirty="0" smtClean="0"/>
              <a:t>scale"</a:t>
            </a:r>
            <a:r>
              <a:rPr lang="ko-KR" altLang="en-US" sz="2400" dirty="0" smtClean="0"/>
              <a:t>이 서로 다르기 때문에 </a:t>
            </a:r>
            <a:r>
              <a:rPr lang="en-US" altLang="ko-KR" sz="2400" dirty="0" smtClean="0"/>
              <a:t>-&gt;</a:t>
            </a:r>
            <a:r>
              <a:rPr lang="ko-KR" altLang="en-US" sz="2200" b="1" dirty="0" smtClean="0">
                <a:latin typeface="NanumBarunGothic Light" panose="020B0603020101020101" pitchFamily="34" charset="-127"/>
                <a:ea typeface="NanumBarunGothic Light" panose="020B0603020101020101" pitchFamily="34" charset="-127"/>
              </a:rPr>
              <a:t> </a:t>
            </a:r>
            <a:endParaRPr lang="en-US" altLang="ko-KR" sz="2200" b="1" dirty="0">
              <a:latin typeface="NanumBarunGothic Light" panose="020B0603020101020101" pitchFamily="34" charset="-127"/>
              <a:ea typeface="NanumBarunGothic Light" panose="020B0603020101020101" pitchFamily="34" charset="-127"/>
            </a:endParaRPr>
          </a:p>
        </p:txBody>
      </p:sp>
      <p:sp>
        <p:nvSpPr>
          <p:cNvPr id="20" name="TextBox 12"/>
          <p:cNvSpPr txBox="1"/>
          <p:nvPr/>
        </p:nvSpPr>
        <p:spPr>
          <a:xfrm>
            <a:off x="7391400" y="660400"/>
            <a:ext cx="3505200" cy="444500"/>
          </a:xfrm>
          <a:prstGeom prst="rect">
            <a:avLst/>
          </a:prstGeom>
        </p:spPr>
        <p:txBody>
          <a:bodyPr lIns="0" tIns="0" rIns="0" bIns="0" rtlCol="0" anchor="ctr"/>
          <a:lstStyle/>
          <a:p>
            <a:pPr lvl="0" algn="ctr">
              <a:lnSpc>
                <a:spcPct val="98770"/>
              </a:lnSpc>
            </a:pPr>
            <a:r>
              <a:rPr lang="en-US" sz="2500" b="0" i="0" u="none" strike="noStrike" dirty="0">
                <a:solidFill>
                  <a:srgbClr val="229BEE"/>
                </a:solidFill>
                <a:latin typeface="+mn-ea"/>
              </a:rPr>
              <a:t>CHAPTER </a:t>
            </a:r>
            <a:r>
              <a:rPr lang="en-US" sz="2500" b="0" i="0" u="none" strike="noStrike" dirty="0" smtClean="0">
                <a:solidFill>
                  <a:srgbClr val="229BEE"/>
                </a:solidFill>
                <a:latin typeface="+mn-ea"/>
              </a:rPr>
              <a:t>03</a:t>
            </a:r>
            <a:endParaRPr lang="en-US" sz="2500" b="0" i="0" u="none" strike="noStrike" dirty="0">
              <a:solidFill>
                <a:srgbClr val="229BEE"/>
              </a:solidFill>
              <a:latin typeface="+mn-ea"/>
            </a:endParaRPr>
          </a:p>
        </p:txBody>
      </p:sp>
      <p:pic>
        <p:nvPicPr>
          <p:cNvPr id="2050" name="Picture 2"/>
          <p:cNvPicPr>
            <a:picLocks noChangeAspect="1" noChangeArrowheads="1"/>
          </p:cNvPicPr>
          <p:nvPr/>
        </p:nvPicPr>
        <p:blipFill>
          <a:blip r:embed="rId7" cstate="print"/>
          <a:srcRect/>
          <a:stretch>
            <a:fillRect/>
          </a:stretch>
        </p:blipFill>
        <p:spPr bwMode="auto">
          <a:xfrm>
            <a:off x="838200" y="4000500"/>
            <a:ext cx="5900057" cy="1219200"/>
          </a:xfrm>
          <a:prstGeom prst="rect">
            <a:avLst/>
          </a:prstGeom>
          <a:noFill/>
          <a:ln w="9525">
            <a:noFill/>
            <a:miter lim="800000"/>
            <a:headEnd/>
            <a:tailEnd/>
          </a:ln>
          <a:effectLst/>
        </p:spPr>
      </p:pic>
      <p:pic>
        <p:nvPicPr>
          <p:cNvPr id="2051" name="Picture 3"/>
          <p:cNvPicPr>
            <a:picLocks noChangeAspect="1" noChangeArrowheads="1"/>
          </p:cNvPicPr>
          <p:nvPr/>
        </p:nvPicPr>
        <p:blipFill>
          <a:blip r:embed="rId8" cstate="print"/>
          <a:srcRect/>
          <a:stretch>
            <a:fillRect/>
          </a:stretch>
        </p:blipFill>
        <p:spPr bwMode="auto">
          <a:xfrm>
            <a:off x="5943600" y="5448300"/>
            <a:ext cx="11963400" cy="4495800"/>
          </a:xfrm>
          <a:prstGeom prst="rect">
            <a:avLst/>
          </a:prstGeom>
          <a:noFill/>
          <a:ln w="9525">
            <a:noFill/>
            <a:miter lim="800000"/>
            <a:headEnd/>
            <a:tailEnd/>
          </a:ln>
          <a:effectLst/>
        </p:spPr>
      </p:pic>
      <p:pic>
        <p:nvPicPr>
          <p:cNvPr id="2052" name="Picture 4"/>
          <p:cNvPicPr>
            <a:picLocks noChangeAspect="1" noChangeArrowheads="1"/>
          </p:cNvPicPr>
          <p:nvPr/>
        </p:nvPicPr>
        <p:blipFill>
          <a:blip r:embed="rId9" cstate="print"/>
          <a:srcRect/>
          <a:stretch>
            <a:fillRect/>
          </a:stretch>
        </p:blipFill>
        <p:spPr bwMode="auto">
          <a:xfrm>
            <a:off x="10058400" y="2400300"/>
            <a:ext cx="7315200" cy="2755232"/>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5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5"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29BEE"/>
        </a:solidFill>
        <a:effectLst/>
      </p:bgPr>
    </p:bg>
    <p:spTree>
      <p:nvGrpSpPr>
        <p:cNvPr id="1" name=""/>
        <p:cNvGrpSpPr/>
        <p:nvPr/>
      </p:nvGrpSpPr>
      <p:grpSpPr>
        <a:xfrm>
          <a:off x="0" y="0"/>
          <a:ext cx="0" cy="0"/>
          <a:chOff x="0" y="0"/>
          <a:chExt cx="0" cy="0"/>
        </a:xfrm>
      </p:grpSpPr>
      <p:pic>
        <p:nvPicPr>
          <p:cNvPr id="19" name="Picture 2"/>
          <p:cNvPicPr>
            <a:picLocks noChangeAspect="1"/>
          </p:cNvPicPr>
          <p:nvPr/>
        </p:nvPicPr>
        <p:blipFill>
          <a:blip r:embed="rId3" cstate="print"/>
          <a:stretch>
            <a:fillRect/>
          </a:stretch>
        </p:blipFill>
        <p:spPr>
          <a:xfrm>
            <a:off x="292100" y="292100"/>
            <a:ext cx="17716500" cy="9715500"/>
          </a:xfrm>
          <a:prstGeom prst="rect">
            <a:avLst/>
          </a:prstGeom>
        </p:spPr>
      </p:pic>
      <p:pic>
        <p:nvPicPr>
          <p:cNvPr id="3" name="Picture 3"/>
          <p:cNvPicPr>
            <a:picLocks noChangeAspect="1"/>
          </p:cNvPicPr>
          <p:nvPr/>
        </p:nvPicPr>
        <p:blipFill>
          <a:blip r:embed="rId4" cstate="print"/>
          <a:stretch>
            <a:fillRect/>
          </a:stretch>
        </p:blipFill>
        <p:spPr>
          <a:xfrm>
            <a:off x="1003300" y="2171700"/>
            <a:ext cx="16281400" cy="25400"/>
          </a:xfrm>
          <a:prstGeom prst="rect">
            <a:avLst/>
          </a:prstGeom>
        </p:spPr>
      </p:pic>
      <p:pic>
        <p:nvPicPr>
          <p:cNvPr id="4" name="Picture 4"/>
          <p:cNvPicPr>
            <a:picLocks noChangeAspect="1"/>
          </p:cNvPicPr>
          <p:nvPr/>
        </p:nvPicPr>
        <p:blipFill>
          <a:blip r:embed="rId5" cstate="print"/>
          <a:stretch>
            <a:fillRect/>
          </a:stretch>
        </p:blipFill>
        <p:spPr>
          <a:xfrm>
            <a:off x="16611600" y="0"/>
            <a:ext cx="673100" cy="965200"/>
          </a:xfrm>
          <a:prstGeom prst="rect">
            <a:avLst/>
          </a:prstGeom>
        </p:spPr>
      </p:pic>
      <p:sp>
        <p:nvSpPr>
          <p:cNvPr id="11" name="TextBox 11"/>
          <p:cNvSpPr txBox="1"/>
          <p:nvPr/>
        </p:nvSpPr>
        <p:spPr>
          <a:xfrm>
            <a:off x="2476500" y="876300"/>
            <a:ext cx="13335000" cy="1409700"/>
          </a:xfrm>
          <a:prstGeom prst="rect">
            <a:avLst/>
          </a:prstGeom>
        </p:spPr>
        <p:txBody>
          <a:bodyPr lIns="0" tIns="0" rIns="0" bIns="0" rtlCol="0" anchor="ctr"/>
          <a:lstStyle/>
          <a:p>
            <a:pPr lvl="0" algn="ctr">
              <a:lnSpc>
                <a:spcPct val="98770"/>
              </a:lnSpc>
            </a:pPr>
            <a:r>
              <a:rPr lang="en-US" altLang="ko-KR" sz="5400" dirty="0" smtClean="0">
                <a:solidFill>
                  <a:srgbClr val="4D4D4D"/>
                </a:solidFill>
                <a:latin typeface="Noto Sans KR Medium" pitchFamily="50" charset="-127"/>
                <a:ea typeface="Noto Sans KR Medium" pitchFamily="50" charset="-127"/>
              </a:rPr>
              <a:t>2.</a:t>
            </a:r>
            <a:r>
              <a:rPr lang="ko-KR" altLang="en-US" sz="5400" dirty="0" smtClean="0">
                <a:solidFill>
                  <a:srgbClr val="4D4D4D"/>
                </a:solidFill>
                <a:latin typeface="Noto Sans KR Medium" pitchFamily="50" charset="-127"/>
                <a:ea typeface="Noto Sans KR Medium" pitchFamily="50" charset="-127"/>
              </a:rPr>
              <a:t>스펙트럼 분해</a:t>
            </a:r>
            <a:endParaRPr lang="ko-KR" sz="5400" b="0" i="0" u="none" strike="noStrike" dirty="0">
              <a:solidFill>
                <a:srgbClr val="4D4D4D"/>
              </a:solidFill>
              <a:latin typeface="Noto Sans KR Medium" pitchFamily="50" charset="-127"/>
              <a:ea typeface="Noto Sans KR Medium" pitchFamily="50" charset="-127"/>
            </a:endParaRPr>
          </a:p>
        </p:txBody>
      </p:sp>
      <p:sp>
        <p:nvSpPr>
          <p:cNvPr id="9" name="TextBox 8">
            <a:extLst>
              <a:ext uri="{FF2B5EF4-FFF2-40B4-BE49-F238E27FC236}">
                <a16:creationId xmlns="" xmlns:a16="http://schemas.microsoft.com/office/drawing/2014/main" id="{9868D4D3-D354-8A4A-E870-E4A7DA56A02E}"/>
              </a:ext>
            </a:extLst>
          </p:cNvPr>
          <p:cNvSpPr txBox="1"/>
          <p:nvPr/>
        </p:nvSpPr>
        <p:spPr>
          <a:xfrm>
            <a:off x="914400" y="2628900"/>
            <a:ext cx="11277600" cy="430887"/>
          </a:xfrm>
          <a:prstGeom prst="rect">
            <a:avLst/>
          </a:prstGeom>
          <a:noFill/>
        </p:spPr>
        <p:txBody>
          <a:bodyPr wrap="square" rtlCol="0">
            <a:spAutoFit/>
          </a:bodyPr>
          <a:lstStyle/>
          <a:p>
            <a:r>
              <a:rPr lang="ko-KR" altLang="en-US" sz="2200" b="1" dirty="0" smtClean="0">
                <a:latin typeface="NanumBarunGothic Light" panose="020B0603020101020101" pitchFamily="34" charset="-127"/>
                <a:ea typeface="NanumBarunGothic Light" panose="020B0603020101020101" pitchFamily="34" charset="-127"/>
              </a:rPr>
              <a:t>상관행렬 </a:t>
            </a:r>
            <a:r>
              <a:rPr lang="en-US" altLang="ko-KR" sz="2200" b="1" dirty="0" smtClean="0">
                <a:latin typeface="NanumBarunGothic Light" panose="020B0603020101020101" pitchFamily="34" charset="-127"/>
                <a:ea typeface="NanumBarunGothic Light" panose="020B0603020101020101" pitchFamily="34" charset="-127"/>
              </a:rPr>
              <a:t>R</a:t>
            </a:r>
            <a:r>
              <a:rPr lang="ko-KR" altLang="en-US" sz="2200" b="1" dirty="0" smtClean="0">
                <a:latin typeface="NanumBarunGothic Light" panose="020B0603020101020101" pitchFamily="34" charset="-127"/>
                <a:ea typeface="NanumBarunGothic Light" panose="020B0603020101020101" pitchFamily="34" charset="-127"/>
              </a:rPr>
              <a:t>의 고유값</a:t>
            </a:r>
            <a:r>
              <a:rPr lang="en-US" altLang="ko-KR" sz="2200" b="1" dirty="0" smtClean="0">
                <a:latin typeface="NanumBarunGothic Light" panose="020B0603020101020101" pitchFamily="34" charset="-127"/>
                <a:ea typeface="NanumBarunGothic Light" panose="020B0603020101020101" pitchFamily="34" charset="-127"/>
              </a:rPr>
              <a:t>(</a:t>
            </a:r>
            <a:r>
              <a:rPr lang="en-US" altLang="ko-KR" sz="2200" b="1" dirty="0" err="1" smtClean="0">
                <a:latin typeface="NanumBarunGothic Light" panose="020B0603020101020101" pitchFamily="34" charset="-127"/>
                <a:ea typeface="NanumBarunGothic Light" panose="020B0603020101020101" pitchFamily="34" charset="-127"/>
              </a:rPr>
              <a:t>eigenvalues</a:t>
            </a:r>
            <a:r>
              <a:rPr lang="en-US" altLang="ko-KR" sz="2200" b="1" dirty="0" smtClean="0">
                <a:latin typeface="NanumBarunGothic Light" panose="020B0603020101020101" pitchFamily="34" charset="-127"/>
                <a:ea typeface="NanumBarunGothic Light" panose="020B0603020101020101" pitchFamily="34" charset="-127"/>
              </a:rPr>
              <a:t>)</a:t>
            </a:r>
            <a:r>
              <a:rPr lang="ko-KR" altLang="en-US" sz="2200" b="1" dirty="0" smtClean="0">
                <a:latin typeface="NanumBarunGothic Light" panose="020B0603020101020101" pitchFamily="34" charset="-127"/>
                <a:ea typeface="NanumBarunGothic Light" panose="020B0603020101020101" pitchFamily="34" charset="-127"/>
              </a:rPr>
              <a:t>과 고유벡터</a:t>
            </a:r>
            <a:r>
              <a:rPr lang="en-US" altLang="ko-KR" sz="2200" b="1" dirty="0" smtClean="0">
                <a:latin typeface="NanumBarunGothic Light" panose="020B0603020101020101" pitchFamily="34" charset="-127"/>
                <a:ea typeface="NanumBarunGothic Light" panose="020B0603020101020101" pitchFamily="34" charset="-127"/>
              </a:rPr>
              <a:t>(eigenvectors) </a:t>
            </a:r>
            <a:r>
              <a:rPr lang="ko-KR" altLang="en-US" sz="2200" b="1" dirty="0" smtClean="0">
                <a:latin typeface="NanumBarunGothic Light" panose="020B0603020101020101" pitchFamily="34" charset="-127"/>
                <a:ea typeface="NanumBarunGothic Light" panose="020B0603020101020101" pitchFamily="34" charset="-127"/>
              </a:rPr>
              <a:t>계산</a:t>
            </a:r>
            <a:endParaRPr lang="en-US" altLang="ko-KR" sz="2200" b="1" dirty="0">
              <a:latin typeface="NanumBarunGothic Light" panose="020B0603020101020101" pitchFamily="34" charset="-127"/>
              <a:ea typeface="NanumBarunGothic Light" panose="020B0603020101020101" pitchFamily="34" charset="-127"/>
            </a:endParaRPr>
          </a:p>
        </p:txBody>
      </p:sp>
      <p:pic>
        <p:nvPicPr>
          <p:cNvPr id="32770" name="Picture 2"/>
          <p:cNvPicPr>
            <a:picLocks noChangeAspect="1" noChangeArrowheads="1"/>
          </p:cNvPicPr>
          <p:nvPr/>
        </p:nvPicPr>
        <p:blipFill>
          <a:blip r:embed="rId6" cstate="print"/>
          <a:srcRect/>
          <a:stretch>
            <a:fillRect/>
          </a:stretch>
        </p:blipFill>
        <p:spPr bwMode="auto">
          <a:xfrm>
            <a:off x="990600" y="3162300"/>
            <a:ext cx="4293870" cy="533400"/>
          </a:xfrm>
          <a:prstGeom prst="rect">
            <a:avLst/>
          </a:prstGeom>
          <a:noFill/>
          <a:ln w="9525">
            <a:noFill/>
            <a:miter lim="800000"/>
            <a:headEnd/>
            <a:tailEnd/>
          </a:ln>
          <a:effectLst/>
        </p:spPr>
      </p:pic>
      <p:pic>
        <p:nvPicPr>
          <p:cNvPr id="32771" name="Picture 3"/>
          <p:cNvPicPr>
            <a:picLocks noChangeAspect="1" noChangeArrowheads="1"/>
          </p:cNvPicPr>
          <p:nvPr/>
        </p:nvPicPr>
        <p:blipFill>
          <a:blip r:embed="rId7" cstate="print"/>
          <a:srcRect/>
          <a:stretch>
            <a:fillRect/>
          </a:stretch>
        </p:blipFill>
        <p:spPr bwMode="auto">
          <a:xfrm>
            <a:off x="914400" y="4457700"/>
            <a:ext cx="8458200" cy="457200"/>
          </a:xfrm>
          <a:prstGeom prst="rect">
            <a:avLst/>
          </a:prstGeom>
          <a:noFill/>
          <a:ln w="9525">
            <a:noFill/>
            <a:miter lim="800000"/>
            <a:headEnd/>
            <a:tailEnd/>
          </a:ln>
          <a:effectLst/>
        </p:spPr>
      </p:pic>
      <p:sp>
        <p:nvSpPr>
          <p:cNvPr id="15" name="TextBox 14">
            <a:extLst>
              <a:ext uri="{FF2B5EF4-FFF2-40B4-BE49-F238E27FC236}">
                <a16:creationId xmlns="" xmlns:a16="http://schemas.microsoft.com/office/drawing/2014/main" id="{9868D4D3-D354-8A4A-E870-E4A7DA56A02E}"/>
              </a:ext>
            </a:extLst>
          </p:cNvPr>
          <p:cNvSpPr txBox="1"/>
          <p:nvPr/>
        </p:nvSpPr>
        <p:spPr>
          <a:xfrm>
            <a:off x="914400" y="3924300"/>
            <a:ext cx="6477000" cy="430887"/>
          </a:xfrm>
          <a:prstGeom prst="rect">
            <a:avLst/>
          </a:prstGeom>
          <a:noFill/>
        </p:spPr>
        <p:txBody>
          <a:bodyPr wrap="square" rtlCol="0">
            <a:spAutoFit/>
          </a:bodyPr>
          <a:lstStyle/>
          <a:p>
            <a:r>
              <a:rPr lang="ko-KR" altLang="en-US" sz="2200" b="1" dirty="0" err="1" smtClean="0">
                <a:latin typeface="NanumBarunGothic Light" panose="020B0603020101020101" pitchFamily="34" charset="-127"/>
                <a:ea typeface="NanumBarunGothic Light" panose="020B0603020101020101" pitchFamily="34" charset="-127"/>
              </a:rPr>
              <a:t>고유값</a:t>
            </a:r>
            <a:endParaRPr lang="en-US" altLang="ko-KR" sz="2200" b="1" dirty="0">
              <a:latin typeface="NanumBarunGothic Light" panose="020B0603020101020101" pitchFamily="34" charset="-127"/>
              <a:ea typeface="NanumBarunGothic Light" panose="020B0603020101020101" pitchFamily="34" charset="-127"/>
            </a:endParaRPr>
          </a:p>
        </p:txBody>
      </p:sp>
      <p:sp>
        <p:nvSpPr>
          <p:cNvPr id="16" name="TextBox 15">
            <a:extLst>
              <a:ext uri="{FF2B5EF4-FFF2-40B4-BE49-F238E27FC236}">
                <a16:creationId xmlns="" xmlns:a16="http://schemas.microsoft.com/office/drawing/2014/main" id="{9868D4D3-D354-8A4A-E870-E4A7DA56A02E}"/>
              </a:ext>
            </a:extLst>
          </p:cNvPr>
          <p:cNvSpPr txBox="1"/>
          <p:nvPr/>
        </p:nvSpPr>
        <p:spPr>
          <a:xfrm>
            <a:off x="914400" y="5981700"/>
            <a:ext cx="6477000" cy="430887"/>
          </a:xfrm>
          <a:prstGeom prst="rect">
            <a:avLst/>
          </a:prstGeom>
          <a:noFill/>
        </p:spPr>
        <p:txBody>
          <a:bodyPr wrap="square" rtlCol="0">
            <a:spAutoFit/>
          </a:bodyPr>
          <a:lstStyle/>
          <a:p>
            <a:r>
              <a:rPr lang="ko-KR" altLang="en-US" sz="2200" b="1" dirty="0" smtClean="0">
                <a:latin typeface="NanumBarunGothic Light" panose="020B0603020101020101" pitchFamily="34" charset="-127"/>
                <a:ea typeface="NanumBarunGothic Light" panose="020B0603020101020101" pitchFamily="34" charset="-127"/>
              </a:rPr>
              <a:t>고유벡터</a:t>
            </a:r>
            <a:endParaRPr lang="en-US" altLang="ko-KR" sz="2200" b="1" dirty="0">
              <a:latin typeface="NanumBarunGothic Light" panose="020B0603020101020101" pitchFamily="34" charset="-127"/>
              <a:ea typeface="NanumBarunGothic Light" panose="020B0603020101020101" pitchFamily="34" charset="-127"/>
            </a:endParaRPr>
          </a:p>
        </p:txBody>
      </p:sp>
      <p:pic>
        <p:nvPicPr>
          <p:cNvPr id="32774" name="Picture 6"/>
          <p:cNvPicPr>
            <a:picLocks noChangeAspect="1" noChangeArrowheads="1"/>
          </p:cNvPicPr>
          <p:nvPr/>
        </p:nvPicPr>
        <p:blipFill>
          <a:blip r:embed="rId8" cstate="print"/>
          <a:srcRect t="14286" r="2371"/>
          <a:stretch>
            <a:fillRect/>
          </a:stretch>
        </p:blipFill>
        <p:spPr bwMode="auto">
          <a:xfrm>
            <a:off x="914400" y="6438900"/>
            <a:ext cx="5334000" cy="533400"/>
          </a:xfrm>
          <a:prstGeom prst="rect">
            <a:avLst/>
          </a:prstGeom>
          <a:noFill/>
          <a:ln w="9525">
            <a:noFill/>
            <a:miter lim="800000"/>
            <a:headEnd/>
            <a:tailEnd/>
          </a:ln>
          <a:effectLst/>
        </p:spPr>
      </p:pic>
      <p:sp>
        <p:nvSpPr>
          <p:cNvPr id="20" name="TextBox 12"/>
          <p:cNvSpPr txBox="1"/>
          <p:nvPr/>
        </p:nvSpPr>
        <p:spPr>
          <a:xfrm>
            <a:off x="7391400" y="660400"/>
            <a:ext cx="3505200" cy="444500"/>
          </a:xfrm>
          <a:prstGeom prst="rect">
            <a:avLst/>
          </a:prstGeom>
        </p:spPr>
        <p:txBody>
          <a:bodyPr lIns="0" tIns="0" rIns="0" bIns="0" rtlCol="0" anchor="ctr"/>
          <a:lstStyle/>
          <a:p>
            <a:pPr lvl="0" algn="ctr">
              <a:lnSpc>
                <a:spcPct val="98770"/>
              </a:lnSpc>
            </a:pPr>
            <a:r>
              <a:rPr lang="en-US" sz="2500" b="0" i="0" u="none" strike="noStrike" dirty="0">
                <a:solidFill>
                  <a:srgbClr val="229BEE"/>
                </a:solidFill>
                <a:latin typeface="+mn-ea"/>
              </a:rPr>
              <a:t>CHAPTER </a:t>
            </a:r>
            <a:r>
              <a:rPr lang="en-US" sz="2500" b="0" i="0" u="none" strike="noStrike" dirty="0" smtClean="0">
                <a:solidFill>
                  <a:srgbClr val="229BEE"/>
                </a:solidFill>
                <a:latin typeface="+mn-ea"/>
              </a:rPr>
              <a:t>03</a:t>
            </a:r>
            <a:endParaRPr lang="en-US" sz="2500" b="0" i="0" u="none" strike="noStrike" dirty="0">
              <a:solidFill>
                <a:srgbClr val="229BEE"/>
              </a:solidFill>
              <a:latin typeface="+mn-ea"/>
            </a:endParaRPr>
          </a:p>
        </p:txBody>
      </p:sp>
      <p:pic>
        <p:nvPicPr>
          <p:cNvPr id="3074" name="Picture 2"/>
          <p:cNvPicPr>
            <a:picLocks noChangeAspect="1" noChangeArrowheads="1"/>
          </p:cNvPicPr>
          <p:nvPr/>
        </p:nvPicPr>
        <p:blipFill>
          <a:blip r:embed="rId9" cstate="print"/>
          <a:srcRect/>
          <a:stretch>
            <a:fillRect/>
          </a:stretch>
        </p:blipFill>
        <p:spPr bwMode="auto">
          <a:xfrm>
            <a:off x="914400" y="5067300"/>
            <a:ext cx="13792200" cy="457200"/>
          </a:xfrm>
          <a:prstGeom prst="rect">
            <a:avLst/>
          </a:prstGeom>
          <a:noFill/>
          <a:ln w="9525">
            <a:noFill/>
            <a:miter lim="800000"/>
            <a:headEnd/>
            <a:tailEnd/>
          </a:ln>
          <a:effectLst/>
        </p:spPr>
      </p:pic>
      <p:pic>
        <p:nvPicPr>
          <p:cNvPr id="3075" name="Picture 3"/>
          <p:cNvPicPr>
            <a:picLocks noChangeAspect="1" noChangeArrowheads="1"/>
          </p:cNvPicPr>
          <p:nvPr/>
        </p:nvPicPr>
        <p:blipFill>
          <a:blip r:embed="rId10" cstate="print"/>
          <a:srcRect/>
          <a:stretch>
            <a:fillRect/>
          </a:stretch>
        </p:blipFill>
        <p:spPr bwMode="auto">
          <a:xfrm>
            <a:off x="6400800" y="5600700"/>
            <a:ext cx="11582400" cy="4343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29BEE"/>
        </a:solidFill>
        <a:effectLst/>
      </p:bgPr>
    </p:bg>
    <p:spTree>
      <p:nvGrpSpPr>
        <p:cNvPr id="1" name=""/>
        <p:cNvGrpSpPr/>
        <p:nvPr/>
      </p:nvGrpSpPr>
      <p:grpSpPr>
        <a:xfrm>
          <a:off x="0" y="0"/>
          <a:ext cx="0" cy="0"/>
          <a:chOff x="0" y="0"/>
          <a:chExt cx="0" cy="0"/>
        </a:xfrm>
      </p:grpSpPr>
      <p:pic>
        <p:nvPicPr>
          <p:cNvPr id="30" name="Picture 2"/>
          <p:cNvPicPr>
            <a:picLocks noChangeAspect="1"/>
          </p:cNvPicPr>
          <p:nvPr/>
        </p:nvPicPr>
        <p:blipFill>
          <a:blip r:embed="rId3" cstate="print"/>
          <a:stretch>
            <a:fillRect/>
          </a:stretch>
        </p:blipFill>
        <p:spPr>
          <a:xfrm>
            <a:off x="292100" y="292100"/>
            <a:ext cx="17716500" cy="9715500"/>
          </a:xfrm>
          <a:prstGeom prst="rect">
            <a:avLst/>
          </a:prstGeom>
        </p:spPr>
      </p:pic>
      <p:pic>
        <p:nvPicPr>
          <p:cNvPr id="28" name="Picture 5"/>
          <p:cNvPicPr>
            <a:picLocks noChangeAspect="1" noChangeArrowheads="1"/>
          </p:cNvPicPr>
          <p:nvPr/>
        </p:nvPicPr>
        <p:blipFill>
          <a:blip r:embed="rId4" cstate="print"/>
          <a:srcRect/>
          <a:stretch>
            <a:fillRect/>
          </a:stretch>
        </p:blipFill>
        <p:spPr bwMode="auto">
          <a:xfrm>
            <a:off x="381000" y="2247900"/>
            <a:ext cx="17526000" cy="7772400"/>
          </a:xfrm>
          <a:prstGeom prst="rect">
            <a:avLst/>
          </a:prstGeom>
          <a:noFill/>
          <a:ln w="9525">
            <a:noFill/>
            <a:miter lim="800000"/>
            <a:headEnd/>
            <a:tailEnd/>
          </a:ln>
          <a:effectLst/>
        </p:spPr>
      </p:pic>
      <p:pic>
        <p:nvPicPr>
          <p:cNvPr id="3" name="Picture 3"/>
          <p:cNvPicPr>
            <a:picLocks noChangeAspect="1"/>
          </p:cNvPicPr>
          <p:nvPr/>
        </p:nvPicPr>
        <p:blipFill>
          <a:blip r:embed="rId5" cstate="print"/>
          <a:stretch>
            <a:fillRect/>
          </a:stretch>
        </p:blipFill>
        <p:spPr>
          <a:xfrm>
            <a:off x="1003300" y="2171700"/>
            <a:ext cx="16281400" cy="25400"/>
          </a:xfrm>
          <a:prstGeom prst="rect">
            <a:avLst/>
          </a:prstGeom>
        </p:spPr>
      </p:pic>
      <p:pic>
        <p:nvPicPr>
          <p:cNvPr id="4" name="Picture 4"/>
          <p:cNvPicPr>
            <a:picLocks noChangeAspect="1"/>
          </p:cNvPicPr>
          <p:nvPr/>
        </p:nvPicPr>
        <p:blipFill>
          <a:blip r:embed="rId6" cstate="print"/>
          <a:stretch>
            <a:fillRect/>
          </a:stretch>
        </p:blipFill>
        <p:spPr>
          <a:xfrm>
            <a:off x="16611600" y="0"/>
            <a:ext cx="673100" cy="965200"/>
          </a:xfrm>
          <a:prstGeom prst="rect">
            <a:avLst/>
          </a:prstGeom>
        </p:spPr>
      </p:pic>
      <p:sp>
        <p:nvSpPr>
          <p:cNvPr id="33798" name="AutoShape 6" descr="http://127.0.0.1:33853/graphics/2d548717-8b99-47d2-9d1e-5bd321e57044.png"/>
          <p:cNvSpPr>
            <a:spLocks noChangeAspect="1" noChangeArrowheads="1"/>
          </p:cNvSpPr>
          <p:nvPr/>
        </p:nvSpPr>
        <p:spPr bwMode="auto">
          <a:xfrm>
            <a:off x="1682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ko-KR" altLang="en-US"/>
          </a:p>
        </p:txBody>
      </p:sp>
      <p:sp>
        <p:nvSpPr>
          <p:cNvPr id="33800" name="AutoShape 8" descr="http://127.0.0.1:33853/graphics/2d548717-8b99-47d2-9d1e-5bd321e57044.png"/>
          <p:cNvSpPr>
            <a:spLocks noChangeAspect="1" noChangeArrowheads="1"/>
          </p:cNvSpPr>
          <p:nvPr/>
        </p:nvSpPr>
        <p:spPr bwMode="auto">
          <a:xfrm>
            <a:off x="1682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ko-KR" altLang="en-US"/>
          </a:p>
        </p:txBody>
      </p:sp>
      <p:sp>
        <p:nvSpPr>
          <p:cNvPr id="33802" name="AutoShape 10" descr="http://127.0.0.1:33853/graphics/2d548717-8b99-47d2-9d1e-5bd321e57044.png"/>
          <p:cNvSpPr>
            <a:spLocks noChangeAspect="1" noChangeArrowheads="1"/>
          </p:cNvSpPr>
          <p:nvPr/>
        </p:nvSpPr>
        <p:spPr bwMode="auto">
          <a:xfrm>
            <a:off x="1682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ko-KR" altLang="en-US"/>
          </a:p>
        </p:txBody>
      </p:sp>
      <p:sp>
        <p:nvSpPr>
          <p:cNvPr id="33804" name="AutoShape 12" descr="http://127.0.0.1:33853/graphics/2d548717-8b99-47d2-9d1e-5bd321e57044.png"/>
          <p:cNvSpPr>
            <a:spLocks noChangeAspect="1" noChangeArrowheads="1"/>
          </p:cNvSpPr>
          <p:nvPr/>
        </p:nvSpPr>
        <p:spPr bwMode="auto">
          <a:xfrm>
            <a:off x="1682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ko-KR" altLang="en-US"/>
          </a:p>
        </p:txBody>
      </p:sp>
      <p:sp>
        <p:nvSpPr>
          <p:cNvPr id="33806" name="AutoShape 14" descr="http://127.0.0.1:33853/graphics/2d548717-8b99-47d2-9d1e-5bd321e57044.png"/>
          <p:cNvSpPr>
            <a:spLocks noChangeAspect="1" noChangeArrowheads="1"/>
          </p:cNvSpPr>
          <p:nvPr/>
        </p:nvSpPr>
        <p:spPr bwMode="auto">
          <a:xfrm>
            <a:off x="1682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ko-KR" altLang="en-US"/>
          </a:p>
        </p:txBody>
      </p:sp>
      <p:sp>
        <p:nvSpPr>
          <p:cNvPr id="33808" name="AutoShape 16" descr="http://127.0.0.1:33853/graphics/2d548717-8b99-47d2-9d1e-5bd321e57044.png"/>
          <p:cNvSpPr>
            <a:spLocks noChangeAspect="1" noChangeArrowheads="1"/>
          </p:cNvSpPr>
          <p:nvPr/>
        </p:nvSpPr>
        <p:spPr bwMode="auto">
          <a:xfrm>
            <a:off x="1682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ko-KR" altLang="en-US"/>
          </a:p>
        </p:txBody>
      </p:sp>
      <p:sp>
        <p:nvSpPr>
          <p:cNvPr id="33810" name="AutoShape 18" descr="http://127.0.0.1:33853/graphics/2d548717-8b99-47d2-9d1e-5bd321e57044.png"/>
          <p:cNvSpPr>
            <a:spLocks noChangeAspect="1" noChangeArrowheads="1"/>
          </p:cNvSpPr>
          <p:nvPr/>
        </p:nvSpPr>
        <p:spPr bwMode="auto">
          <a:xfrm>
            <a:off x="1682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ko-KR" altLang="en-US"/>
          </a:p>
        </p:txBody>
      </p:sp>
      <p:sp>
        <p:nvSpPr>
          <p:cNvPr id="33812" name="AutoShape 20" descr="http://127.0.0.1:33853/graphics/plot_zoom_png?width=1480&amp;height=824"/>
          <p:cNvSpPr>
            <a:spLocks noChangeAspect="1" noChangeArrowheads="1"/>
          </p:cNvSpPr>
          <p:nvPr/>
        </p:nvSpPr>
        <p:spPr bwMode="auto">
          <a:xfrm>
            <a:off x="1682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ko-KR" altLang="en-US"/>
          </a:p>
        </p:txBody>
      </p:sp>
      <p:sp>
        <p:nvSpPr>
          <p:cNvPr id="33814" name="AutoShape 22" descr="http://127.0.0.1:33853/graphics/plot_zoom_png?width=1480&amp;height=824"/>
          <p:cNvSpPr>
            <a:spLocks noChangeAspect="1" noChangeArrowheads="1"/>
          </p:cNvSpPr>
          <p:nvPr/>
        </p:nvSpPr>
        <p:spPr bwMode="auto">
          <a:xfrm>
            <a:off x="1682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ko-KR" altLang="en-US"/>
          </a:p>
        </p:txBody>
      </p:sp>
      <p:sp>
        <p:nvSpPr>
          <p:cNvPr id="16" name="TextBox 15">
            <a:extLst>
              <a:ext uri="{FF2B5EF4-FFF2-40B4-BE49-F238E27FC236}">
                <a16:creationId xmlns="" xmlns:a16="http://schemas.microsoft.com/office/drawing/2014/main" id="{9868D4D3-D354-8A4A-E870-E4A7DA56A02E}"/>
              </a:ext>
            </a:extLst>
          </p:cNvPr>
          <p:cNvSpPr txBox="1"/>
          <p:nvPr/>
        </p:nvSpPr>
        <p:spPr>
          <a:xfrm>
            <a:off x="15240000" y="2247900"/>
            <a:ext cx="1905000" cy="430887"/>
          </a:xfrm>
          <a:prstGeom prst="rect">
            <a:avLst/>
          </a:prstGeom>
          <a:noFill/>
        </p:spPr>
        <p:txBody>
          <a:bodyPr wrap="square" rtlCol="0">
            <a:spAutoFit/>
          </a:bodyPr>
          <a:lstStyle/>
          <a:p>
            <a:r>
              <a:rPr lang="en-US" altLang="ko-KR" sz="2200" b="1" dirty="0" err="1" smtClean="0">
                <a:latin typeface="NanumBarunGothic Light" panose="020B0603020101020101" pitchFamily="34" charset="-127"/>
                <a:ea typeface="NanumBarunGothic Light" panose="020B0603020101020101" pitchFamily="34" charset="-127"/>
              </a:rPr>
              <a:t>Scree</a:t>
            </a:r>
            <a:r>
              <a:rPr lang="en-US" altLang="ko-KR" sz="2200" b="1" dirty="0" smtClean="0">
                <a:latin typeface="NanumBarunGothic Light" panose="020B0603020101020101" pitchFamily="34" charset="-127"/>
                <a:ea typeface="NanumBarunGothic Light" panose="020B0603020101020101" pitchFamily="34" charset="-127"/>
              </a:rPr>
              <a:t> plot</a:t>
            </a:r>
            <a:endParaRPr lang="en-US" altLang="ko-KR" sz="2200" b="1" dirty="0">
              <a:latin typeface="NanumBarunGothic Light" panose="020B0603020101020101" pitchFamily="34" charset="-127"/>
              <a:ea typeface="NanumBarunGothic Light" panose="020B0603020101020101" pitchFamily="34" charset="-127"/>
            </a:endParaRPr>
          </a:p>
        </p:txBody>
      </p:sp>
      <p:sp>
        <p:nvSpPr>
          <p:cNvPr id="23" name="TextBox 11"/>
          <p:cNvSpPr txBox="1"/>
          <p:nvPr/>
        </p:nvSpPr>
        <p:spPr>
          <a:xfrm>
            <a:off x="2476500" y="876300"/>
            <a:ext cx="13335000" cy="1409700"/>
          </a:xfrm>
          <a:prstGeom prst="rect">
            <a:avLst/>
          </a:prstGeom>
        </p:spPr>
        <p:txBody>
          <a:bodyPr lIns="0" tIns="0" rIns="0" bIns="0" rtlCol="0" anchor="ctr"/>
          <a:lstStyle/>
          <a:p>
            <a:pPr lvl="0" algn="ctr">
              <a:lnSpc>
                <a:spcPct val="98770"/>
              </a:lnSpc>
            </a:pPr>
            <a:r>
              <a:rPr lang="en-US" altLang="ko-KR" sz="5400" dirty="0" smtClean="0">
                <a:solidFill>
                  <a:srgbClr val="4D4D4D"/>
                </a:solidFill>
                <a:latin typeface="Noto Sans KR Medium" pitchFamily="50" charset="-127"/>
                <a:ea typeface="Noto Sans KR Medium" pitchFamily="50" charset="-127"/>
              </a:rPr>
              <a:t>3.</a:t>
            </a:r>
            <a:r>
              <a:rPr lang="ko-KR" altLang="en-US" sz="5400" dirty="0" smtClean="0">
                <a:solidFill>
                  <a:srgbClr val="4D4D4D"/>
                </a:solidFill>
                <a:latin typeface="Noto Sans KR Medium" pitchFamily="50" charset="-127"/>
                <a:ea typeface="Noto Sans KR Medium" pitchFamily="50" charset="-127"/>
              </a:rPr>
              <a:t>주성분 선택</a:t>
            </a:r>
            <a:endParaRPr lang="ko-KR" sz="5400" b="0" i="0" u="none" strike="noStrike" dirty="0">
              <a:solidFill>
                <a:srgbClr val="4D4D4D"/>
              </a:solidFill>
              <a:latin typeface="Noto Sans KR Medium" pitchFamily="50" charset="-127"/>
              <a:ea typeface="Noto Sans KR Medium" pitchFamily="50" charset="-127"/>
            </a:endParaRPr>
          </a:p>
        </p:txBody>
      </p:sp>
      <p:sp>
        <p:nvSpPr>
          <p:cNvPr id="27" name="TextBox 12"/>
          <p:cNvSpPr txBox="1"/>
          <p:nvPr/>
        </p:nvSpPr>
        <p:spPr>
          <a:xfrm>
            <a:off x="7391400" y="660400"/>
            <a:ext cx="3505200" cy="444500"/>
          </a:xfrm>
          <a:prstGeom prst="rect">
            <a:avLst/>
          </a:prstGeom>
        </p:spPr>
        <p:txBody>
          <a:bodyPr lIns="0" tIns="0" rIns="0" bIns="0" rtlCol="0" anchor="ctr"/>
          <a:lstStyle/>
          <a:p>
            <a:pPr lvl="0" algn="ctr">
              <a:lnSpc>
                <a:spcPct val="98770"/>
              </a:lnSpc>
            </a:pPr>
            <a:r>
              <a:rPr lang="en-US" sz="2500" b="0" i="0" u="none" strike="noStrike" dirty="0">
                <a:solidFill>
                  <a:srgbClr val="229BEE"/>
                </a:solidFill>
                <a:latin typeface="+mn-ea"/>
              </a:rPr>
              <a:t>CHAPTER </a:t>
            </a:r>
            <a:r>
              <a:rPr lang="en-US" sz="2500" b="0" i="0" u="none" strike="noStrike" dirty="0" smtClean="0">
                <a:solidFill>
                  <a:srgbClr val="229BEE"/>
                </a:solidFill>
                <a:latin typeface="+mn-ea"/>
              </a:rPr>
              <a:t>03</a:t>
            </a:r>
            <a:endParaRPr lang="en-US" sz="2500" b="0" i="0" u="none" strike="noStrike" dirty="0">
              <a:solidFill>
                <a:srgbClr val="229BEE"/>
              </a:solidFill>
              <a:latin typeface="+mn-ea"/>
            </a:endParaRPr>
          </a:p>
        </p:txBody>
      </p:sp>
      <p:sp>
        <p:nvSpPr>
          <p:cNvPr id="29" name="타원 28"/>
          <p:cNvSpPr/>
          <p:nvPr/>
        </p:nvSpPr>
        <p:spPr>
          <a:xfrm>
            <a:off x="3048000" y="7810500"/>
            <a:ext cx="1143000" cy="1143000"/>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TextBox 18">
            <a:extLst>
              <a:ext uri="{FF2B5EF4-FFF2-40B4-BE49-F238E27FC236}">
                <a16:creationId xmlns="" xmlns:a16="http://schemas.microsoft.com/office/drawing/2014/main" id="{9868D4D3-D354-8A4A-E870-E4A7DA56A02E}"/>
              </a:ext>
            </a:extLst>
          </p:cNvPr>
          <p:cNvSpPr txBox="1"/>
          <p:nvPr/>
        </p:nvSpPr>
        <p:spPr>
          <a:xfrm>
            <a:off x="3276600" y="3162300"/>
            <a:ext cx="6477000" cy="430887"/>
          </a:xfrm>
          <a:prstGeom prst="rect">
            <a:avLst/>
          </a:prstGeom>
          <a:noFill/>
        </p:spPr>
        <p:txBody>
          <a:bodyPr wrap="square" rtlCol="0">
            <a:spAutoFit/>
          </a:bodyPr>
          <a:lstStyle/>
          <a:p>
            <a:r>
              <a:rPr lang="en-US" altLang="ko-KR" sz="2200" b="1" dirty="0" smtClean="0">
                <a:latin typeface="NanumBarunGothic Light" panose="020B0603020101020101" pitchFamily="34" charset="-127"/>
                <a:ea typeface="NanumBarunGothic Light" panose="020B0603020101020101" pitchFamily="34" charset="-127"/>
              </a:rPr>
              <a:t>Goodness-of fit(</a:t>
            </a:r>
            <a:r>
              <a:rPr lang="ko-KR" altLang="en-US" sz="2200" b="1" dirty="0" smtClean="0">
                <a:latin typeface="NanumBarunGothic Light" panose="020B0603020101020101" pitchFamily="34" charset="-127"/>
                <a:ea typeface="NanumBarunGothic Light" panose="020B0603020101020101" pitchFamily="34" charset="-127"/>
              </a:rPr>
              <a:t>적합도</a:t>
            </a:r>
            <a:r>
              <a:rPr lang="en-US" altLang="ko-KR" sz="2200" b="1" dirty="0" smtClean="0">
                <a:latin typeface="NanumBarunGothic Light" panose="020B0603020101020101" pitchFamily="34" charset="-127"/>
                <a:ea typeface="NanumBarunGothic Light" panose="020B0603020101020101" pitchFamily="34" charset="-127"/>
              </a:rPr>
              <a:t>,</a:t>
            </a:r>
            <a:r>
              <a:rPr lang="ko-KR" altLang="en-US" sz="2200" b="1" dirty="0" smtClean="0">
                <a:latin typeface="NanumBarunGothic Light" panose="020B0603020101020101" pitchFamily="34" charset="-127"/>
                <a:ea typeface="NanumBarunGothic Light" panose="020B0603020101020101" pitchFamily="34" charset="-127"/>
              </a:rPr>
              <a:t>설명비율</a:t>
            </a:r>
            <a:r>
              <a:rPr lang="en-US" altLang="ko-KR" sz="2200" b="1" dirty="0" smtClean="0">
                <a:latin typeface="NanumBarunGothic Light" panose="020B0603020101020101" pitchFamily="34" charset="-127"/>
                <a:ea typeface="NanumBarunGothic Light" panose="020B0603020101020101" pitchFamily="34" charset="-127"/>
              </a:rPr>
              <a:t>)</a:t>
            </a:r>
            <a:endParaRPr lang="en-US" altLang="ko-KR" sz="2200" b="1" dirty="0">
              <a:latin typeface="NanumBarunGothic Light" panose="020B0603020101020101" pitchFamily="34" charset="-127"/>
              <a:ea typeface="NanumBarunGothic Light" panose="020B0603020101020101" pitchFamily="34" charset="-127"/>
            </a:endParaRPr>
          </a:p>
        </p:txBody>
      </p:sp>
      <p:pic>
        <p:nvPicPr>
          <p:cNvPr id="20" name="Picture 26"/>
          <p:cNvPicPr>
            <a:picLocks noChangeAspect="1" noChangeArrowheads="1"/>
          </p:cNvPicPr>
          <p:nvPr/>
        </p:nvPicPr>
        <p:blipFill>
          <a:blip r:embed="rId7" cstate="print"/>
          <a:srcRect/>
          <a:stretch>
            <a:fillRect/>
          </a:stretch>
        </p:blipFill>
        <p:spPr bwMode="auto">
          <a:xfrm>
            <a:off x="3276600" y="3619500"/>
            <a:ext cx="9825566" cy="838200"/>
          </a:xfrm>
          <a:prstGeom prst="rect">
            <a:avLst/>
          </a:prstGeom>
          <a:noFill/>
          <a:ln w="9525">
            <a:noFill/>
            <a:miter lim="800000"/>
            <a:headEnd/>
            <a:tailEnd/>
          </a:ln>
          <a:effectLst/>
        </p:spPr>
      </p:pic>
      <p:pic>
        <p:nvPicPr>
          <p:cNvPr id="21" name="Picture 2"/>
          <p:cNvPicPr>
            <a:picLocks noChangeAspect="1" noChangeArrowheads="1"/>
          </p:cNvPicPr>
          <p:nvPr/>
        </p:nvPicPr>
        <p:blipFill>
          <a:blip r:embed="rId8" cstate="print"/>
          <a:srcRect/>
          <a:stretch>
            <a:fillRect/>
          </a:stretch>
        </p:blipFill>
        <p:spPr bwMode="auto">
          <a:xfrm>
            <a:off x="3276600" y="4593325"/>
            <a:ext cx="14706600" cy="626375"/>
          </a:xfrm>
          <a:prstGeom prst="rect">
            <a:avLst/>
          </a:prstGeom>
          <a:noFill/>
          <a:ln w="9525">
            <a:noFill/>
            <a:miter lim="800000"/>
            <a:headEnd/>
            <a:tailEnd/>
          </a:ln>
          <a:effectLst/>
        </p:spPr>
      </p:pic>
      <p:sp>
        <p:nvSpPr>
          <p:cNvPr id="22" name="직사각형 21"/>
          <p:cNvSpPr/>
          <p:nvPr/>
        </p:nvSpPr>
        <p:spPr>
          <a:xfrm>
            <a:off x="3276600" y="4610100"/>
            <a:ext cx="2819400" cy="60960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설명선 2 23"/>
          <p:cNvSpPr/>
          <p:nvPr/>
        </p:nvSpPr>
        <p:spPr>
          <a:xfrm>
            <a:off x="5562600" y="5753100"/>
            <a:ext cx="4648200" cy="838200"/>
          </a:xfrm>
          <a:prstGeom prst="borderCallout2">
            <a:avLst>
              <a:gd name="adj1" fmla="val 18750"/>
              <a:gd name="adj2" fmla="val -8333"/>
              <a:gd name="adj3" fmla="val 18750"/>
              <a:gd name="adj4" fmla="val -16667"/>
              <a:gd name="adj5" fmla="val -51136"/>
              <a:gd name="adj6" fmla="val -26370"/>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400" b="1" dirty="0" smtClean="0">
                <a:solidFill>
                  <a:schemeClr val="tx1"/>
                </a:solidFill>
                <a:latin typeface="+mj-ea"/>
                <a:ea typeface="+mj-ea"/>
              </a:rPr>
              <a:t>59</a:t>
            </a:r>
            <a:r>
              <a:rPr lang="ko-KR" altLang="en-US" sz="2400" b="1" dirty="0" smtClean="0">
                <a:solidFill>
                  <a:schemeClr val="tx1"/>
                </a:solidFill>
                <a:latin typeface="+mj-ea"/>
                <a:ea typeface="+mj-ea"/>
              </a:rPr>
              <a:t>．</a:t>
            </a:r>
            <a:r>
              <a:rPr lang="en-US" altLang="ko-KR" sz="2400" b="1" dirty="0" smtClean="0">
                <a:solidFill>
                  <a:schemeClr val="tx1"/>
                </a:solidFill>
                <a:latin typeface="+mj-ea"/>
                <a:ea typeface="+mj-ea"/>
              </a:rPr>
              <a:t>8</a:t>
            </a:r>
            <a:r>
              <a:rPr lang="ko-KR" altLang="en-US" sz="2400" b="1" dirty="0" smtClean="0">
                <a:solidFill>
                  <a:schemeClr val="tx1"/>
                </a:solidFill>
                <a:latin typeface="+mj-ea"/>
                <a:ea typeface="+mj-ea"/>
              </a:rPr>
              <a:t>８＋１</a:t>
            </a:r>
            <a:r>
              <a:rPr lang="en-US" altLang="ko-KR" sz="2400" b="1" dirty="0" smtClean="0">
                <a:solidFill>
                  <a:schemeClr val="tx1"/>
                </a:solidFill>
                <a:latin typeface="+mj-ea"/>
                <a:ea typeface="+mj-ea"/>
              </a:rPr>
              <a:t>4</a:t>
            </a:r>
            <a:r>
              <a:rPr lang="ko-KR" altLang="en-US" sz="2400" b="1" dirty="0" smtClean="0">
                <a:solidFill>
                  <a:schemeClr val="tx1"/>
                </a:solidFill>
                <a:latin typeface="+mj-ea"/>
                <a:ea typeface="+mj-ea"/>
              </a:rPr>
              <a:t>．</a:t>
            </a:r>
            <a:r>
              <a:rPr lang="en-US" altLang="ko-KR" sz="2400" b="1" dirty="0" smtClean="0">
                <a:solidFill>
                  <a:schemeClr val="tx1"/>
                </a:solidFill>
                <a:latin typeface="+mj-ea"/>
                <a:ea typeface="+mj-ea"/>
              </a:rPr>
              <a:t>13  + 7.2</a:t>
            </a:r>
          </a:p>
          <a:p>
            <a:pPr algn="ctr"/>
            <a:r>
              <a:rPr lang="ko-KR" altLang="en-US" sz="2400" b="1" dirty="0" smtClean="0">
                <a:solidFill>
                  <a:schemeClr val="tx1"/>
                </a:solidFill>
                <a:latin typeface="+mj-ea"/>
                <a:ea typeface="+mj-ea"/>
              </a:rPr>
              <a:t>＝８</a:t>
            </a:r>
            <a:r>
              <a:rPr lang="en-US" altLang="ko-KR" sz="2400" b="1" dirty="0" smtClean="0">
                <a:solidFill>
                  <a:schemeClr val="tx1"/>
                </a:solidFill>
                <a:latin typeface="+mj-ea"/>
                <a:ea typeface="+mj-ea"/>
              </a:rPr>
              <a:t>1</a:t>
            </a:r>
            <a:r>
              <a:rPr lang="ko-KR" altLang="en-US" sz="2400" b="1" dirty="0" smtClean="0">
                <a:solidFill>
                  <a:schemeClr val="tx1"/>
                </a:solidFill>
                <a:latin typeface="+mj-ea"/>
                <a:ea typeface="+mj-ea"/>
              </a:rPr>
              <a:t>．２</a:t>
            </a:r>
            <a:r>
              <a:rPr lang="en-US" altLang="ko-KR" sz="2400" b="1" dirty="0" smtClean="0">
                <a:solidFill>
                  <a:schemeClr val="tx1"/>
                </a:solidFill>
                <a:latin typeface="+mj-ea"/>
                <a:ea typeface="+mj-ea"/>
              </a:rPr>
              <a:t>1</a:t>
            </a:r>
            <a:r>
              <a:rPr lang="ko-KR" altLang="en-US" sz="2400" b="1" dirty="0" smtClean="0">
                <a:solidFill>
                  <a:schemeClr val="tx1"/>
                </a:solidFill>
                <a:latin typeface="+mj-ea"/>
                <a:ea typeface="+mj-ea"/>
              </a:rPr>
              <a:t>（％）</a:t>
            </a:r>
            <a:endParaRPr lang="ko-KR" altLang="en-US" sz="2400" b="1" dirty="0">
              <a:solidFill>
                <a:schemeClr val="tx1"/>
              </a:solidFill>
              <a:latin typeface="+mj-ea"/>
              <a:ea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29BEE"/>
        </a:solidFill>
        <a:effectLst/>
      </p:bgPr>
    </p:bg>
    <p:spTree>
      <p:nvGrpSpPr>
        <p:cNvPr id="1" name=""/>
        <p:cNvGrpSpPr/>
        <p:nvPr/>
      </p:nvGrpSpPr>
      <p:grpSpPr>
        <a:xfrm>
          <a:off x="0" y="0"/>
          <a:ext cx="0" cy="0"/>
          <a:chOff x="0" y="0"/>
          <a:chExt cx="0" cy="0"/>
        </a:xfrm>
      </p:grpSpPr>
      <p:pic>
        <p:nvPicPr>
          <p:cNvPr id="15" name="Picture 2"/>
          <p:cNvPicPr>
            <a:picLocks noChangeAspect="1"/>
          </p:cNvPicPr>
          <p:nvPr/>
        </p:nvPicPr>
        <p:blipFill>
          <a:blip r:embed="rId3" cstate="print"/>
          <a:stretch>
            <a:fillRect/>
          </a:stretch>
        </p:blipFill>
        <p:spPr>
          <a:xfrm>
            <a:off x="292100" y="292100"/>
            <a:ext cx="17716500" cy="9715500"/>
          </a:xfrm>
          <a:prstGeom prst="rect">
            <a:avLst/>
          </a:prstGeom>
        </p:spPr>
      </p:pic>
      <p:pic>
        <p:nvPicPr>
          <p:cNvPr id="3" name="Picture 3"/>
          <p:cNvPicPr>
            <a:picLocks noChangeAspect="1"/>
          </p:cNvPicPr>
          <p:nvPr/>
        </p:nvPicPr>
        <p:blipFill>
          <a:blip r:embed="rId4" cstate="print"/>
          <a:stretch>
            <a:fillRect/>
          </a:stretch>
        </p:blipFill>
        <p:spPr>
          <a:xfrm>
            <a:off x="1003300" y="2171700"/>
            <a:ext cx="16281400" cy="25400"/>
          </a:xfrm>
          <a:prstGeom prst="rect">
            <a:avLst/>
          </a:prstGeom>
        </p:spPr>
      </p:pic>
      <p:pic>
        <p:nvPicPr>
          <p:cNvPr id="4" name="Picture 4"/>
          <p:cNvPicPr>
            <a:picLocks noChangeAspect="1"/>
          </p:cNvPicPr>
          <p:nvPr/>
        </p:nvPicPr>
        <p:blipFill>
          <a:blip r:embed="rId5" cstate="print"/>
          <a:stretch>
            <a:fillRect/>
          </a:stretch>
        </p:blipFill>
        <p:spPr>
          <a:xfrm>
            <a:off x="16611600" y="0"/>
            <a:ext cx="673100" cy="965200"/>
          </a:xfrm>
          <a:prstGeom prst="rect">
            <a:avLst/>
          </a:prstGeom>
        </p:spPr>
      </p:pic>
      <p:sp>
        <p:nvSpPr>
          <p:cNvPr id="11" name="TextBox 11"/>
          <p:cNvSpPr txBox="1"/>
          <p:nvPr/>
        </p:nvSpPr>
        <p:spPr>
          <a:xfrm>
            <a:off x="2476500" y="876300"/>
            <a:ext cx="13335000" cy="1409700"/>
          </a:xfrm>
          <a:prstGeom prst="rect">
            <a:avLst/>
          </a:prstGeom>
        </p:spPr>
        <p:txBody>
          <a:bodyPr lIns="0" tIns="0" rIns="0" bIns="0" rtlCol="0" anchor="ctr"/>
          <a:lstStyle/>
          <a:p>
            <a:pPr lvl="0" algn="ctr">
              <a:lnSpc>
                <a:spcPct val="98770"/>
              </a:lnSpc>
            </a:pPr>
            <a:r>
              <a:rPr lang="en-US" altLang="ko-KR" sz="5400" dirty="0" smtClean="0">
                <a:solidFill>
                  <a:srgbClr val="4D4D4D"/>
                </a:solidFill>
                <a:latin typeface="Noto Sans KR Medium" pitchFamily="50" charset="-127"/>
                <a:ea typeface="Noto Sans KR Medium" pitchFamily="50" charset="-127"/>
              </a:rPr>
              <a:t>3.</a:t>
            </a:r>
            <a:r>
              <a:rPr lang="ko-KR" altLang="en-US" sz="5400" dirty="0" smtClean="0">
                <a:solidFill>
                  <a:srgbClr val="4D4D4D"/>
                </a:solidFill>
                <a:latin typeface="Noto Sans KR Medium" pitchFamily="50" charset="-127"/>
                <a:ea typeface="Noto Sans KR Medium" pitchFamily="50" charset="-127"/>
              </a:rPr>
              <a:t>주성분 선택</a:t>
            </a:r>
            <a:endParaRPr lang="ko-KR" sz="5400" b="0" i="0" u="none" strike="noStrike" dirty="0">
              <a:solidFill>
                <a:srgbClr val="4D4D4D"/>
              </a:solidFill>
              <a:latin typeface="Noto Sans KR Medium" pitchFamily="50" charset="-127"/>
              <a:ea typeface="Noto Sans KR Medium" pitchFamily="50" charset="-127"/>
            </a:endParaRPr>
          </a:p>
        </p:txBody>
      </p:sp>
      <p:sp>
        <p:nvSpPr>
          <p:cNvPr id="16" name="TextBox 15">
            <a:extLst>
              <a:ext uri="{FF2B5EF4-FFF2-40B4-BE49-F238E27FC236}">
                <a16:creationId xmlns="" xmlns:a16="http://schemas.microsoft.com/office/drawing/2014/main" id="{9868D4D3-D354-8A4A-E870-E4A7DA56A02E}"/>
              </a:ext>
            </a:extLst>
          </p:cNvPr>
          <p:cNvSpPr txBox="1"/>
          <p:nvPr/>
        </p:nvSpPr>
        <p:spPr>
          <a:xfrm>
            <a:off x="5334000" y="4533900"/>
            <a:ext cx="3962400" cy="769441"/>
          </a:xfrm>
          <a:prstGeom prst="rect">
            <a:avLst/>
          </a:prstGeom>
          <a:noFill/>
        </p:spPr>
        <p:txBody>
          <a:bodyPr wrap="square" rtlCol="0">
            <a:spAutoFit/>
          </a:bodyPr>
          <a:lstStyle/>
          <a:p>
            <a:r>
              <a:rPr lang="ko-KR" altLang="en-US" sz="2200" b="1" dirty="0" smtClean="0">
                <a:latin typeface="NanumBarunGothic Light" panose="020B0603020101020101" pitchFamily="34" charset="-127"/>
                <a:ea typeface="NanumBarunGothic Light" panose="020B0603020101020101" pitchFamily="34" charset="-127"/>
              </a:rPr>
              <a:t>주성분 개수</a:t>
            </a:r>
            <a:r>
              <a:rPr lang="en-US" altLang="ko-KR" sz="2200" b="1" dirty="0" smtClean="0">
                <a:latin typeface="NanumBarunGothic Light" panose="020B0603020101020101" pitchFamily="34" charset="-127"/>
                <a:ea typeface="NanumBarunGothic Light" panose="020B0603020101020101" pitchFamily="34" charset="-127"/>
              </a:rPr>
              <a:t>: 3</a:t>
            </a:r>
            <a:r>
              <a:rPr lang="ko-KR" altLang="en-US" sz="2200" b="1" dirty="0" smtClean="0">
                <a:latin typeface="NanumBarunGothic Light" panose="020B0603020101020101" pitchFamily="34" charset="-127"/>
                <a:ea typeface="NanumBarunGothic Light" panose="020B0603020101020101" pitchFamily="34" charset="-127"/>
              </a:rPr>
              <a:t>개 </a:t>
            </a:r>
            <a:endParaRPr lang="en-US" altLang="ko-KR" sz="2200" b="1" dirty="0" smtClean="0">
              <a:latin typeface="NanumBarunGothic Light" panose="020B0603020101020101" pitchFamily="34" charset="-127"/>
              <a:ea typeface="NanumBarunGothic Light" panose="020B0603020101020101" pitchFamily="34" charset="-127"/>
            </a:endParaRPr>
          </a:p>
          <a:p>
            <a:r>
              <a:rPr lang="en-US" altLang="ko-KR" sz="2200" b="1" dirty="0" smtClean="0">
                <a:latin typeface="NanumBarunGothic Light" panose="020B0603020101020101" pitchFamily="34" charset="-127"/>
                <a:ea typeface="NanumBarunGothic Light" panose="020B0603020101020101" pitchFamily="34" charset="-127"/>
              </a:rPr>
              <a:t>-&gt; </a:t>
            </a:r>
            <a:r>
              <a:rPr lang="ko-KR" altLang="en-US" sz="2200" b="1" dirty="0" smtClean="0">
                <a:latin typeface="NanumBarunGothic Light" panose="020B0603020101020101" pitchFamily="34" charset="-127"/>
                <a:ea typeface="NanumBarunGothic Light" panose="020B0603020101020101" pitchFamily="34" charset="-127"/>
              </a:rPr>
              <a:t>고유벡터 </a:t>
            </a:r>
            <a:r>
              <a:rPr lang="en-US" altLang="ko-KR" sz="2200" b="1" dirty="0" smtClean="0">
                <a:latin typeface="NanumBarunGothic Light" panose="020B0603020101020101" pitchFamily="34" charset="-127"/>
                <a:ea typeface="NanumBarunGothic Light" panose="020B0603020101020101" pitchFamily="34" charset="-127"/>
              </a:rPr>
              <a:t>3</a:t>
            </a:r>
            <a:r>
              <a:rPr lang="ko-KR" altLang="en-US" sz="2200" b="1" dirty="0" smtClean="0">
                <a:latin typeface="NanumBarunGothic Light" panose="020B0603020101020101" pitchFamily="34" charset="-127"/>
                <a:ea typeface="NanumBarunGothic Light" panose="020B0603020101020101" pitchFamily="34" charset="-127"/>
              </a:rPr>
              <a:t>개만 가져오기</a:t>
            </a:r>
            <a:endParaRPr lang="en-US" altLang="ko-KR" sz="2200" b="1" dirty="0">
              <a:latin typeface="NanumBarunGothic Light" panose="020B0603020101020101" pitchFamily="34" charset="-127"/>
              <a:ea typeface="NanumBarunGothic Light" panose="020B0603020101020101" pitchFamily="34" charset="-127"/>
            </a:endParaRPr>
          </a:p>
        </p:txBody>
      </p:sp>
      <p:pic>
        <p:nvPicPr>
          <p:cNvPr id="36869" name="Picture 5"/>
          <p:cNvPicPr>
            <a:picLocks noChangeAspect="1" noChangeArrowheads="1"/>
          </p:cNvPicPr>
          <p:nvPr/>
        </p:nvPicPr>
        <p:blipFill>
          <a:blip r:embed="rId6" cstate="print"/>
          <a:srcRect/>
          <a:stretch>
            <a:fillRect/>
          </a:stretch>
        </p:blipFill>
        <p:spPr bwMode="auto">
          <a:xfrm>
            <a:off x="5638800" y="5448300"/>
            <a:ext cx="2460523" cy="838200"/>
          </a:xfrm>
          <a:prstGeom prst="rect">
            <a:avLst/>
          </a:prstGeom>
          <a:noFill/>
          <a:ln w="9525">
            <a:noFill/>
            <a:miter lim="800000"/>
            <a:headEnd/>
            <a:tailEnd/>
          </a:ln>
          <a:effectLst/>
        </p:spPr>
      </p:pic>
      <p:sp>
        <p:nvSpPr>
          <p:cNvPr id="21" name="TextBox 12"/>
          <p:cNvSpPr txBox="1"/>
          <p:nvPr/>
        </p:nvSpPr>
        <p:spPr>
          <a:xfrm>
            <a:off x="7391400" y="660400"/>
            <a:ext cx="3505200" cy="444500"/>
          </a:xfrm>
          <a:prstGeom prst="rect">
            <a:avLst/>
          </a:prstGeom>
        </p:spPr>
        <p:txBody>
          <a:bodyPr lIns="0" tIns="0" rIns="0" bIns="0" rtlCol="0" anchor="ctr"/>
          <a:lstStyle/>
          <a:p>
            <a:pPr lvl="0" algn="ctr">
              <a:lnSpc>
                <a:spcPct val="98770"/>
              </a:lnSpc>
            </a:pPr>
            <a:r>
              <a:rPr lang="en-US" sz="2500" b="0" i="0" u="none" strike="noStrike" dirty="0">
                <a:solidFill>
                  <a:srgbClr val="229BEE"/>
                </a:solidFill>
                <a:latin typeface="+mn-ea"/>
              </a:rPr>
              <a:t>CHAPTER </a:t>
            </a:r>
            <a:r>
              <a:rPr lang="en-US" sz="2500" b="0" i="0" u="none" strike="noStrike" dirty="0" smtClean="0">
                <a:solidFill>
                  <a:srgbClr val="229BEE"/>
                </a:solidFill>
                <a:latin typeface="+mn-ea"/>
              </a:rPr>
              <a:t>03</a:t>
            </a:r>
            <a:endParaRPr lang="en-US" sz="2500" b="0" i="0" u="none" strike="noStrike" dirty="0">
              <a:solidFill>
                <a:srgbClr val="229BEE"/>
              </a:solidFill>
              <a:latin typeface="+mn-ea"/>
            </a:endParaRPr>
          </a:p>
        </p:txBody>
      </p:sp>
      <p:pic>
        <p:nvPicPr>
          <p:cNvPr id="10" name="Picture 8"/>
          <p:cNvPicPr>
            <a:picLocks noChangeAspect="1" noChangeArrowheads="1"/>
          </p:cNvPicPr>
          <p:nvPr/>
        </p:nvPicPr>
        <p:blipFill>
          <a:blip r:embed="rId7" cstate="print"/>
          <a:srcRect/>
          <a:stretch>
            <a:fillRect/>
          </a:stretch>
        </p:blipFill>
        <p:spPr bwMode="auto">
          <a:xfrm>
            <a:off x="9143999" y="2476500"/>
            <a:ext cx="4604657" cy="7162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29BEE"/>
        </a:solidFill>
        <a:effectLst/>
      </p:bgPr>
    </p:bg>
    <p:spTree>
      <p:nvGrpSpPr>
        <p:cNvPr id="1" name=""/>
        <p:cNvGrpSpPr/>
        <p:nvPr/>
      </p:nvGrpSpPr>
      <p:grpSpPr>
        <a:xfrm>
          <a:off x="0" y="0"/>
          <a:ext cx="0" cy="0"/>
          <a:chOff x="0" y="0"/>
          <a:chExt cx="0" cy="0"/>
        </a:xfrm>
      </p:grpSpPr>
      <p:pic>
        <p:nvPicPr>
          <p:cNvPr id="20" name="Picture 2"/>
          <p:cNvPicPr>
            <a:picLocks noChangeAspect="1"/>
          </p:cNvPicPr>
          <p:nvPr/>
        </p:nvPicPr>
        <p:blipFill>
          <a:blip r:embed="rId3" cstate="print"/>
          <a:stretch>
            <a:fillRect/>
          </a:stretch>
        </p:blipFill>
        <p:spPr>
          <a:xfrm>
            <a:off x="292100" y="292100"/>
            <a:ext cx="17716500" cy="9715500"/>
          </a:xfrm>
          <a:prstGeom prst="rect">
            <a:avLst/>
          </a:prstGeom>
        </p:spPr>
      </p:pic>
      <p:pic>
        <p:nvPicPr>
          <p:cNvPr id="3" name="Picture 3"/>
          <p:cNvPicPr>
            <a:picLocks noChangeAspect="1"/>
          </p:cNvPicPr>
          <p:nvPr/>
        </p:nvPicPr>
        <p:blipFill>
          <a:blip r:embed="rId4" cstate="print"/>
          <a:stretch>
            <a:fillRect/>
          </a:stretch>
        </p:blipFill>
        <p:spPr>
          <a:xfrm>
            <a:off x="1003300" y="2171700"/>
            <a:ext cx="16281400" cy="25400"/>
          </a:xfrm>
          <a:prstGeom prst="rect">
            <a:avLst/>
          </a:prstGeom>
        </p:spPr>
      </p:pic>
      <p:pic>
        <p:nvPicPr>
          <p:cNvPr id="4" name="Picture 4"/>
          <p:cNvPicPr>
            <a:picLocks noChangeAspect="1"/>
          </p:cNvPicPr>
          <p:nvPr/>
        </p:nvPicPr>
        <p:blipFill>
          <a:blip r:embed="rId5" cstate="print"/>
          <a:stretch>
            <a:fillRect/>
          </a:stretch>
        </p:blipFill>
        <p:spPr>
          <a:xfrm>
            <a:off x="16611600" y="0"/>
            <a:ext cx="673100" cy="965200"/>
          </a:xfrm>
          <a:prstGeom prst="rect">
            <a:avLst/>
          </a:prstGeom>
        </p:spPr>
      </p:pic>
      <p:sp>
        <p:nvSpPr>
          <p:cNvPr id="11" name="TextBox 11"/>
          <p:cNvSpPr txBox="1"/>
          <p:nvPr/>
        </p:nvSpPr>
        <p:spPr>
          <a:xfrm>
            <a:off x="2476500" y="876300"/>
            <a:ext cx="13335000" cy="1409700"/>
          </a:xfrm>
          <a:prstGeom prst="rect">
            <a:avLst/>
          </a:prstGeom>
        </p:spPr>
        <p:txBody>
          <a:bodyPr lIns="0" tIns="0" rIns="0" bIns="0" rtlCol="0" anchor="ctr"/>
          <a:lstStyle/>
          <a:p>
            <a:pPr lvl="0" algn="ctr">
              <a:lnSpc>
                <a:spcPct val="98770"/>
              </a:lnSpc>
            </a:pPr>
            <a:r>
              <a:rPr lang="en-US" altLang="ko-KR" sz="5400" dirty="0" smtClean="0">
                <a:solidFill>
                  <a:srgbClr val="4D4D4D"/>
                </a:solidFill>
                <a:latin typeface="Noto Sans KR Medium" pitchFamily="50" charset="-127"/>
                <a:ea typeface="Noto Sans KR Medium" pitchFamily="50" charset="-127"/>
              </a:rPr>
              <a:t>4.</a:t>
            </a:r>
            <a:r>
              <a:rPr lang="ko-KR" altLang="en-US" sz="5400" dirty="0" smtClean="0">
                <a:solidFill>
                  <a:srgbClr val="4D4D4D"/>
                </a:solidFill>
                <a:latin typeface="Noto Sans KR Medium" pitchFamily="50" charset="-127"/>
                <a:ea typeface="Noto Sans KR Medium" pitchFamily="50" charset="-127"/>
              </a:rPr>
              <a:t>원본 데이터 변환</a:t>
            </a:r>
            <a:endParaRPr lang="ko-KR" sz="5400" b="0" i="0" u="none" strike="noStrike" dirty="0">
              <a:solidFill>
                <a:srgbClr val="4D4D4D"/>
              </a:solidFill>
              <a:latin typeface="Noto Sans KR Medium" pitchFamily="50" charset="-127"/>
              <a:ea typeface="Noto Sans KR Medium" pitchFamily="50" charset="-127"/>
            </a:endParaRPr>
          </a:p>
        </p:txBody>
      </p:sp>
      <p:sp>
        <p:nvSpPr>
          <p:cNvPr id="9" name="TextBox 8">
            <a:extLst>
              <a:ext uri="{FF2B5EF4-FFF2-40B4-BE49-F238E27FC236}">
                <a16:creationId xmlns="" xmlns:a16="http://schemas.microsoft.com/office/drawing/2014/main" id="{9868D4D3-D354-8A4A-E870-E4A7DA56A02E}"/>
              </a:ext>
            </a:extLst>
          </p:cNvPr>
          <p:cNvSpPr txBox="1"/>
          <p:nvPr/>
        </p:nvSpPr>
        <p:spPr>
          <a:xfrm>
            <a:off x="990600" y="2476500"/>
            <a:ext cx="9144000" cy="430887"/>
          </a:xfrm>
          <a:prstGeom prst="rect">
            <a:avLst/>
          </a:prstGeom>
          <a:noFill/>
        </p:spPr>
        <p:txBody>
          <a:bodyPr wrap="square" rtlCol="0">
            <a:spAutoFit/>
          </a:bodyPr>
          <a:lstStyle/>
          <a:p>
            <a:r>
              <a:rPr lang="ko-KR" altLang="en-US" sz="2200" b="1" dirty="0" smtClean="0">
                <a:latin typeface="NanumBarunGothic Light" panose="020B0603020101020101" pitchFamily="34" charset="-127"/>
                <a:ea typeface="NanumBarunGothic Light" panose="020B0603020101020101" pitchFamily="34" charset="-127"/>
              </a:rPr>
              <a:t>주성분 점수</a:t>
            </a:r>
            <a:r>
              <a:rPr lang="en-US" altLang="ko-KR" sz="2200" b="1" dirty="0" smtClean="0">
                <a:latin typeface="NanumBarunGothic Light" panose="020B0603020101020101" pitchFamily="34" charset="-127"/>
                <a:ea typeface="NanumBarunGothic Light" panose="020B0603020101020101" pitchFamily="34" charset="-127"/>
              </a:rPr>
              <a:t>(PC Scores) </a:t>
            </a:r>
            <a:r>
              <a:rPr lang="ko-KR" altLang="en-US" sz="2200" b="1" dirty="0" smtClean="0">
                <a:latin typeface="NanumBarunGothic Light" panose="020B0603020101020101" pitchFamily="34" charset="-127"/>
                <a:ea typeface="NanumBarunGothic Light" panose="020B0603020101020101" pitchFamily="34" charset="-127"/>
              </a:rPr>
              <a:t>및 새로운 데이터 행렬 </a:t>
            </a:r>
            <a:r>
              <a:rPr lang="en-US" altLang="ko-KR" sz="2200" b="1" dirty="0" smtClean="0">
                <a:latin typeface="NanumBarunGothic Light" panose="020B0603020101020101" pitchFamily="34" charset="-127"/>
                <a:ea typeface="NanumBarunGothic Light" panose="020B0603020101020101" pitchFamily="34" charset="-127"/>
              </a:rPr>
              <a:t>P </a:t>
            </a:r>
            <a:r>
              <a:rPr lang="ko-KR" altLang="en-US" sz="2200" b="1" dirty="0" smtClean="0">
                <a:latin typeface="NanumBarunGothic Light" panose="020B0603020101020101" pitchFamily="34" charset="-127"/>
                <a:ea typeface="NanumBarunGothic Light" panose="020B0603020101020101" pitchFamily="34" charset="-127"/>
              </a:rPr>
              <a:t>계산</a:t>
            </a:r>
            <a:endParaRPr lang="en-US" altLang="ko-KR" sz="2200" b="1" dirty="0">
              <a:latin typeface="NanumBarunGothic Light" panose="020B0603020101020101" pitchFamily="34" charset="-127"/>
              <a:ea typeface="NanumBarunGothic Light" panose="020B0603020101020101" pitchFamily="34" charset="-127"/>
            </a:endParaRPr>
          </a:p>
        </p:txBody>
      </p:sp>
      <p:sp>
        <p:nvSpPr>
          <p:cNvPr id="19" name="TextBox 18">
            <a:extLst>
              <a:ext uri="{FF2B5EF4-FFF2-40B4-BE49-F238E27FC236}">
                <a16:creationId xmlns="" xmlns:a16="http://schemas.microsoft.com/office/drawing/2014/main" id="{6B6347B5-3E2E-502E-1BED-35445B94ECD0}"/>
              </a:ext>
            </a:extLst>
          </p:cNvPr>
          <p:cNvSpPr txBox="1"/>
          <p:nvPr/>
        </p:nvSpPr>
        <p:spPr>
          <a:xfrm>
            <a:off x="12575118" y="9334500"/>
            <a:ext cx="5103282" cy="461665"/>
          </a:xfrm>
          <a:prstGeom prst="rect">
            <a:avLst/>
          </a:prstGeom>
          <a:noFill/>
        </p:spPr>
        <p:txBody>
          <a:bodyPr wrap="square">
            <a:spAutoFit/>
          </a:bodyPr>
          <a:lstStyle/>
          <a:p>
            <a:pPr algn="r"/>
            <a:r>
              <a:rPr lang="en-US" altLang="ko-KR" sz="2400" dirty="0" smtClean="0">
                <a:latin typeface="NanumBarunGothic Light" panose="020B0603020101020101" pitchFamily="34" charset="-127"/>
                <a:ea typeface="NanumBarunGothic Light" panose="020B0603020101020101" pitchFamily="34" charset="-127"/>
              </a:rPr>
              <a:t>211</a:t>
            </a:r>
            <a:r>
              <a:rPr lang="en-US" altLang="ko-KR" sz="2400" dirty="0" smtClean="0">
                <a:effectLst/>
                <a:latin typeface="NanumBarunGothic Light" panose="020B0603020101020101" pitchFamily="34" charset="-127"/>
                <a:ea typeface="NanumBarunGothic Light" panose="020B0603020101020101" pitchFamily="34" charset="-127"/>
              </a:rPr>
              <a:t> </a:t>
            </a:r>
            <a:r>
              <a:rPr lang="en-US" altLang="ko-KR" sz="2400" dirty="0">
                <a:effectLst/>
                <a:latin typeface="NanumBarunGothic Light" panose="020B0603020101020101" pitchFamily="34" charset="-127"/>
                <a:ea typeface="NanumBarunGothic Light" panose="020B0603020101020101" pitchFamily="34" charset="-127"/>
              </a:rPr>
              <a:t>rows × </a:t>
            </a:r>
            <a:r>
              <a:rPr lang="en-US" altLang="ko-KR" sz="2400" dirty="0" smtClean="0">
                <a:latin typeface="NanumBarunGothic Light" panose="020B0603020101020101" pitchFamily="34" charset="-127"/>
                <a:ea typeface="NanumBarunGothic Light" panose="020B0603020101020101" pitchFamily="34" charset="-127"/>
              </a:rPr>
              <a:t>3</a:t>
            </a:r>
            <a:r>
              <a:rPr lang="en-US" altLang="ko-KR" sz="2400" dirty="0" smtClean="0">
                <a:effectLst/>
                <a:latin typeface="NanumBarunGothic Light" panose="020B0603020101020101" pitchFamily="34" charset="-127"/>
                <a:ea typeface="NanumBarunGothic Light" panose="020B0603020101020101" pitchFamily="34" charset="-127"/>
              </a:rPr>
              <a:t> </a:t>
            </a:r>
            <a:r>
              <a:rPr lang="en-US" altLang="ko-KR" sz="2400" dirty="0">
                <a:effectLst/>
                <a:latin typeface="NanumBarunGothic Light" panose="020B0603020101020101" pitchFamily="34" charset="-127"/>
                <a:ea typeface="NanumBarunGothic Light" panose="020B0603020101020101" pitchFamily="34" charset="-127"/>
              </a:rPr>
              <a:t>columns</a:t>
            </a:r>
            <a:endParaRPr lang="ko-KR" altLang="en-US" sz="2400" dirty="0">
              <a:latin typeface="NanumBarunGothic Light" panose="020B0603020101020101" pitchFamily="34" charset="-127"/>
              <a:ea typeface="NanumBarunGothic Light" panose="020B0603020101020101" pitchFamily="34" charset="-127"/>
            </a:endParaRPr>
          </a:p>
        </p:txBody>
      </p:sp>
      <p:sp>
        <p:nvSpPr>
          <p:cNvPr id="21" name="TextBox 20">
            <a:extLst>
              <a:ext uri="{FF2B5EF4-FFF2-40B4-BE49-F238E27FC236}">
                <a16:creationId xmlns="" xmlns:a16="http://schemas.microsoft.com/office/drawing/2014/main" id="{9868D4D3-D354-8A4A-E870-E4A7DA56A02E}"/>
              </a:ext>
            </a:extLst>
          </p:cNvPr>
          <p:cNvSpPr txBox="1"/>
          <p:nvPr/>
        </p:nvSpPr>
        <p:spPr>
          <a:xfrm>
            <a:off x="6019800" y="3086100"/>
            <a:ext cx="1295400" cy="461665"/>
          </a:xfrm>
          <a:prstGeom prst="rect">
            <a:avLst/>
          </a:prstGeom>
          <a:noFill/>
        </p:spPr>
        <p:txBody>
          <a:bodyPr wrap="square" rtlCol="0">
            <a:spAutoFit/>
          </a:bodyPr>
          <a:lstStyle/>
          <a:p>
            <a:r>
              <a:rPr lang="ko-KR" altLang="en-US" sz="2400" dirty="0" smtClean="0"/>
              <a:t>표준화</a:t>
            </a:r>
            <a:endParaRPr lang="en-US" altLang="ko-KR" sz="2200" dirty="0">
              <a:latin typeface="NanumBarunGothic Light" panose="020B0603020101020101" pitchFamily="34" charset="-127"/>
              <a:ea typeface="NanumBarunGothic Light" panose="020B0603020101020101" pitchFamily="34" charset="-127"/>
            </a:endParaRPr>
          </a:p>
        </p:txBody>
      </p:sp>
      <p:pic>
        <p:nvPicPr>
          <p:cNvPr id="45063" name="Picture 7"/>
          <p:cNvPicPr>
            <a:picLocks noChangeAspect="1" noChangeArrowheads="1"/>
          </p:cNvPicPr>
          <p:nvPr/>
        </p:nvPicPr>
        <p:blipFill>
          <a:blip r:embed="rId6" cstate="print"/>
          <a:srcRect/>
          <a:stretch>
            <a:fillRect/>
          </a:stretch>
        </p:blipFill>
        <p:spPr bwMode="auto">
          <a:xfrm>
            <a:off x="990600" y="3009900"/>
            <a:ext cx="4757057" cy="1447800"/>
          </a:xfrm>
          <a:prstGeom prst="rect">
            <a:avLst/>
          </a:prstGeom>
          <a:noFill/>
          <a:ln w="9525">
            <a:noFill/>
            <a:miter lim="800000"/>
            <a:headEnd/>
            <a:tailEnd/>
          </a:ln>
          <a:effectLst/>
        </p:spPr>
      </p:pic>
      <p:pic>
        <p:nvPicPr>
          <p:cNvPr id="5122" name="Picture 2"/>
          <p:cNvPicPr>
            <a:picLocks noChangeAspect="1" noChangeArrowheads="1"/>
          </p:cNvPicPr>
          <p:nvPr/>
        </p:nvPicPr>
        <p:blipFill>
          <a:blip r:embed="rId7" cstate="print"/>
          <a:srcRect/>
          <a:stretch>
            <a:fillRect/>
          </a:stretch>
        </p:blipFill>
        <p:spPr bwMode="auto">
          <a:xfrm>
            <a:off x="8458200" y="2247900"/>
            <a:ext cx="5867400" cy="7620000"/>
          </a:xfrm>
          <a:prstGeom prst="rect">
            <a:avLst/>
          </a:prstGeom>
          <a:noFill/>
          <a:ln w="9525">
            <a:noFill/>
            <a:miter lim="800000"/>
            <a:headEnd/>
            <a:tailEnd/>
          </a:ln>
          <a:effectLst/>
        </p:spPr>
      </p:pic>
      <p:sp>
        <p:nvSpPr>
          <p:cNvPr id="14" name="TextBox 12"/>
          <p:cNvSpPr txBox="1"/>
          <p:nvPr/>
        </p:nvSpPr>
        <p:spPr>
          <a:xfrm>
            <a:off x="7391400" y="660400"/>
            <a:ext cx="3505200" cy="444500"/>
          </a:xfrm>
          <a:prstGeom prst="rect">
            <a:avLst/>
          </a:prstGeom>
        </p:spPr>
        <p:txBody>
          <a:bodyPr lIns="0" tIns="0" rIns="0" bIns="0" rtlCol="0" anchor="ctr"/>
          <a:lstStyle/>
          <a:p>
            <a:pPr lvl="0" algn="ctr">
              <a:lnSpc>
                <a:spcPct val="98770"/>
              </a:lnSpc>
            </a:pPr>
            <a:r>
              <a:rPr lang="en-US" sz="2500" b="0" i="0" u="none" strike="noStrike" dirty="0">
                <a:solidFill>
                  <a:srgbClr val="229BEE"/>
                </a:solidFill>
                <a:latin typeface="+mn-ea"/>
              </a:rPr>
              <a:t>CHAPTER </a:t>
            </a:r>
            <a:r>
              <a:rPr lang="en-US" sz="2500" b="0" i="0" u="none" strike="noStrike" dirty="0" smtClean="0">
                <a:solidFill>
                  <a:srgbClr val="229BEE"/>
                </a:solidFill>
                <a:latin typeface="+mn-ea"/>
              </a:rPr>
              <a:t>03</a:t>
            </a:r>
            <a:endParaRPr lang="en-US" sz="2500" b="0" i="0" u="none" strike="noStrike" dirty="0">
              <a:solidFill>
                <a:srgbClr val="229BEE"/>
              </a:solidFill>
              <a:latin typeface="+mn-ea"/>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29BEE"/>
        </a:solidFill>
        <a:effectLst/>
      </p:bgPr>
    </p:bg>
    <p:spTree>
      <p:nvGrpSpPr>
        <p:cNvPr id="1" name=""/>
        <p:cNvGrpSpPr/>
        <p:nvPr/>
      </p:nvGrpSpPr>
      <p:grpSpPr>
        <a:xfrm>
          <a:off x="0" y="0"/>
          <a:ext cx="0" cy="0"/>
          <a:chOff x="0" y="0"/>
          <a:chExt cx="0" cy="0"/>
        </a:xfrm>
      </p:grpSpPr>
      <p:pic>
        <p:nvPicPr>
          <p:cNvPr id="20" name="Picture 2"/>
          <p:cNvPicPr>
            <a:picLocks noChangeAspect="1"/>
          </p:cNvPicPr>
          <p:nvPr/>
        </p:nvPicPr>
        <p:blipFill>
          <a:blip r:embed="rId3" cstate="print"/>
          <a:stretch>
            <a:fillRect/>
          </a:stretch>
        </p:blipFill>
        <p:spPr>
          <a:xfrm>
            <a:off x="292100" y="292100"/>
            <a:ext cx="17716500" cy="9715500"/>
          </a:xfrm>
          <a:prstGeom prst="rect">
            <a:avLst/>
          </a:prstGeom>
        </p:spPr>
      </p:pic>
      <p:pic>
        <p:nvPicPr>
          <p:cNvPr id="3" name="Picture 3"/>
          <p:cNvPicPr>
            <a:picLocks noChangeAspect="1"/>
          </p:cNvPicPr>
          <p:nvPr/>
        </p:nvPicPr>
        <p:blipFill>
          <a:blip r:embed="rId4" cstate="print"/>
          <a:stretch>
            <a:fillRect/>
          </a:stretch>
        </p:blipFill>
        <p:spPr>
          <a:xfrm>
            <a:off x="1003300" y="2171700"/>
            <a:ext cx="16281400" cy="25400"/>
          </a:xfrm>
          <a:prstGeom prst="rect">
            <a:avLst/>
          </a:prstGeom>
        </p:spPr>
      </p:pic>
      <p:pic>
        <p:nvPicPr>
          <p:cNvPr id="4" name="Picture 4"/>
          <p:cNvPicPr>
            <a:picLocks noChangeAspect="1"/>
          </p:cNvPicPr>
          <p:nvPr/>
        </p:nvPicPr>
        <p:blipFill>
          <a:blip r:embed="rId5" cstate="print"/>
          <a:stretch>
            <a:fillRect/>
          </a:stretch>
        </p:blipFill>
        <p:spPr>
          <a:xfrm>
            <a:off x="16611600" y="0"/>
            <a:ext cx="673100" cy="965200"/>
          </a:xfrm>
          <a:prstGeom prst="rect">
            <a:avLst/>
          </a:prstGeom>
        </p:spPr>
      </p:pic>
      <p:sp>
        <p:nvSpPr>
          <p:cNvPr id="11" name="TextBox 11"/>
          <p:cNvSpPr txBox="1"/>
          <p:nvPr/>
        </p:nvSpPr>
        <p:spPr>
          <a:xfrm>
            <a:off x="2476500" y="876300"/>
            <a:ext cx="13335000" cy="1409700"/>
          </a:xfrm>
          <a:prstGeom prst="rect">
            <a:avLst/>
          </a:prstGeom>
        </p:spPr>
        <p:txBody>
          <a:bodyPr lIns="0" tIns="0" rIns="0" bIns="0" rtlCol="0" anchor="ctr"/>
          <a:lstStyle/>
          <a:p>
            <a:pPr lvl="0" algn="ctr">
              <a:lnSpc>
                <a:spcPct val="98770"/>
              </a:lnSpc>
            </a:pPr>
            <a:r>
              <a:rPr lang="en-US" altLang="ko-KR" sz="5400" dirty="0" smtClean="0">
                <a:solidFill>
                  <a:srgbClr val="4D4D4D"/>
                </a:solidFill>
                <a:latin typeface="Noto Sans KR Medium" pitchFamily="50" charset="-127"/>
                <a:ea typeface="Noto Sans KR Medium" pitchFamily="50" charset="-127"/>
              </a:rPr>
              <a:t>4.</a:t>
            </a:r>
            <a:r>
              <a:rPr lang="ko-KR" altLang="en-US" sz="5400" dirty="0" smtClean="0">
                <a:solidFill>
                  <a:srgbClr val="4D4D4D"/>
                </a:solidFill>
                <a:latin typeface="Noto Sans KR Medium" pitchFamily="50" charset="-127"/>
                <a:ea typeface="Noto Sans KR Medium" pitchFamily="50" charset="-127"/>
              </a:rPr>
              <a:t>원본 데이터 변환</a:t>
            </a:r>
            <a:endParaRPr lang="ko-KR" sz="5400" b="0" i="0" u="none" strike="noStrike" dirty="0">
              <a:solidFill>
                <a:srgbClr val="4D4D4D"/>
              </a:solidFill>
              <a:latin typeface="Noto Sans KR Medium" pitchFamily="50" charset="-127"/>
              <a:ea typeface="Noto Sans KR Medium" pitchFamily="50" charset="-127"/>
            </a:endParaRPr>
          </a:p>
        </p:txBody>
      </p:sp>
      <p:sp>
        <p:nvSpPr>
          <p:cNvPr id="9" name="TextBox 8">
            <a:extLst>
              <a:ext uri="{FF2B5EF4-FFF2-40B4-BE49-F238E27FC236}">
                <a16:creationId xmlns="" xmlns:a16="http://schemas.microsoft.com/office/drawing/2014/main" id="{9868D4D3-D354-8A4A-E870-E4A7DA56A02E}"/>
              </a:ext>
            </a:extLst>
          </p:cNvPr>
          <p:cNvSpPr txBox="1"/>
          <p:nvPr/>
        </p:nvSpPr>
        <p:spPr>
          <a:xfrm>
            <a:off x="990600" y="2476500"/>
            <a:ext cx="9144000" cy="430887"/>
          </a:xfrm>
          <a:prstGeom prst="rect">
            <a:avLst/>
          </a:prstGeom>
          <a:noFill/>
        </p:spPr>
        <p:txBody>
          <a:bodyPr wrap="square" rtlCol="0">
            <a:spAutoFit/>
          </a:bodyPr>
          <a:lstStyle/>
          <a:p>
            <a:r>
              <a:rPr lang="ko-KR" altLang="en-US" sz="2200" b="1" dirty="0" smtClean="0">
                <a:latin typeface="NanumBarunGothic Light" panose="020B0603020101020101" pitchFamily="34" charset="-127"/>
                <a:ea typeface="NanumBarunGothic Light" panose="020B0603020101020101" pitchFamily="34" charset="-127"/>
              </a:rPr>
              <a:t>계산된 주성분 점수와 표준화된 데이터의 상관관계</a:t>
            </a:r>
            <a:endParaRPr lang="en-US" altLang="ko-KR" sz="2200" b="1" dirty="0">
              <a:latin typeface="NanumBarunGothic Light" panose="020B0603020101020101" pitchFamily="34" charset="-127"/>
              <a:ea typeface="NanumBarunGothic Light" panose="020B0603020101020101" pitchFamily="34" charset="-127"/>
            </a:endParaRPr>
          </a:p>
        </p:txBody>
      </p:sp>
      <p:sp>
        <p:nvSpPr>
          <p:cNvPr id="19" name="TextBox 18">
            <a:extLst>
              <a:ext uri="{FF2B5EF4-FFF2-40B4-BE49-F238E27FC236}">
                <a16:creationId xmlns="" xmlns:a16="http://schemas.microsoft.com/office/drawing/2014/main" id="{6B6347B5-3E2E-502E-1BED-35445B94ECD0}"/>
              </a:ext>
            </a:extLst>
          </p:cNvPr>
          <p:cNvSpPr txBox="1"/>
          <p:nvPr/>
        </p:nvSpPr>
        <p:spPr>
          <a:xfrm>
            <a:off x="12420600" y="3086100"/>
            <a:ext cx="5103282" cy="461665"/>
          </a:xfrm>
          <a:prstGeom prst="rect">
            <a:avLst/>
          </a:prstGeom>
          <a:noFill/>
        </p:spPr>
        <p:txBody>
          <a:bodyPr wrap="square">
            <a:spAutoFit/>
          </a:bodyPr>
          <a:lstStyle/>
          <a:p>
            <a:pPr algn="r"/>
            <a:r>
              <a:rPr lang="en-US" altLang="ko-KR" sz="2400" dirty="0" smtClean="0">
                <a:latin typeface="NanumBarunGothic Light" panose="020B0603020101020101" pitchFamily="34" charset="-127"/>
                <a:ea typeface="NanumBarunGothic Light" panose="020B0603020101020101" pitchFamily="34" charset="-127"/>
              </a:rPr>
              <a:t>3</a:t>
            </a:r>
            <a:r>
              <a:rPr lang="en-US" altLang="ko-KR" sz="2400" dirty="0" smtClean="0">
                <a:effectLst/>
                <a:latin typeface="NanumBarunGothic Light" panose="020B0603020101020101" pitchFamily="34" charset="-127"/>
                <a:ea typeface="NanumBarunGothic Light" panose="020B0603020101020101" pitchFamily="34" charset="-127"/>
              </a:rPr>
              <a:t> </a:t>
            </a:r>
            <a:r>
              <a:rPr lang="en-US" altLang="ko-KR" sz="2400" dirty="0">
                <a:effectLst/>
                <a:latin typeface="NanumBarunGothic Light" panose="020B0603020101020101" pitchFamily="34" charset="-127"/>
                <a:ea typeface="NanumBarunGothic Light" panose="020B0603020101020101" pitchFamily="34" charset="-127"/>
              </a:rPr>
              <a:t>rows × </a:t>
            </a:r>
            <a:r>
              <a:rPr lang="en-US" altLang="ko-KR" sz="2400" dirty="0" smtClean="0">
                <a:latin typeface="NanumBarunGothic Light" panose="020B0603020101020101" pitchFamily="34" charset="-127"/>
                <a:ea typeface="NanumBarunGothic Light" panose="020B0603020101020101" pitchFamily="34" charset="-127"/>
              </a:rPr>
              <a:t>17</a:t>
            </a:r>
            <a:r>
              <a:rPr lang="en-US" altLang="ko-KR" sz="2400" dirty="0" smtClean="0">
                <a:effectLst/>
                <a:latin typeface="NanumBarunGothic Light" panose="020B0603020101020101" pitchFamily="34" charset="-127"/>
                <a:ea typeface="NanumBarunGothic Light" panose="020B0603020101020101" pitchFamily="34" charset="-127"/>
              </a:rPr>
              <a:t> </a:t>
            </a:r>
            <a:r>
              <a:rPr lang="en-US" altLang="ko-KR" sz="2400" dirty="0">
                <a:effectLst/>
                <a:latin typeface="NanumBarunGothic Light" panose="020B0603020101020101" pitchFamily="34" charset="-127"/>
                <a:ea typeface="NanumBarunGothic Light" panose="020B0603020101020101" pitchFamily="34" charset="-127"/>
              </a:rPr>
              <a:t>columns</a:t>
            </a:r>
            <a:endParaRPr lang="ko-KR" altLang="en-US" sz="2400" dirty="0">
              <a:latin typeface="NanumBarunGothic Light" panose="020B0603020101020101" pitchFamily="34" charset="-127"/>
              <a:ea typeface="NanumBarunGothic Light" panose="020B0603020101020101" pitchFamily="34" charset="-127"/>
            </a:endParaRPr>
          </a:p>
        </p:txBody>
      </p:sp>
      <p:sp>
        <p:nvSpPr>
          <p:cNvPr id="14" name="TextBox 12"/>
          <p:cNvSpPr txBox="1"/>
          <p:nvPr/>
        </p:nvSpPr>
        <p:spPr>
          <a:xfrm>
            <a:off x="7391400" y="660400"/>
            <a:ext cx="3505200" cy="444500"/>
          </a:xfrm>
          <a:prstGeom prst="rect">
            <a:avLst/>
          </a:prstGeom>
        </p:spPr>
        <p:txBody>
          <a:bodyPr lIns="0" tIns="0" rIns="0" bIns="0" rtlCol="0" anchor="ctr"/>
          <a:lstStyle/>
          <a:p>
            <a:pPr lvl="0" algn="ctr">
              <a:lnSpc>
                <a:spcPct val="98770"/>
              </a:lnSpc>
            </a:pPr>
            <a:r>
              <a:rPr lang="en-US" sz="2500" b="0" i="0" u="none" strike="noStrike" dirty="0">
                <a:solidFill>
                  <a:srgbClr val="229BEE"/>
                </a:solidFill>
                <a:latin typeface="+mn-ea"/>
              </a:rPr>
              <a:t>CHAPTER </a:t>
            </a:r>
            <a:r>
              <a:rPr lang="en-US" sz="2500" b="0" i="0" u="none" strike="noStrike" dirty="0" smtClean="0">
                <a:solidFill>
                  <a:srgbClr val="229BEE"/>
                </a:solidFill>
                <a:latin typeface="+mn-ea"/>
              </a:rPr>
              <a:t>03</a:t>
            </a:r>
            <a:endParaRPr lang="en-US" sz="2500" b="0" i="0" u="none" strike="noStrike" dirty="0">
              <a:solidFill>
                <a:srgbClr val="229BEE"/>
              </a:solidFill>
              <a:latin typeface="+mn-ea"/>
            </a:endParaRPr>
          </a:p>
        </p:txBody>
      </p:sp>
      <p:pic>
        <p:nvPicPr>
          <p:cNvPr id="1029" name="Picture 5"/>
          <p:cNvPicPr>
            <a:picLocks noChangeAspect="1" noChangeArrowheads="1"/>
          </p:cNvPicPr>
          <p:nvPr/>
        </p:nvPicPr>
        <p:blipFill>
          <a:blip r:embed="rId6" cstate="print"/>
          <a:srcRect/>
          <a:stretch>
            <a:fillRect/>
          </a:stretch>
        </p:blipFill>
        <p:spPr bwMode="auto">
          <a:xfrm>
            <a:off x="1066800" y="3009900"/>
            <a:ext cx="2468880" cy="533400"/>
          </a:xfrm>
          <a:prstGeom prst="rect">
            <a:avLst/>
          </a:prstGeom>
          <a:noFill/>
          <a:ln w="9525">
            <a:noFill/>
            <a:miter lim="800000"/>
            <a:headEnd/>
            <a:tailEnd/>
          </a:ln>
          <a:effectLst/>
        </p:spPr>
      </p:pic>
      <p:pic>
        <p:nvPicPr>
          <p:cNvPr id="1030" name="Picture 6"/>
          <p:cNvPicPr>
            <a:picLocks noChangeAspect="1" noChangeArrowheads="1"/>
          </p:cNvPicPr>
          <p:nvPr/>
        </p:nvPicPr>
        <p:blipFill>
          <a:blip r:embed="rId7" cstate="print"/>
          <a:srcRect/>
          <a:stretch>
            <a:fillRect/>
          </a:stretch>
        </p:blipFill>
        <p:spPr bwMode="auto">
          <a:xfrm>
            <a:off x="990600" y="3619500"/>
            <a:ext cx="16508225" cy="1295400"/>
          </a:xfrm>
          <a:prstGeom prst="rect">
            <a:avLst/>
          </a:prstGeom>
          <a:noFill/>
          <a:ln w="9525">
            <a:noFill/>
            <a:miter lim="800000"/>
            <a:headEnd/>
            <a:tailEnd/>
          </a:ln>
          <a:effectLst/>
        </p:spPr>
      </p:pic>
      <p:sp>
        <p:nvSpPr>
          <p:cNvPr id="17" name="TextBox 16">
            <a:extLst>
              <a:ext uri="{FF2B5EF4-FFF2-40B4-BE49-F238E27FC236}">
                <a16:creationId xmlns="" xmlns:a16="http://schemas.microsoft.com/office/drawing/2014/main" id="{9868D4D3-D354-8A4A-E870-E4A7DA56A02E}"/>
              </a:ext>
            </a:extLst>
          </p:cNvPr>
          <p:cNvSpPr txBox="1"/>
          <p:nvPr/>
        </p:nvSpPr>
        <p:spPr>
          <a:xfrm>
            <a:off x="990600" y="5524500"/>
            <a:ext cx="2590800" cy="430887"/>
          </a:xfrm>
          <a:prstGeom prst="rect">
            <a:avLst/>
          </a:prstGeom>
          <a:noFill/>
        </p:spPr>
        <p:txBody>
          <a:bodyPr wrap="square" rtlCol="0">
            <a:spAutoFit/>
          </a:bodyPr>
          <a:lstStyle/>
          <a:p>
            <a:r>
              <a:rPr lang="ko-KR" altLang="en-US" sz="2200" b="1" dirty="0" smtClean="0">
                <a:latin typeface="NanumBarunGothic Light" panose="020B0603020101020101" pitchFamily="34" charset="-127"/>
                <a:ea typeface="NanumBarunGothic Light" panose="020B0603020101020101" pitchFamily="34" charset="-127"/>
              </a:rPr>
              <a:t>고유벡터 재정의</a:t>
            </a:r>
            <a:endParaRPr lang="en-US" altLang="ko-KR" sz="2200" b="1" dirty="0">
              <a:latin typeface="NanumBarunGothic Light" panose="020B0603020101020101" pitchFamily="34" charset="-127"/>
              <a:ea typeface="NanumBarunGothic Light" panose="020B0603020101020101" pitchFamily="34" charset="-127"/>
            </a:endParaRPr>
          </a:p>
        </p:txBody>
      </p:sp>
      <p:pic>
        <p:nvPicPr>
          <p:cNvPr id="1031" name="Picture 7"/>
          <p:cNvPicPr>
            <a:picLocks noChangeAspect="1" noChangeArrowheads="1"/>
          </p:cNvPicPr>
          <p:nvPr/>
        </p:nvPicPr>
        <p:blipFill>
          <a:blip r:embed="rId8" cstate="print"/>
          <a:srcRect/>
          <a:stretch>
            <a:fillRect/>
          </a:stretch>
        </p:blipFill>
        <p:spPr bwMode="auto">
          <a:xfrm>
            <a:off x="914400" y="5981700"/>
            <a:ext cx="4876800" cy="1295400"/>
          </a:xfrm>
          <a:prstGeom prst="rect">
            <a:avLst/>
          </a:prstGeom>
          <a:noFill/>
          <a:ln w="9525">
            <a:noFill/>
            <a:miter lim="800000"/>
            <a:headEnd/>
            <a:tailEnd/>
          </a:ln>
          <a:effectLst/>
        </p:spPr>
      </p:pic>
      <p:sp>
        <p:nvSpPr>
          <p:cNvPr id="22" name="TextBox 21">
            <a:extLst>
              <a:ext uri="{FF2B5EF4-FFF2-40B4-BE49-F238E27FC236}">
                <a16:creationId xmlns="" xmlns:a16="http://schemas.microsoft.com/office/drawing/2014/main" id="{9868D4D3-D354-8A4A-E870-E4A7DA56A02E}"/>
              </a:ext>
            </a:extLst>
          </p:cNvPr>
          <p:cNvSpPr txBox="1"/>
          <p:nvPr/>
        </p:nvSpPr>
        <p:spPr>
          <a:xfrm>
            <a:off x="914400" y="4991100"/>
            <a:ext cx="2438400" cy="461665"/>
          </a:xfrm>
          <a:prstGeom prst="rect">
            <a:avLst/>
          </a:prstGeom>
          <a:noFill/>
        </p:spPr>
        <p:txBody>
          <a:bodyPr wrap="square" rtlCol="0">
            <a:spAutoFit/>
          </a:bodyPr>
          <a:lstStyle/>
          <a:p>
            <a:r>
              <a:rPr lang="en-US" altLang="ko-KR" sz="2400" dirty="0" smtClean="0"/>
              <a:t>=&gt;</a:t>
            </a:r>
            <a:r>
              <a:rPr lang="ko-KR" altLang="en-US" sz="2400" dirty="0" smtClean="0"/>
              <a:t>음의 상관관계</a:t>
            </a:r>
            <a:endParaRPr lang="en-US" altLang="ko-KR" sz="2200" dirty="0">
              <a:latin typeface="NanumBarunGothic Light" panose="020B0603020101020101" pitchFamily="34" charset="-127"/>
              <a:ea typeface="NanumBarunGothic Light" panose="020B0603020101020101" pitchFamily="34" charset="-127"/>
            </a:endParaRPr>
          </a:p>
        </p:txBody>
      </p:sp>
      <p:pic>
        <p:nvPicPr>
          <p:cNvPr id="1032" name="Picture 8"/>
          <p:cNvPicPr>
            <a:picLocks noChangeAspect="1" noChangeArrowheads="1"/>
          </p:cNvPicPr>
          <p:nvPr/>
        </p:nvPicPr>
        <p:blipFill>
          <a:blip r:embed="rId9" cstate="print"/>
          <a:srcRect/>
          <a:stretch>
            <a:fillRect/>
          </a:stretch>
        </p:blipFill>
        <p:spPr bwMode="auto">
          <a:xfrm>
            <a:off x="5791200" y="4991100"/>
            <a:ext cx="3276600" cy="4953000"/>
          </a:xfrm>
          <a:prstGeom prst="rect">
            <a:avLst/>
          </a:prstGeom>
          <a:noFill/>
          <a:ln w="9525">
            <a:noFill/>
            <a:miter lim="800000"/>
            <a:headEnd/>
            <a:tailEnd/>
          </a:ln>
          <a:effectLst/>
        </p:spPr>
      </p:pic>
      <p:pic>
        <p:nvPicPr>
          <p:cNvPr id="1033" name="Picture 9"/>
          <p:cNvPicPr>
            <a:picLocks noChangeAspect="1" noChangeArrowheads="1"/>
          </p:cNvPicPr>
          <p:nvPr/>
        </p:nvPicPr>
        <p:blipFill>
          <a:blip r:embed="rId10" cstate="print"/>
          <a:srcRect/>
          <a:stretch>
            <a:fillRect/>
          </a:stretch>
        </p:blipFill>
        <p:spPr bwMode="auto">
          <a:xfrm>
            <a:off x="9144000" y="6057900"/>
            <a:ext cx="2057400" cy="908462"/>
          </a:xfrm>
          <a:prstGeom prst="rect">
            <a:avLst/>
          </a:prstGeom>
          <a:noFill/>
          <a:ln w="9525">
            <a:noFill/>
            <a:miter lim="800000"/>
            <a:headEnd/>
            <a:tailEnd/>
          </a:ln>
          <a:effectLst/>
        </p:spPr>
      </p:pic>
      <p:sp>
        <p:nvSpPr>
          <p:cNvPr id="24" name="TextBox 23">
            <a:extLst>
              <a:ext uri="{FF2B5EF4-FFF2-40B4-BE49-F238E27FC236}">
                <a16:creationId xmlns="" xmlns:a16="http://schemas.microsoft.com/office/drawing/2014/main" id="{9868D4D3-D354-8A4A-E870-E4A7DA56A02E}"/>
              </a:ext>
            </a:extLst>
          </p:cNvPr>
          <p:cNvSpPr txBox="1"/>
          <p:nvPr/>
        </p:nvSpPr>
        <p:spPr>
          <a:xfrm>
            <a:off x="9067800" y="5524500"/>
            <a:ext cx="2590800" cy="430887"/>
          </a:xfrm>
          <a:prstGeom prst="rect">
            <a:avLst/>
          </a:prstGeom>
          <a:noFill/>
        </p:spPr>
        <p:txBody>
          <a:bodyPr wrap="square" rtlCol="0">
            <a:spAutoFit/>
          </a:bodyPr>
          <a:lstStyle/>
          <a:p>
            <a:r>
              <a:rPr lang="ko-KR" altLang="en-US" sz="2200" b="1" dirty="0" smtClean="0">
                <a:latin typeface="NanumBarunGothic Light" panose="020B0603020101020101" pitchFamily="34" charset="-127"/>
                <a:ea typeface="NanumBarunGothic Light" panose="020B0603020101020101" pitchFamily="34" charset="-127"/>
              </a:rPr>
              <a:t>주성분점수 재정의</a:t>
            </a:r>
            <a:endParaRPr lang="en-US" altLang="ko-KR" sz="2200" b="1" dirty="0">
              <a:latin typeface="NanumBarunGothic Light" panose="020B0603020101020101" pitchFamily="34" charset="-127"/>
              <a:ea typeface="NanumBarunGothic Light" panose="020B0603020101020101" pitchFamily="34" charset="-127"/>
            </a:endParaRPr>
          </a:p>
        </p:txBody>
      </p:sp>
      <p:sp>
        <p:nvSpPr>
          <p:cNvPr id="26" name="TextBox 25">
            <a:extLst>
              <a:ext uri="{FF2B5EF4-FFF2-40B4-BE49-F238E27FC236}">
                <a16:creationId xmlns="" xmlns:a16="http://schemas.microsoft.com/office/drawing/2014/main" id="{6B6347B5-3E2E-502E-1BED-35445B94ECD0}"/>
              </a:ext>
            </a:extLst>
          </p:cNvPr>
          <p:cNvSpPr txBox="1"/>
          <p:nvPr/>
        </p:nvSpPr>
        <p:spPr>
          <a:xfrm>
            <a:off x="15468600" y="9486900"/>
            <a:ext cx="2512482" cy="461665"/>
          </a:xfrm>
          <a:prstGeom prst="rect">
            <a:avLst/>
          </a:prstGeom>
          <a:noFill/>
        </p:spPr>
        <p:txBody>
          <a:bodyPr wrap="square">
            <a:spAutoFit/>
          </a:bodyPr>
          <a:lstStyle/>
          <a:p>
            <a:pPr algn="r"/>
            <a:r>
              <a:rPr lang="en-US" altLang="ko-KR" sz="2400" dirty="0" smtClean="0">
                <a:latin typeface="NanumBarunGothic Light" panose="020B0603020101020101" pitchFamily="34" charset="-127"/>
                <a:ea typeface="NanumBarunGothic Light" panose="020B0603020101020101" pitchFamily="34" charset="-127"/>
              </a:rPr>
              <a:t>211rows</a:t>
            </a:r>
            <a:r>
              <a:rPr lang="en-US" altLang="ko-KR" sz="2400" dirty="0" smtClean="0">
                <a:effectLst/>
                <a:latin typeface="NanumBarunGothic Light" panose="020B0603020101020101" pitchFamily="34" charset="-127"/>
                <a:ea typeface="NanumBarunGothic Light" panose="020B0603020101020101" pitchFamily="34" charset="-127"/>
              </a:rPr>
              <a:t> </a:t>
            </a:r>
            <a:r>
              <a:rPr lang="en-US" altLang="ko-KR" sz="2400" dirty="0">
                <a:effectLst/>
                <a:latin typeface="NanumBarunGothic Light" panose="020B0603020101020101" pitchFamily="34" charset="-127"/>
                <a:ea typeface="NanumBarunGothic Light" panose="020B0603020101020101" pitchFamily="34" charset="-127"/>
              </a:rPr>
              <a:t>× </a:t>
            </a:r>
            <a:r>
              <a:rPr lang="en-US" altLang="ko-KR" sz="2400" dirty="0" smtClean="0">
                <a:latin typeface="NanumBarunGothic Light" panose="020B0603020101020101" pitchFamily="34" charset="-127"/>
                <a:ea typeface="NanumBarunGothic Light" panose="020B0603020101020101" pitchFamily="34" charset="-127"/>
              </a:rPr>
              <a:t>3</a:t>
            </a:r>
            <a:r>
              <a:rPr lang="en-US" altLang="ko-KR" sz="2400" dirty="0" smtClean="0">
                <a:effectLst/>
                <a:latin typeface="NanumBarunGothic Light" panose="020B0603020101020101" pitchFamily="34" charset="-127"/>
                <a:ea typeface="NanumBarunGothic Light" panose="020B0603020101020101" pitchFamily="34" charset="-127"/>
              </a:rPr>
              <a:t> </a:t>
            </a:r>
            <a:r>
              <a:rPr lang="en-US" altLang="ko-KR" sz="2400" dirty="0" err="1" smtClean="0">
                <a:effectLst/>
                <a:latin typeface="NanumBarunGothic Light" panose="020B0603020101020101" pitchFamily="34" charset="-127"/>
                <a:ea typeface="NanumBarunGothic Light" panose="020B0603020101020101" pitchFamily="34" charset="-127"/>
              </a:rPr>
              <a:t>col</a:t>
            </a:r>
            <a:endParaRPr lang="ko-KR" altLang="en-US" sz="2400" dirty="0">
              <a:latin typeface="NanumBarunGothic Light" panose="020B0603020101020101" pitchFamily="34" charset="-127"/>
              <a:ea typeface="NanumBarunGothic Light" panose="020B0603020101020101" pitchFamily="34" charset="-127"/>
            </a:endParaRPr>
          </a:p>
        </p:txBody>
      </p:sp>
      <p:pic>
        <p:nvPicPr>
          <p:cNvPr id="1037" name="Picture 13"/>
          <p:cNvPicPr>
            <a:picLocks noChangeAspect="1" noChangeArrowheads="1"/>
          </p:cNvPicPr>
          <p:nvPr/>
        </p:nvPicPr>
        <p:blipFill>
          <a:blip r:embed="rId11" cstate="print"/>
          <a:srcRect/>
          <a:stretch>
            <a:fillRect/>
          </a:stretch>
        </p:blipFill>
        <p:spPr bwMode="auto">
          <a:xfrm>
            <a:off x="11506200" y="4991100"/>
            <a:ext cx="4038600" cy="498887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29BEE"/>
        </a:solidFill>
        <a:effectLst/>
      </p:bgPr>
    </p:bg>
    <p:spTree>
      <p:nvGrpSpPr>
        <p:cNvPr id="1" name=""/>
        <p:cNvGrpSpPr/>
        <p:nvPr/>
      </p:nvGrpSpPr>
      <p:grpSpPr>
        <a:xfrm>
          <a:off x="0" y="0"/>
          <a:ext cx="0" cy="0"/>
          <a:chOff x="0" y="0"/>
          <a:chExt cx="0" cy="0"/>
        </a:xfrm>
      </p:grpSpPr>
      <p:pic>
        <p:nvPicPr>
          <p:cNvPr id="23" name="Picture 2"/>
          <p:cNvPicPr>
            <a:picLocks noChangeAspect="1"/>
          </p:cNvPicPr>
          <p:nvPr/>
        </p:nvPicPr>
        <p:blipFill>
          <a:blip r:embed="rId2" cstate="print"/>
          <a:stretch>
            <a:fillRect/>
          </a:stretch>
        </p:blipFill>
        <p:spPr>
          <a:xfrm>
            <a:off x="292100" y="292100"/>
            <a:ext cx="17716500" cy="9715500"/>
          </a:xfrm>
          <a:prstGeom prst="rect">
            <a:avLst/>
          </a:prstGeom>
        </p:spPr>
      </p:pic>
      <p:pic>
        <p:nvPicPr>
          <p:cNvPr id="3" name="Picture 3"/>
          <p:cNvPicPr>
            <a:picLocks noChangeAspect="1"/>
          </p:cNvPicPr>
          <p:nvPr/>
        </p:nvPicPr>
        <p:blipFill>
          <a:blip r:embed="rId3" cstate="print"/>
          <a:stretch>
            <a:fillRect/>
          </a:stretch>
        </p:blipFill>
        <p:spPr>
          <a:xfrm>
            <a:off x="1003300" y="2171700"/>
            <a:ext cx="16281400" cy="25400"/>
          </a:xfrm>
          <a:prstGeom prst="rect">
            <a:avLst/>
          </a:prstGeom>
        </p:spPr>
      </p:pic>
      <p:pic>
        <p:nvPicPr>
          <p:cNvPr id="4" name="Picture 4"/>
          <p:cNvPicPr>
            <a:picLocks noChangeAspect="1"/>
          </p:cNvPicPr>
          <p:nvPr/>
        </p:nvPicPr>
        <p:blipFill>
          <a:blip r:embed="rId4" cstate="print"/>
          <a:stretch>
            <a:fillRect/>
          </a:stretch>
        </p:blipFill>
        <p:spPr>
          <a:xfrm>
            <a:off x="16611600" y="0"/>
            <a:ext cx="673100" cy="965200"/>
          </a:xfrm>
          <a:prstGeom prst="rect">
            <a:avLst/>
          </a:prstGeom>
        </p:spPr>
      </p:pic>
      <p:sp>
        <p:nvSpPr>
          <p:cNvPr id="14" name="내용 개체 틀 2">
            <a:extLst>
              <a:ext uri="{FF2B5EF4-FFF2-40B4-BE49-F238E27FC236}">
                <a16:creationId xmlns="" xmlns:a16="http://schemas.microsoft.com/office/drawing/2014/main" id="{355A219D-5239-41A0-B442-2565DCF038E5}"/>
              </a:ext>
            </a:extLst>
          </p:cNvPr>
          <p:cNvSpPr txBox="1">
            <a:spLocks/>
          </p:cNvSpPr>
          <p:nvPr/>
        </p:nvSpPr>
        <p:spPr>
          <a:xfrm>
            <a:off x="1295400" y="2705100"/>
            <a:ext cx="15849600" cy="7162800"/>
          </a:xfrm>
          <a:prstGeom prst="rect">
            <a:avLst/>
          </a:prstGeom>
        </p:spPr>
        <p:txBody>
          <a:bodyPr>
            <a:normAutofit/>
          </a:bodyPr>
          <a:lstStyle/>
          <a:p>
            <a:r>
              <a:rPr lang="ko-KR" altLang="en-US" sz="2800" dirty="0" smtClean="0"/>
              <a:t>＜</a:t>
            </a:r>
            <a:r>
              <a:rPr lang="ko-KR" altLang="en-US" sz="2800" b="1" dirty="0" smtClean="0"/>
              <a:t>정의＞</a:t>
            </a:r>
            <a:r>
              <a:rPr lang="ko-KR" altLang="en-US" sz="2800" dirty="0" smtClean="0"/>
              <a:t/>
            </a:r>
            <a:br>
              <a:rPr lang="ko-KR" altLang="en-US" sz="2800" dirty="0" smtClean="0"/>
            </a:br>
            <a:r>
              <a:rPr lang="ko-KR" altLang="en-US" sz="2800" dirty="0" smtClean="0"/>
              <a:t>→ 주성분 분석</a:t>
            </a:r>
            <a:r>
              <a:rPr lang="en-US" altLang="ko-KR" sz="2800" dirty="0" smtClean="0"/>
              <a:t>(PCA)</a:t>
            </a:r>
            <a:r>
              <a:rPr lang="ko-KR" altLang="en-US" sz="2800" dirty="0" smtClean="0"/>
              <a:t>에서 각 변수가 주성분에 얼마나 기여하는지 나타내는 계수</a:t>
            </a:r>
            <a:endParaRPr lang="en-US" altLang="ko-KR" sz="2800" dirty="0" smtClean="0"/>
          </a:p>
          <a:p>
            <a:endParaRPr lang="ko-KR" altLang="en-US" sz="2800" dirty="0" smtClean="0"/>
          </a:p>
          <a:p>
            <a:r>
              <a:rPr lang="ko-KR" altLang="en-US" sz="2800" dirty="0" smtClean="0"/>
              <a:t>＜</a:t>
            </a:r>
            <a:r>
              <a:rPr lang="ko-KR" altLang="en-US" sz="2800" b="1" dirty="0" err="1" smtClean="0"/>
              <a:t>적재값으로</a:t>
            </a:r>
            <a:r>
              <a:rPr lang="ko-KR" altLang="en-US" sz="2800" b="1" dirty="0" smtClean="0"/>
              <a:t> 알 수 있는 것＞</a:t>
            </a:r>
            <a:r>
              <a:rPr lang="ko-KR" altLang="en-US" sz="2800" dirty="0" smtClean="0"/>
              <a:t/>
            </a:r>
            <a:br>
              <a:rPr lang="ko-KR" altLang="en-US" sz="2800" dirty="0" smtClean="0"/>
            </a:br>
            <a:r>
              <a:rPr lang="ko-KR" altLang="en-US" sz="2800" b="1" dirty="0" smtClean="0"/>
              <a:t>１）변수의 영향력과　해석</a:t>
            </a:r>
            <a:r>
              <a:rPr lang="ko-KR" altLang="en-US" sz="2800" dirty="0" smtClean="0"/>
              <a:t/>
            </a:r>
            <a:br>
              <a:rPr lang="ko-KR" altLang="en-US" sz="2800" dirty="0" smtClean="0"/>
            </a:br>
            <a:r>
              <a:rPr lang="ko-KR" altLang="en-US" sz="2800" dirty="0" smtClean="0"/>
              <a:t>→ </a:t>
            </a:r>
            <a:r>
              <a:rPr lang="ko-KR" altLang="en-US" sz="2800" dirty="0" err="1" smtClean="0"/>
              <a:t>적재값의</a:t>
            </a:r>
            <a:r>
              <a:rPr lang="ko-KR" altLang="en-US" sz="2800" dirty="0" smtClean="0"/>
              <a:t>　절댓값이 클수록 해당 변수는 주성분에 더 큰 영향</a:t>
            </a:r>
          </a:p>
          <a:p>
            <a:r>
              <a:rPr lang="ko-KR" altLang="en-US" sz="2800" b="1" dirty="0" smtClean="0"/>
              <a:t> ２）주성분 해석</a:t>
            </a:r>
            <a:r>
              <a:rPr lang="ko-KR" altLang="en-US" sz="2800" dirty="0" smtClean="0"/>
              <a:t/>
            </a:r>
            <a:br>
              <a:rPr lang="ko-KR" altLang="en-US" sz="2800" dirty="0" smtClean="0"/>
            </a:br>
            <a:r>
              <a:rPr lang="ko-KR" altLang="en-US" sz="2800" dirty="0" smtClean="0"/>
              <a:t>→ </a:t>
            </a:r>
            <a:r>
              <a:rPr lang="ko-KR" altLang="en-US" sz="2800" dirty="0" err="1" smtClean="0"/>
              <a:t>적재값의</a:t>
            </a:r>
            <a:r>
              <a:rPr lang="ko-KR" altLang="en-US" sz="2800" dirty="0" smtClean="0"/>
              <a:t>　절댓값이 높은 변수를　통해　해당 주성분이 어떤 특성을 설명하는지 알 수 있음</a:t>
            </a:r>
          </a:p>
          <a:p>
            <a:r>
              <a:rPr lang="ko-KR" altLang="en-US" sz="2800" dirty="0" smtClean="0"/>
              <a:t> </a:t>
            </a:r>
            <a:r>
              <a:rPr lang="ko-KR" altLang="en-US" sz="2800" b="1" dirty="0" smtClean="0"/>
              <a:t>３）</a:t>
            </a:r>
            <a:r>
              <a:rPr lang="ko-KR" altLang="en-US" sz="2800" b="1" dirty="0" err="1" smtClean="0"/>
              <a:t>적재값</a:t>
            </a:r>
            <a:r>
              <a:rPr lang="ko-KR" altLang="en-US" sz="2800" b="1" dirty="0" smtClean="0"/>
              <a:t> 부호 해석 가능</a:t>
            </a:r>
            <a:r>
              <a:rPr lang="ko-KR" altLang="en-US" sz="2800" dirty="0" smtClean="0"/>
              <a:t/>
            </a:r>
            <a:br>
              <a:rPr lang="ko-KR" altLang="en-US" sz="2800" dirty="0" smtClean="0"/>
            </a:br>
            <a:r>
              <a:rPr lang="ko-KR" altLang="en-US" sz="2800" dirty="0" smtClean="0"/>
              <a:t>→ 양수</a:t>
            </a:r>
            <a:r>
              <a:rPr lang="en-US" altLang="ko-KR" sz="2800" dirty="0" smtClean="0"/>
              <a:t>(+) </a:t>
            </a:r>
            <a:r>
              <a:rPr lang="ko-KR" altLang="en-US" sz="2800" dirty="0" smtClean="0"/>
              <a:t>：</a:t>
            </a:r>
            <a:r>
              <a:rPr lang="en-US" altLang="ko-KR" sz="2800" dirty="0" smtClean="0"/>
              <a:t> </a:t>
            </a:r>
            <a:r>
              <a:rPr lang="ko-KR" altLang="en-US" sz="2800" dirty="0" smtClean="0"/>
              <a:t>주성분과 같은 방향으로 증가</a:t>
            </a:r>
            <a:br>
              <a:rPr lang="ko-KR" altLang="en-US" sz="2800" dirty="0" smtClean="0"/>
            </a:br>
            <a:r>
              <a:rPr lang="ko-KR" altLang="en-US" sz="2800" dirty="0" smtClean="0"/>
              <a:t>→ 음수</a:t>
            </a:r>
            <a:r>
              <a:rPr lang="en-US" altLang="ko-KR" sz="2800" dirty="0" smtClean="0"/>
              <a:t>(-) </a:t>
            </a:r>
            <a:r>
              <a:rPr lang="ko-KR" altLang="en-US" sz="2800" dirty="0" smtClean="0"/>
              <a:t>：주성분과 반대 방향으로 변화</a:t>
            </a:r>
            <a:endParaRPr lang="en-US" altLang="ko-KR" sz="2800" dirty="0" smtClean="0"/>
          </a:p>
          <a:p>
            <a:endParaRPr lang="en-US" altLang="ko-KR" sz="2800" b="1" dirty="0" smtClean="0"/>
          </a:p>
          <a:p>
            <a:r>
              <a:rPr lang="ko-KR" altLang="en-US" sz="2800" b="1" dirty="0" smtClean="0"/>
              <a:t>＜고유벡터와　비교＞</a:t>
            </a:r>
            <a:endParaRPr lang="en-US" altLang="ko-KR" sz="2800" b="1" dirty="0" smtClean="0"/>
          </a:p>
          <a:p>
            <a:r>
              <a:rPr lang="ko-KR" altLang="en-US" sz="2800" dirty="0" smtClean="0"/>
              <a:t>→ 주성분 </a:t>
            </a:r>
            <a:r>
              <a:rPr lang="ko-KR" altLang="en-US" sz="2800" dirty="0" err="1" smtClean="0"/>
              <a:t>적재값과</a:t>
            </a:r>
            <a:r>
              <a:rPr lang="ko-KR" altLang="en-US" sz="2800" dirty="0" smtClean="0"/>
              <a:t> 고유벡터는 크기</a:t>
            </a:r>
            <a:r>
              <a:rPr lang="en-US" altLang="ko-KR" sz="2800" dirty="0" smtClean="0"/>
              <a:t>(</a:t>
            </a:r>
            <a:r>
              <a:rPr lang="ko-KR" altLang="en-US" sz="2800" dirty="0" smtClean="0"/>
              <a:t>비율</a:t>
            </a:r>
            <a:r>
              <a:rPr lang="en-US" altLang="ko-KR" sz="2800" dirty="0" smtClean="0"/>
              <a:t>)</a:t>
            </a:r>
            <a:r>
              <a:rPr lang="ko-KR" altLang="en-US" sz="2800" dirty="0" smtClean="0"/>
              <a:t>는 같지만，</a:t>
            </a:r>
            <a:endParaRPr lang="en-US" altLang="ko-KR" sz="2800" dirty="0" smtClean="0"/>
          </a:p>
          <a:p>
            <a:r>
              <a:rPr lang="ko-KR" altLang="en-US" sz="2800" dirty="0" smtClean="0"/>
              <a:t>계산 방법</a:t>
            </a:r>
            <a:r>
              <a:rPr lang="en-US" altLang="ko-KR" sz="2800" dirty="0" smtClean="0"/>
              <a:t>(</a:t>
            </a:r>
            <a:r>
              <a:rPr lang="en-US" altLang="ko-KR" sz="2800" dirty="0" err="1" smtClean="0"/>
              <a:t>eigen</a:t>
            </a:r>
            <a:r>
              <a:rPr lang="en-US" altLang="ko-KR" sz="2800" dirty="0" smtClean="0"/>
              <a:t> </a:t>
            </a:r>
            <a:r>
              <a:rPr lang="en-US" altLang="ko-KR" sz="2800" dirty="0" err="1" smtClean="0"/>
              <a:t>vs</a:t>
            </a:r>
            <a:r>
              <a:rPr lang="en-US" altLang="ko-KR" sz="2800" dirty="0" smtClean="0"/>
              <a:t> </a:t>
            </a:r>
            <a:r>
              <a:rPr lang="en-US" altLang="ko-KR" sz="2800" dirty="0" err="1" smtClean="0"/>
              <a:t>prcomp</a:t>
            </a:r>
            <a:r>
              <a:rPr lang="en-US" altLang="ko-KR" sz="2800" dirty="0" smtClean="0"/>
              <a:t>, SVD </a:t>
            </a:r>
            <a:r>
              <a:rPr lang="ko-KR" altLang="en-US" sz="2800" dirty="0" smtClean="0"/>
              <a:t>사용 여부</a:t>
            </a:r>
            <a:r>
              <a:rPr lang="en-US" altLang="ko-KR" sz="2800" dirty="0" smtClean="0"/>
              <a:t>)</a:t>
            </a:r>
            <a:r>
              <a:rPr lang="ko-KR" altLang="en-US" sz="2800" dirty="0" smtClean="0"/>
              <a:t>에 따라　부호는 다를 수도 있음</a:t>
            </a:r>
            <a:endParaRPr lang="en-US" altLang="ko-KR" sz="2800" dirty="0" smtClean="0"/>
          </a:p>
        </p:txBody>
      </p:sp>
      <p:sp>
        <p:nvSpPr>
          <p:cNvPr id="9" name="TextBox 11"/>
          <p:cNvSpPr txBox="1"/>
          <p:nvPr/>
        </p:nvSpPr>
        <p:spPr>
          <a:xfrm>
            <a:off x="2476500" y="876300"/>
            <a:ext cx="13335000" cy="1409700"/>
          </a:xfrm>
          <a:prstGeom prst="rect">
            <a:avLst/>
          </a:prstGeom>
        </p:spPr>
        <p:txBody>
          <a:bodyPr lIns="0" tIns="0" rIns="0" bIns="0" rtlCol="0" anchor="ctr"/>
          <a:lstStyle/>
          <a:p>
            <a:pPr lvl="0" algn="ctr">
              <a:lnSpc>
                <a:spcPct val="98770"/>
              </a:lnSpc>
            </a:pPr>
            <a:r>
              <a:rPr lang="ko-KR" altLang="en-US" sz="5400" dirty="0" smtClean="0">
                <a:solidFill>
                  <a:srgbClr val="4D4D4D"/>
                </a:solidFill>
                <a:latin typeface="Noto Sans KR Medium" pitchFamily="50" charset="-127"/>
                <a:ea typeface="Noto Sans KR Medium" pitchFamily="50" charset="-127"/>
              </a:rPr>
              <a:t>주성분 </a:t>
            </a:r>
            <a:r>
              <a:rPr lang="ko-KR" altLang="en-US" sz="5400" dirty="0" err="1" smtClean="0">
                <a:solidFill>
                  <a:srgbClr val="4D4D4D"/>
                </a:solidFill>
                <a:latin typeface="Noto Sans KR Medium" pitchFamily="50" charset="-127"/>
                <a:ea typeface="Noto Sans KR Medium" pitchFamily="50" charset="-127"/>
              </a:rPr>
              <a:t>적재값</a:t>
            </a:r>
            <a:endParaRPr lang="ko-KR" sz="5400" b="0" i="0" u="none" strike="noStrike" dirty="0">
              <a:solidFill>
                <a:srgbClr val="4D4D4D"/>
              </a:solidFill>
              <a:latin typeface="Noto Sans KR Medium" pitchFamily="50" charset="-127"/>
              <a:ea typeface="Noto Sans KR Medium" pitchFamily="50" charset="-127"/>
            </a:endParaRPr>
          </a:p>
        </p:txBody>
      </p:sp>
      <p:sp>
        <p:nvSpPr>
          <p:cNvPr id="10" name="TextBox 12"/>
          <p:cNvSpPr txBox="1"/>
          <p:nvPr/>
        </p:nvSpPr>
        <p:spPr>
          <a:xfrm>
            <a:off x="7391400" y="660400"/>
            <a:ext cx="3505200" cy="444500"/>
          </a:xfrm>
          <a:prstGeom prst="rect">
            <a:avLst/>
          </a:prstGeom>
        </p:spPr>
        <p:txBody>
          <a:bodyPr lIns="0" tIns="0" rIns="0" bIns="0" rtlCol="0" anchor="ctr"/>
          <a:lstStyle/>
          <a:p>
            <a:pPr lvl="0" algn="ctr">
              <a:lnSpc>
                <a:spcPct val="98770"/>
              </a:lnSpc>
            </a:pPr>
            <a:r>
              <a:rPr lang="en-US" sz="2500" b="0" i="0" u="none" strike="noStrike" dirty="0">
                <a:solidFill>
                  <a:srgbClr val="229BEE"/>
                </a:solidFill>
                <a:latin typeface="+mn-ea"/>
              </a:rPr>
              <a:t>CHAPTER </a:t>
            </a:r>
            <a:r>
              <a:rPr lang="en-US" sz="2500" b="0" i="0" u="none" strike="noStrike" dirty="0" smtClean="0">
                <a:solidFill>
                  <a:srgbClr val="229BEE"/>
                </a:solidFill>
                <a:latin typeface="+mn-ea"/>
              </a:rPr>
              <a:t>03</a:t>
            </a:r>
            <a:endParaRPr lang="en-US" sz="2500" b="0" i="0" u="none" strike="noStrike" dirty="0">
              <a:solidFill>
                <a:srgbClr val="229BEE"/>
              </a:solidFill>
              <a:latin typeface="+mn-ea"/>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229BEE"/>
        </a:solidFill>
        <a:effectLst/>
      </p:bgPr>
    </p:bg>
    <p:spTree>
      <p:nvGrpSpPr>
        <p:cNvPr id="1" name=""/>
        <p:cNvGrpSpPr/>
        <p:nvPr/>
      </p:nvGrpSpPr>
      <p:grpSpPr>
        <a:xfrm>
          <a:off x="0" y="0"/>
          <a:ext cx="0" cy="0"/>
          <a:chOff x="0" y="0"/>
          <a:chExt cx="0" cy="0"/>
        </a:xfrm>
      </p:grpSpPr>
      <p:pic>
        <p:nvPicPr>
          <p:cNvPr id="13" name="Picture 2"/>
          <p:cNvPicPr>
            <a:picLocks noChangeAspect="1"/>
          </p:cNvPicPr>
          <p:nvPr/>
        </p:nvPicPr>
        <p:blipFill>
          <a:blip r:embed="rId3" cstate="print"/>
          <a:stretch>
            <a:fillRect/>
          </a:stretch>
        </p:blipFill>
        <p:spPr>
          <a:xfrm>
            <a:off x="292100" y="292100"/>
            <a:ext cx="17716500" cy="9715500"/>
          </a:xfrm>
          <a:prstGeom prst="rect">
            <a:avLst/>
          </a:prstGeom>
        </p:spPr>
      </p:pic>
      <p:pic>
        <p:nvPicPr>
          <p:cNvPr id="3" name="Picture 3"/>
          <p:cNvPicPr>
            <a:picLocks noChangeAspect="1"/>
          </p:cNvPicPr>
          <p:nvPr/>
        </p:nvPicPr>
        <p:blipFill>
          <a:blip r:embed="rId4" cstate="print"/>
          <a:stretch>
            <a:fillRect/>
          </a:stretch>
        </p:blipFill>
        <p:spPr>
          <a:xfrm>
            <a:off x="1003300" y="2171700"/>
            <a:ext cx="16281400" cy="25400"/>
          </a:xfrm>
          <a:prstGeom prst="rect">
            <a:avLst/>
          </a:prstGeom>
        </p:spPr>
      </p:pic>
      <p:pic>
        <p:nvPicPr>
          <p:cNvPr id="4" name="Picture 4"/>
          <p:cNvPicPr>
            <a:picLocks noChangeAspect="1"/>
          </p:cNvPicPr>
          <p:nvPr/>
        </p:nvPicPr>
        <p:blipFill>
          <a:blip r:embed="rId5" cstate="print"/>
          <a:stretch>
            <a:fillRect/>
          </a:stretch>
        </p:blipFill>
        <p:spPr>
          <a:xfrm>
            <a:off x="16611600" y="0"/>
            <a:ext cx="673100" cy="965200"/>
          </a:xfrm>
          <a:prstGeom prst="rect">
            <a:avLst/>
          </a:prstGeom>
        </p:spPr>
      </p:pic>
      <p:pic>
        <p:nvPicPr>
          <p:cNvPr id="17" name="Picture 9"/>
          <p:cNvPicPr>
            <a:picLocks noChangeAspect="1" noChangeArrowheads="1"/>
          </p:cNvPicPr>
          <p:nvPr/>
        </p:nvPicPr>
        <p:blipFill>
          <a:blip r:embed="rId6" cstate="print"/>
          <a:srcRect/>
          <a:stretch>
            <a:fillRect/>
          </a:stretch>
        </p:blipFill>
        <p:spPr bwMode="auto">
          <a:xfrm>
            <a:off x="609600" y="3314700"/>
            <a:ext cx="17068800" cy="1981200"/>
          </a:xfrm>
          <a:prstGeom prst="rect">
            <a:avLst/>
          </a:prstGeom>
          <a:noFill/>
          <a:ln w="9525">
            <a:noFill/>
            <a:miter lim="800000"/>
            <a:headEnd/>
            <a:tailEnd/>
          </a:ln>
          <a:effectLst/>
        </p:spPr>
      </p:pic>
      <p:sp>
        <p:nvSpPr>
          <p:cNvPr id="11" name="직사각형 10"/>
          <p:cNvSpPr/>
          <p:nvPr/>
        </p:nvSpPr>
        <p:spPr>
          <a:xfrm>
            <a:off x="1371600" y="3771900"/>
            <a:ext cx="16306800" cy="45720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TextBox 22"/>
          <p:cNvSpPr txBox="1"/>
          <p:nvPr/>
        </p:nvSpPr>
        <p:spPr>
          <a:xfrm>
            <a:off x="990600" y="5981700"/>
            <a:ext cx="14173200" cy="2677656"/>
          </a:xfrm>
          <a:prstGeom prst="rect">
            <a:avLst/>
          </a:prstGeom>
          <a:noFill/>
        </p:spPr>
        <p:txBody>
          <a:bodyPr wrap="square" rtlCol="0">
            <a:spAutoFit/>
          </a:bodyPr>
          <a:lstStyle/>
          <a:p>
            <a:r>
              <a:rPr lang="ko-KR" altLang="en-US" sz="2400" b="1" dirty="0" smtClean="0">
                <a:latin typeface="+mn-ea"/>
              </a:rPr>
              <a:t>ＰＣ１（</a:t>
            </a:r>
            <a:r>
              <a:rPr lang="ko-KR" altLang="en-US" sz="2400" b="1" dirty="0" err="1" smtClean="0">
                <a:latin typeface="+mn-ea"/>
              </a:rPr>
              <a:t>첫번째</a:t>
            </a:r>
            <a:r>
              <a:rPr lang="ko-KR" altLang="en-US" sz="2400" b="1" dirty="0" smtClean="0">
                <a:latin typeface="+mn-ea"/>
              </a:rPr>
              <a:t>　주성분）</a:t>
            </a:r>
            <a:r>
              <a:rPr lang="ko-KR" altLang="en-US" sz="2400" dirty="0" smtClean="0">
                <a:latin typeface="+mn-ea"/>
              </a:rPr>
              <a:t>：</a:t>
            </a:r>
            <a:endParaRPr lang="en-US" altLang="ko-KR" sz="2400" dirty="0" smtClean="0">
              <a:latin typeface="+mn-ea"/>
            </a:endParaRPr>
          </a:p>
          <a:p>
            <a:pPr>
              <a:buFont typeface="Arial" pitchFamily="34" charset="0"/>
              <a:buChar char="•"/>
            </a:pPr>
            <a:r>
              <a:rPr lang="ko-KR" altLang="en-US" sz="2400" dirty="0" smtClean="0"/>
              <a:t>거의 모든 변수들이 고르게 </a:t>
            </a:r>
            <a:r>
              <a:rPr lang="en-US" altLang="ko-KR" sz="2400" dirty="0" smtClean="0"/>
              <a:t>+</a:t>
            </a:r>
            <a:r>
              <a:rPr lang="ko-KR" altLang="en-US" sz="2400" dirty="0" smtClean="0"/>
              <a:t>값</a:t>
            </a:r>
            <a:br>
              <a:rPr lang="ko-KR" altLang="en-US" sz="2400" dirty="0" smtClean="0"/>
            </a:br>
            <a:r>
              <a:rPr lang="ko-KR" altLang="en-US" sz="2400" dirty="0" smtClean="0"/>
              <a:t>→ </a:t>
            </a:r>
            <a:r>
              <a:rPr lang="en-US" altLang="ko-KR" sz="2400" dirty="0" smtClean="0"/>
              <a:t>"</a:t>
            </a:r>
            <a:r>
              <a:rPr lang="ko-KR" altLang="en-US" sz="2400" dirty="0" smtClean="0"/>
              <a:t>최근 </a:t>
            </a:r>
            <a:r>
              <a:rPr lang="en-US" altLang="ko-KR" sz="2400" dirty="0" smtClean="0"/>
              <a:t>20</a:t>
            </a:r>
            <a:r>
              <a:rPr lang="ko-KR" altLang="en-US" sz="2400" dirty="0" smtClean="0"/>
              <a:t>년간 에너지 소비 및 온실가스 배출 </a:t>
            </a:r>
            <a:r>
              <a:rPr lang="ko-KR" altLang="en-US" sz="2400" dirty="0" err="1" smtClean="0"/>
              <a:t>변화량의</a:t>
            </a:r>
            <a:r>
              <a:rPr lang="ko-KR" altLang="en-US" sz="2400" dirty="0" smtClean="0"/>
              <a:t> 전반적 증가</a:t>
            </a:r>
            <a:r>
              <a:rPr lang="en-US" altLang="ko-KR" sz="2400" dirty="0" smtClean="0"/>
              <a:t>/</a:t>
            </a:r>
            <a:r>
              <a:rPr lang="ko-KR" altLang="en-US" sz="2400" dirty="0" smtClean="0"/>
              <a:t>감소 수준</a:t>
            </a:r>
            <a:r>
              <a:rPr lang="en-US" altLang="ko-KR" sz="2400" dirty="0" smtClean="0"/>
              <a:t>" </a:t>
            </a:r>
            <a:r>
              <a:rPr lang="ko-KR" altLang="en-US" sz="2400" dirty="0" smtClean="0"/>
              <a:t>구분</a:t>
            </a:r>
          </a:p>
          <a:p>
            <a:pPr>
              <a:buFont typeface="Arial" pitchFamily="34" charset="0"/>
              <a:buChar char="•"/>
            </a:pPr>
            <a:r>
              <a:rPr lang="en-US" altLang="ko-KR" sz="2400" dirty="0" smtClean="0"/>
              <a:t>PC1 </a:t>
            </a:r>
            <a:r>
              <a:rPr lang="ko-KR" altLang="en-US" sz="2400" dirty="0" smtClean="0"/>
              <a:t>점수가 높은 국가는</a:t>
            </a:r>
            <a:br>
              <a:rPr lang="ko-KR" altLang="en-US" sz="2400" dirty="0" smtClean="0"/>
            </a:br>
            <a:r>
              <a:rPr lang="ko-KR" altLang="en-US" sz="2400" dirty="0" smtClean="0"/>
              <a:t>→ 최근 </a:t>
            </a:r>
            <a:r>
              <a:rPr lang="en-US" altLang="ko-KR" sz="2400" dirty="0" smtClean="0"/>
              <a:t>20</a:t>
            </a:r>
            <a:r>
              <a:rPr lang="ko-KR" altLang="en-US" sz="2400" dirty="0" smtClean="0"/>
              <a:t>년간 에너지 소비량과 온실가스 배출량이 전반적으로 많이 증가한 국가</a:t>
            </a:r>
          </a:p>
          <a:p>
            <a:pPr>
              <a:buFont typeface="Arial" pitchFamily="34" charset="0"/>
              <a:buChar char="•"/>
            </a:pPr>
            <a:r>
              <a:rPr lang="en-US" altLang="ko-KR" sz="2400" dirty="0" smtClean="0"/>
              <a:t>PC1 </a:t>
            </a:r>
            <a:r>
              <a:rPr lang="ko-KR" altLang="en-US" sz="2400" dirty="0" smtClean="0"/>
              <a:t>점수가 낮은 국가는</a:t>
            </a:r>
            <a:br>
              <a:rPr lang="ko-KR" altLang="en-US" sz="2400" dirty="0" smtClean="0"/>
            </a:br>
            <a:r>
              <a:rPr lang="ko-KR" altLang="en-US" sz="2400" dirty="0" smtClean="0"/>
              <a:t>→ 최근 </a:t>
            </a:r>
            <a:r>
              <a:rPr lang="en-US" altLang="ko-KR" sz="2400" dirty="0" smtClean="0"/>
              <a:t>20</a:t>
            </a:r>
            <a:r>
              <a:rPr lang="ko-KR" altLang="en-US" sz="2400" dirty="0" smtClean="0"/>
              <a:t>년간 에너지 소비량</a:t>
            </a:r>
            <a:r>
              <a:rPr lang="en-US" altLang="ko-KR" sz="2400" dirty="0" smtClean="0"/>
              <a:t>·</a:t>
            </a:r>
            <a:r>
              <a:rPr lang="ko-KR" altLang="en-US" sz="2400" dirty="0" smtClean="0"/>
              <a:t>온실가스 배출량 변화가 적거나 감소한 국가</a:t>
            </a:r>
            <a:endParaRPr lang="ko-KR" altLang="en-US" sz="2400" dirty="0"/>
          </a:p>
        </p:txBody>
      </p:sp>
      <p:sp>
        <p:nvSpPr>
          <p:cNvPr id="26" name="TextBox 11"/>
          <p:cNvSpPr txBox="1"/>
          <p:nvPr/>
        </p:nvSpPr>
        <p:spPr>
          <a:xfrm>
            <a:off x="2476500" y="876300"/>
            <a:ext cx="13335000" cy="1409700"/>
          </a:xfrm>
          <a:prstGeom prst="rect">
            <a:avLst/>
          </a:prstGeom>
        </p:spPr>
        <p:txBody>
          <a:bodyPr lIns="0" tIns="0" rIns="0" bIns="0" rtlCol="0" anchor="ctr"/>
          <a:lstStyle/>
          <a:p>
            <a:pPr lvl="0" algn="ctr">
              <a:lnSpc>
                <a:spcPct val="98770"/>
              </a:lnSpc>
            </a:pPr>
            <a:r>
              <a:rPr lang="ko-KR" altLang="en-US" sz="5400" dirty="0" smtClean="0">
                <a:solidFill>
                  <a:srgbClr val="4D4D4D"/>
                </a:solidFill>
                <a:latin typeface="Noto Sans KR Medium" pitchFamily="50" charset="-127"/>
                <a:ea typeface="Noto Sans KR Medium" pitchFamily="50" charset="-127"/>
              </a:rPr>
              <a:t>주성분 </a:t>
            </a:r>
            <a:r>
              <a:rPr lang="ko-KR" altLang="en-US" sz="5400" dirty="0" err="1" smtClean="0">
                <a:solidFill>
                  <a:srgbClr val="4D4D4D"/>
                </a:solidFill>
                <a:latin typeface="Noto Sans KR Medium" pitchFamily="50" charset="-127"/>
                <a:ea typeface="Noto Sans KR Medium" pitchFamily="50" charset="-127"/>
              </a:rPr>
              <a:t>적재값</a:t>
            </a:r>
            <a:r>
              <a:rPr lang="ko-KR" altLang="en-US" sz="5400" dirty="0" smtClean="0">
                <a:solidFill>
                  <a:srgbClr val="4D4D4D"/>
                </a:solidFill>
                <a:latin typeface="Noto Sans KR Medium" pitchFamily="50" charset="-127"/>
                <a:ea typeface="Noto Sans KR Medium" pitchFamily="50" charset="-127"/>
              </a:rPr>
              <a:t>　해석</a:t>
            </a:r>
            <a:endParaRPr lang="ko-KR" sz="5400" b="0" i="0" u="none" strike="noStrike" dirty="0">
              <a:solidFill>
                <a:srgbClr val="4D4D4D"/>
              </a:solidFill>
              <a:latin typeface="Noto Sans KR Medium" pitchFamily="50" charset="-127"/>
              <a:ea typeface="Noto Sans KR Medium" pitchFamily="50" charset="-127"/>
            </a:endParaRPr>
          </a:p>
        </p:txBody>
      </p:sp>
      <p:sp>
        <p:nvSpPr>
          <p:cNvPr id="12" name="TextBox 12"/>
          <p:cNvSpPr txBox="1"/>
          <p:nvPr/>
        </p:nvSpPr>
        <p:spPr>
          <a:xfrm>
            <a:off x="7391400" y="660400"/>
            <a:ext cx="3505200" cy="444500"/>
          </a:xfrm>
          <a:prstGeom prst="rect">
            <a:avLst/>
          </a:prstGeom>
        </p:spPr>
        <p:txBody>
          <a:bodyPr lIns="0" tIns="0" rIns="0" bIns="0" rtlCol="0" anchor="ctr"/>
          <a:lstStyle/>
          <a:p>
            <a:pPr lvl="0" algn="ctr">
              <a:lnSpc>
                <a:spcPct val="98770"/>
              </a:lnSpc>
            </a:pPr>
            <a:r>
              <a:rPr lang="en-US" sz="2500" b="0" i="0" u="none" strike="noStrike" dirty="0">
                <a:solidFill>
                  <a:srgbClr val="229BEE"/>
                </a:solidFill>
                <a:latin typeface="+mn-ea"/>
              </a:rPr>
              <a:t>CHAPTER </a:t>
            </a:r>
            <a:r>
              <a:rPr lang="en-US" sz="2500" b="0" i="0" u="none" strike="noStrike" dirty="0" smtClean="0">
                <a:solidFill>
                  <a:srgbClr val="229BEE"/>
                </a:solidFill>
                <a:latin typeface="+mn-ea"/>
              </a:rPr>
              <a:t>03</a:t>
            </a:r>
            <a:endParaRPr lang="en-US" sz="2500" b="0" i="0" u="none" strike="noStrike" dirty="0">
              <a:solidFill>
                <a:srgbClr val="229BEE"/>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229BEE"/>
        </a:solidFill>
        <a:effectLst/>
      </p:bgPr>
    </p:bg>
    <p:spTree>
      <p:nvGrpSpPr>
        <p:cNvPr id="1" name=""/>
        <p:cNvGrpSpPr/>
        <p:nvPr/>
      </p:nvGrpSpPr>
      <p:grpSpPr>
        <a:xfrm>
          <a:off x="0" y="0"/>
          <a:ext cx="0" cy="0"/>
          <a:chOff x="0" y="0"/>
          <a:chExt cx="0" cy="0"/>
        </a:xfrm>
      </p:grpSpPr>
      <p:pic>
        <p:nvPicPr>
          <p:cNvPr id="13" name="Picture 2"/>
          <p:cNvPicPr>
            <a:picLocks noChangeAspect="1"/>
          </p:cNvPicPr>
          <p:nvPr/>
        </p:nvPicPr>
        <p:blipFill>
          <a:blip r:embed="rId3" cstate="print"/>
          <a:stretch>
            <a:fillRect/>
          </a:stretch>
        </p:blipFill>
        <p:spPr>
          <a:xfrm>
            <a:off x="292100" y="292100"/>
            <a:ext cx="17716500" cy="9715500"/>
          </a:xfrm>
          <a:prstGeom prst="rect">
            <a:avLst/>
          </a:prstGeom>
        </p:spPr>
      </p:pic>
      <p:pic>
        <p:nvPicPr>
          <p:cNvPr id="3" name="Picture 3"/>
          <p:cNvPicPr>
            <a:picLocks noChangeAspect="1"/>
          </p:cNvPicPr>
          <p:nvPr/>
        </p:nvPicPr>
        <p:blipFill>
          <a:blip r:embed="rId4" cstate="print"/>
          <a:stretch>
            <a:fillRect/>
          </a:stretch>
        </p:blipFill>
        <p:spPr>
          <a:xfrm>
            <a:off x="1003300" y="2171700"/>
            <a:ext cx="16281400" cy="25400"/>
          </a:xfrm>
          <a:prstGeom prst="rect">
            <a:avLst/>
          </a:prstGeom>
        </p:spPr>
      </p:pic>
      <p:pic>
        <p:nvPicPr>
          <p:cNvPr id="4" name="Picture 4"/>
          <p:cNvPicPr>
            <a:picLocks noChangeAspect="1"/>
          </p:cNvPicPr>
          <p:nvPr/>
        </p:nvPicPr>
        <p:blipFill>
          <a:blip r:embed="rId5" cstate="print"/>
          <a:stretch>
            <a:fillRect/>
          </a:stretch>
        </p:blipFill>
        <p:spPr>
          <a:xfrm>
            <a:off x="16611600" y="0"/>
            <a:ext cx="673100" cy="965200"/>
          </a:xfrm>
          <a:prstGeom prst="rect">
            <a:avLst/>
          </a:prstGeom>
        </p:spPr>
      </p:pic>
      <p:sp>
        <p:nvSpPr>
          <p:cNvPr id="14" name="TextBox 11"/>
          <p:cNvSpPr txBox="1"/>
          <p:nvPr/>
        </p:nvSpPr>
        <p:spPr>
          <a:xfrm>
            <a:off x="2476500" y="876300"/>
            <a:ext cx="13335000" cy="1409700"/>
          </a:xfrm>
          <a:prstGeom prst="rect">
            <a:avLst/>
          </a:prstGeom>
        </p:spPr>
        <p:txBody>
          <a:bodyPr lIns="0" tIns="0" rIns="0" bIns="0" rtlCol="0" anchor="ctr"/>
          <a:lstStyle/>
          <a:p>
            <a:pPr lvl="0" algn="ctr">
              <a:lnSpc>
                <a:spcPct val="98770"/>
              </a:lnSpc>
            </a:pPr>
            <a:r>
              <a:rPr lang="ko-KR" altLang="en-US" sz="5400" dirty="0" smtClean="0">
                <a:solidFill>
                  <a:srgbClr val="4D4D4D"/>
                </a:solidFill>
                <a:latin typeface="Noto Sans KR Medium" pitchFamily="50" charset="-127"/>
                <a:ea typeface="Noto Sans KR Medium" pitchFamily="50" charset="-127"/>
              </a:rPr>
              <a:t>주성분 </a:t>
            </a:r>
            <a:r>
              <a:rPr lang="ko-KR" altLang="en-US" sz="5400" dirty="0" err="1" smtClean="0">
                <a:solidFill>
                  <a:srgbClr val="4D4D4D"/>
                </a:solidFill>
                <a:latin typeface="Noto Sans KR Medium" pitchFamily="50" charset="-127"/>
                <a:ea typeface="Noto Sans KR Medium" pitchFamily="50" charset="-127"/>
              </a:rPr>
              <a:t>적재값</a:t>
            </a:r>
            <a:r>
              <a:rPr lang="ko-KR" altLang="en-US" sz="5400" dirty="0" smtClean="0">
                <a:solidFill>
                  <a:srgbClr val="4D4D4D"/>
                </a:solidFill>
                <a:latin typeface="Noto Sans KR Medium" pitchFamily="50" charset="-127"/>
                <a:ea typeface="Noto Sans KR Medium" pitchFamily="50" charset="-127"/>
              </a:rPr>
              <a:t>　해석</a:t>
            </a:r>
            <a:endParaRPr lang="ko-KR" sz="5400" b="0" i="0" u="none" strike="noStrike" dirty="0">
              <a:solidFill>
                <a:srgbClr val="4D4D4D"/>
              </a:solidFill>
              <a:latin typeface="Noto Sans KR Medium" pitchFamily="50" charset="-127"/>
              <a:ea typeface="Noto Sans KR Medium" pitchFamily="50" charset="-127"/>
            </a:endParaRPr>
          </a:p>
        </p:txBody>
      </p:sp>
      <p:pic>
        <p:nvPicPr>
          <p:cNvPr id="11" name="Picture 9"/>
          <p:cNvPicPr>
            <a:picLocks noChangeAspect="1" noChangeArrowheads="1"/>
          </p:cNvPicPr>
          <p:nvPr/>
        </p:nvPicPr>
        <p:blipFill>
          <a:blip r:embed="rId6" cstate="print"/>
          <a:srcRect/>
          <a:stretch>
            <a:fillRect/>
          </a:stretch>
        </p:blipFill>
        <p:spPr bwMode="auto">
          <a:xfrm>
            <a:off x="609600" y="3314700"/>
            <a:ext cx="17068800" cy="1981200"/>
          </a:xfrm>
          <a:prstGeom prst="rect">
            <a:avLst/>
          </a:prstGeom>
          <a:noFill/>
          <a:ln w="9525">
            <a:noFill/>
            <a:miter lim="800000"/>
            <a:headEnd/>
            <a:tailEnd/>
          </a:ln>
          <a:effectLst/>
        </p:spPr>
      </p:pic>
      <p:sp>
        <p:nvSpPr>
          <p:cNvPr id="19" name="직사각형 18"/>
          <p:cNvSpPr/>
          <p:nvPr/>
        </p:nvSpPr>
        <p:spPr>
          <a:xfrm>
            <a:off x="4419600" y="4305300"/>
            <a:ext cx="1066800" cy="457200"/>
          </a:xfrm>
          <a:prstGeom prst="rect">
            <a:avLst/>
          </a:prstGeom>
          <a:no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6477000" y="4305300"/>
            <a:ext cx="990600" cy="457200"/>
          </a:xfrm>
          <a:prstGeom prst="rect">
            <a:avLst/>
          </a:prstGeom>
          <a:no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직사각형 21"/>
          <p:cNvSpPr/>
          <p:nvPr/>
        </p:nvSpPr>
        <p:spPr>
          <a:xfrm>
            <a:off x="11582400" y="4305300"/>
            <a:ext cx="3048000" cy="457200"/>
          </a:xfrm>
          <a:prstGeom prst="rect">
            <a:avLst/>
          </a:prstGeom>
          <a:no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직사각형 22"/>
          <p:cNvSpPr/>
          <p:nvPr/>
        </p:nvSpPr>
        <p:spPr>
          <a:xfrm>
            <a:off x="8458200" y="4762500"/>
            <a:ext cx="1066800" cy="533400"/>
          </a:xfrm>
          <a:prstGeom prst="rect">
            <a:avLst/>
          </a:prstGeom>
          <a:noFill/>
          <a:ln w="5715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5" name="TextBox 24"/>
          <p:cNvSpPr txBox="1"/>
          <p:nvPr/>
        </p:nvSpPr>
        <p:spPr>
          <a:xfrm>
            <a:off x="990600" y="5600700"/>
            <a:ext cx="16611600" cy="2677656"/>
          </a:xfrm>
          <a:prstGeom prst="rect">
            <a:avLst/>
          </a:prstGeom>
          <a:noFill/>
        </p:spPr>
        <p:txBody>
          <a:bodyPr wrap="square" rtlCol="0">
            <a:spAutoFit/>
          </a:bodyPr>
          <a:lstStyle/>
          <a:p>
            <a:r>
              <a:rPr lang="ko-KR" altLang="en-US" sz="2400" b="1" dirty="0" smtClean="0">
                <a:latin typeface="+mn-ea"/>
              </a:rPr>
              <a:t>ＰＣ２（</a:t>
            </a:r>
            <a:r>
              <a:rPr lang="ko-KR" altLang="en-US" sz="2400" b="1" dirty="0" err="1" smtClean="0">
                <a:latin typeface="+mn-ea"/>
              </a:rPr>
              <a:t>두번째</a:t>
            </a:r>
            <a:r>
              <a:rPr lang="ko-KR" altLang="en-US" sz="2400" b="1" dirty="0" smtClean="0">
                <a:latin typeface="+mn-ea"/>
              </a:rPr>
              <a:t>　주성분）</a:t>
            </a:r>
            <a:r>
              <a:rPr lang="ko-KR" altLang="en-US" sz="2400" dirty="0" smtClean="0">
                <a:latin typeface="+mn-ea"/>
              </a:rPr>
              <a:t>：</a:t>
            </a:r>
            <a:endParaRPr lang="en-US" altLang="ko-KR" sz="2400" b="1" dirty="0" smtClean="0"/>
          </a:p>
          <a:p>
            <a:pPr>
              <a:buFont typeface="Arial" pitchFamily="34" charset="0"/>
              <a:buChar char="•"/>
            </a:pPr>
            <a:r>
              <a:rPr lang="ko-KR" altLang="en-US" sz="2400" dirty="0" smtClean="0">
                <a:solidFill>
                  <a:srgbClr val="0070C0"/>
                </a:solidFill>
                <a:latin typeface="+mn-ea"/>
              </a:rPr>
              <a:t>시멘트</a:t>
            </a:r>
            <a:r>
              <a:rPr lang="en-US" altLang="ko-KR" sz="2400" dirty="0" smtClean="0">
                <a:solidFill>
                  <a:srgbClr val="0070C0"/>
                </a:solidFill>
                <a:latin typeface="+mn-ea"/>
              </a:rPr>
              <a:t>, </a:t>
            </a:r>
            <a:r>
              <a:rPr lang="ko-KR" altLang="en-US" sz="2400" dirty="0" err="1" smtClean="0">
                <a:solidFill>
                  <a:srgbClr val="0070C0"/>
                </a:solidFill>
                <a:latin typeface="+mn-ea"/>
              </a:rPr>
              <a:t>플레어링</a:t>
            </a:r>
            <a:r>
              <a:rPr lang="en-US" altLang="ko-KR" sz="2400" dirty="0" smtClean="0">
                <a:solidFill>
                  <a:srgbClr val="0070C0"/>
                </a:solidFill>
                <a:latin typeface="+mn-ea"/>
              </a:rPr>
              <a:t> </a:t>
            </a:r>
            <a:r>
              <a:rPr lang="ko-KR" altLang="en-US" sz="2400" dirty="0" smtClean="0">
                <a:solidFill>
                  <a:srgbClr val="0070C0"/>
                </a:solidFill>
                <a:latin typeface="+mn-ea"/>
              </a:rPr>
              <a:t>배출</a:t>
            </a:r>
            <a:r>
              <a:rPr lang="en-US" altLang="ko-KR" sz="2400" dirty="0" smtClean="0">
                <a:solidFill>
                  <a:srgbClr val="0070C0"/>
                </a:solidFill>
                <a:latin typeface="+mn-ea"/>
              </a:rPr>
              <a:t>, </a:t>
            </a:r>
            <a:r>
              <a:rPr lang="ko-KR" altLang="en-US" sz="2400" dirty="0" smtClean="0">
                <a:solidFill>
                  <a:srgbClr val="0070C0"/>
                </a:solidFill>
                <a:latin typeface="+mn-ea"/>
              </a:rPr>
              <a:t>가스 에너지</a:t>
            </a:r>
            <a:r>
              <a:rPr lang="en-US" altLang="ko-KR" sz="2400" dirty="0" smtClean="0">
                <a:solidFill>
                  <a:srgbClr val="0070C0"/>
                </a:solidFill>
                <a:latin typeface="+mn-ea"/>
              </a:rPr>
              <a:t>, </a:t>
            </a:r>
            <a:r>
              <a:rPr lang="ko-KR" altLang="en-US" sz="2400" dirty="0" smtClean="0">
                <a:solidFill>
                  <a:srgbClr val="0070C0"/>
                </a:solidFill>
                <a:latin typeface="+mn-ea"/>
              </a:rPr>
              <a:t>석유</a:t>
            </a:r>
            <a:r>
              <a:rPr lang="en-US" altLang="ko-KR" sz="2400" dirty="0" smtClean="0">
                <a:solidFill>
                  <a:srgbClr val="0070C0"/>
                </a:solidFill>
                <a:latin typeface="+mn-ea"/>
              </a:rPr>
              <a:t>(petroleum),</a:t>
            </a:r>
            <a:r>
              <a:rPr lang="ko-KR" altLang="en-US" sz="2400" dirty="0" smtClean="0">
                <a:solidFill>
                  <a:srgbClr val="0070C0"/>
                </a:solidFill>
                <a:latin typeface="+mn-ea"/>
              </a:rPr>
              <a:t>원자력 생산</a:t>
            </a:r>
            <a:r>
              <a:rPr lang="en-US" altLang="ko-KR" sz="2400" dirty="0" smtClean="0">
                <a:solidFill>
                  <a:srgbClr val="0070C0"/>
                </a:solidFill>
                <a:latin typeface="+mn-ea"/>
              </a:rPr>
              <a:t> </a:t>
            </a:r>
            <a:r>
              <a:rPr lang="ko-KR" altLang="en-US" sz="2400" dirty="0" err="1" smtClean="0">
                <a:solidFill>
                  <a:srgbClr val="0070C0"/>
                </a:solidFill>
                <a:latin typeface="+mn-ea"/>
              </a:rPr>
              <a:t>변화량</a:t>
            </a:r>
            <a:r>
              <a:rPr lang="ko-KR" altLang="en-US" sz="2400" dirty="0" err="1" smtClean="0">
                <a:latin typeface="+mn-ea"/>
              </a:rPr>
              <a:t>은</a:t>
            </a:r>
            <a:r>
              <a:rPr lang="ko-KR" altLang="en-US" sz="2400" dirty="0" smtClean="0">
                <a:latin typeface="+mn-ea"/>
              </a:rPr>
              <a:t> 음수</a:t>
            </a:r>
            <a:r>
              <a:rPr lang="en-US" altLang="ko-KR" sz="2400" dirty="0" smtClean="0">
                <a:latin typeface="+mn-ea"/>
              </a:rPr>
              <a:t>/</a:t>
            </a:r>
            <a:r>
              <a:rPr lang="ko-KR" altLang="en-US" sz="2400" dirty="0" smtClean="0">
                <a:solidFill>
                  <a:srgbClr val="FF0000"/>
                </a:solidFill>
                <a:latin typeface="+mn-ea"/>
              </a:rPr>
              <a:t>석탄 배출</a:t>
            </a:r>
            <a:r>
              <a:rPr lang="en-US" altLang="ko-KR" sz="2400" dirty="0" smtClean="0">
                <a:solidFill>
                  <a:srgbClr val="FF0000"/>
                </a:solidFill>
                <a:latin typeface="+mn-ea"/>
              </a:rPr>
              <a:t> </a:t>
            </a:r>
            <a:r>
              <a:rPr lang="ko-KR" altLang="en-US" sz="2400" dirty="0" err="1" smtClean="0">
                <a:solidFill>
                  <a:srgbClr val="FF0000"/>
                </a:solidFill>
                <a:latin typeface="+mn-ea"/>
              </a:rPr>
              <a:t>변화량</a:t>
            </a:r>
            <a:r>
              <a:rPr lang="ko-KR" altLang="en-US" sz="2400" dirty="0" err="1" smtClean="0">
                <a:latin typeface="+mn-ea"/>
              </a:rPr>
              <a:t>은</a:t>
            </a:r>
            <a:r>
              <a:rPr lang="ko-KR" altLang="en-US" sz="2400" dirty="0" smtClean="0">
                <a:latin typeface="+mn-ea"/>
              </a:rPr>
              <a:t> 양수</a:t>
            </a:r>
            <a:br>
              <a:rPr lang="ko-KR" altLang="en-US" sz="2400" dirty="0" smtClean="0">
                <a:latin typeface="+mn-ea"/>
              </a:rPr>
            </a:br>
            <a:r>
              <a:rPr lang="ko-KR" altLang="en-US" sz="2400" dirty="0" smtClean="0">
                <a:latin typeface="+mn-ea"/>
              </a:rPr>
              <a:t>→ </a:t>
            </a:r>
            <a:r>
              <a:rPr lang="en-US" altLang="ko-KR" sz="2400" dirty="0" smtClean="0">
                <a:latin typeface="+mn-ea"/>
              </a:rPr>
              <a:t>"</a:t>
            </a:r>
            <a:r>
              <a:rPr lang="ko-KR" altLang="en-US" sz="2400" dirty="0" smtClean="0">
                <a:latin typeface="+mn-ea"/>
              </a:rPr>
              <a:t>최근 </a:t>
            </a:r>
            <a:r>
              <a:rPr lang="en-US" altLang="ko-KR" sz="2400" dirty="0" smtClean="0">
                <a:latin typeface="+mn-ea"/>
              </a:rPr>
              <a:t>20</a:t>
            </a:r>
            <a:r>
              <a:rPr lang="ko-KR" altLang="en-US" sz="2400" dirty="0" smtClean="0">
                <a:latin typeface="+mn-ea"/>
              </a:rPr>
              <a:t>년간 에너지원 구성 변화 경향</a:t>
            </a:r>
            <a:r>
              <a:rPr lang="en-US" altLang="ko-KR" sz="2400" dirty="0" smtClean="0">
                <a:latin typeface="+mn-ea"/>
              </a:rPr>
              <a:t>" </a:t>
            </a:r>
            <a:r>
              <a:rPr lang="ko-KR" altLang="en-US" sz="2400" dirty="0" smtClean="0">
                <a:latin typeface="+mn-ea"/>
              </a:rPr>
              <a:t>구분</a:t>
            </a:r>
          </a:p>
          <a:p>
            <a:pPr>
              <a:buFont typeface="Arial" pitchFamily="34" charset="0"/>
              <a:buChar char="•"/>
            </a:pPr>
            <a:r>
              <a:rPr lang="en-US" altLang="ko-KR" sz="2400" dirty="0" smtClean="0">
                <a:latin typeface="+mn-ea"/>
              </a:rPr>
              <a:t>PC2 </a:t>
            </a:r>
            <a:r>
              <a:rPr lang="ko-KR" altLang="en-US" sz="2400" dirty="0" smtClean="0">
                <a:latin typeface="+mn-ea"/>
              </a:rPr>
              <a:t>점수가 높은 국가는</a:t>
            </a:r>
            <a:br>
              <a:rPr lang="ko-KR" altLang="en-US" sz="2400" dirty="0" smtClean="0">
                <a:latin typeface="+mn-ea"/>
              </a:rPr>
            </a:br>
            <a:r>
              <a:rPr lang="ko-KR" altLang="en-US" sz="2400" dirty="0" smtClean="0">
                <a:latin typeface="+mn-ea"/>
              </a:rPr>
              <a:t>→ 최근 석탄</a:t>
            </a:r>
            <a:r>
              <a:rPr lang="en-US" altLang="ko-KR" sz="2400" dirty="0" smtClean="0">
                <a:latin typeface="+mn-ea"/>
              </a:rPr>
              <a:t> </a:t>
            </a:r>
            <a:r>
              <a:rPr lang="ko-KR" altLang="en-US" sz="2400" dirty="0" smtClean="0">
                <a:latin typeface="+mn-ea"/>
              </a:rPr>
              <a:t>기반 에너지 사용이 증가한 국가</a:t>
            </a:r>
          </a:p>
          <a:p>
            <a:pPr>
              <a:buFont typeface="Arial" pitchFamily="34" charset="0"/>
              <a:buChar char="•"/>
            </a:pPr>
            <a:r>
              <a:rPr lang="en-US" altLang="ko-KR" sz="2400" dirty="0" smtClean="0">
                <a:latin typeface="+mn-ea"/>
              </a:rPr>
              <a:t>PC2 </a:t>
            </a:r>
            <a:r>
              <a:rPr lang="ko-KR" altLang="en-US" sz="2400" dirty="0" smtClean="0">
                <a:latin typeface="+mn-ea"/>
              </a:rPr>
              <a:t>점수가 낮은 국가는</a:t>
            </a:r>
            <a:br>
              <a:rPr lang="ko-KR" altLang="en-US" sz="2400" dirty="0" smtClean="0">
                <a:latin typeface="+mn-ea"/>
              </a:rPr>
            </a:br>
            <a:r>
              <a:rPr lang="ko-KR" altLang="en-US" sz="2400" dirty="0" smtClean="0">
                <a:latin typeface="+mn-ea"/>
              </a:rPr>
              <a:t>→ 가스</a:t>
            </a:r>
            <a:r>
              <a:rPr lang="en-US" altLang="ko-KR" sz="2400" dirty="0" smtClean="0">
                <a:latin typeface="+mn-ea"/>
              </a:rPr>
              <a:t>, </a:t>
            </a:r>
            <a:r>
              <a:rPr lang="ko-KR" altLang="en-US" sz="2400" dirty="0" smtClean="0">
                <a:latin typeface="+mn-ea"/>
              </a:rPr>
              <a:t>석유</a:t>
            </a:r>
            <a:r>
              <a:rPr lang="en-US" altLang="ko-KR" sz="2400" dirty="0" smtClean="0">
                <a:latin typeface="+mn-ea"/>
              </a:rPr>
              <a:t>, </a:t>
            </a:r>
            <a:r>
              <a:rPr lang="ko-KR" altLang="en-US" sz="2400" dirty="0" smtClean="0">
                <a:latin typeface="+mn-ea"/>
              </a:rPr>
              <a:t>원자력 기반 에너지 사용이 증가한 국가</a:t>
            </a:r>
            <a:endParaRPr lang="ko-KR" altLang="en-US" sz="2400" dirty="0">
              <a:latin typeface="+mn-ea"/>
            </a:endParaRPr>
          </a:p>
        </p:txBody>
      </p:sp>
      <p:sp>
        <p:nvSpPr>
          <p:cNvPr id="26" name="직사각형 25"/>
          <p:cNvSpPr/>
          <p:nvPr/>
        </p:nvSpPr>
        <p:spPr>
          <a:xfrm>
            <a:off x="2362200" y="4305300"/>
            <a:ext cx="1066800" cy="45720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직사각형 26"/>
          <p:cNvSpPr/>
          <p:nvPr/>
        </p:nvSpPr>
        <p:spPr>
          <a:xfrm>
            <a:off x="10591800" y="4305300"/>
            <a:ext cx="990600" cy="45720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TextBox 27"/>
          <p:cNvSpPr txBox="1"/>
          <p:nvPr/>
        </p:nvSpPr>
        <p:spPr>
          <a:xfrm>
            <a:off x="990600" y="8343900"/>
            <a:ext cx="17068800" cy="1508105"/>
          </a:xfrm>
          <a:prstGeom prst="rect">
            <a:avLst/>
          </a:prstGeom>
          <a:noFill/>
        </p:spPr>
        <p:txBody>
          <a:bodyPr wrap="square" rtlCol="0">
            <a:spAutoFit/>
          </a:bodyPr>
          <a:lstStyle/>
          <a:p>
            <a:r>
              <a:rPr lang="ko-KR" altLang="en-US" sz="2200" b="1" dirty="0" smtClean="0">
                <a:latin typeface="+mn-ea"/>
              </a:rPr>
              <a:t>ＰＣ３（</a:t>
            </a:r>
            <a:r>
              <a:rPr lang="ko-KR" altLang="en-US" sz="2200" b="1" dirty="0" err="1" smtClean="0">
                <a:latin typeface="+mn-ea"/>
              </a:rPr>
              <a:t>세번째</a:t>
            </a:r>
            <a:r>
              <a:rPr lang="ko-KR" altLang="en-US" sz="2200" b="1" dirty="0" smtClean="0">
                <a:latin typeface="+mn-ea"/>
              </a:rPr>
              <a:t>　주성분）</a:t>
            </a:r>
            <a:r>
              <a:rPr lang="ko-KR" altLang="en-US" sz="2200" dirty="0" smtClean="0">
                <a:latin typeface="+mn-ea"/>
              </a:rPr>
              <a:t>：</a:t>
            </a:r>
            <a:endParaRPr lang="en-US" altLang="ko-KR" sz="2200" dirty="0" smtClean="0">
              <a:latin typeface="+mn-ea"/>
            </a:endParaRPr>
          </a:p>
          <a:p>
            <a:pPr>
              <a:buFont typeface="Arial" pitchFamily="34" charset="0"/>
              <a:buChar char="•"/>
            </a:pPr>
            <a:r>
              <a:rPr lang="en-US" altLang="ko-KR" sz="2200" dirty="0" smtClean="0">
                <a:latin typeface="+mn-ea"/>
              </a:rPr>
              <a:t>PC3</a:t>
            </a:r>
            <a:r>
              <a:rPr lang="ko-KR" altLang="en-US" sz="2200" dirty="0" smtClean="0">
                <a:latin typeface="+mn-ea"/>
              </a:rPr>
              <a:t>에서 </a:t>
            </a:r>
            <a:r>
              <a:rPr lang="en-US" altLang="ko-KR" sz="2200" dirty="0" smtClean="0">
                <a:latin typeface="+mn-ea"/>
              </a:rPr>
              <a:t>1</a:t>
            </a:r>
            <a:r>
              <a:rPr lang="ko-KR" altLang="en-US" sz="2200" dirty="0" smtClean="0">
                <a:latin typeface="+mn-ea"/>
              </a:rPr>
              <a:t>인당 </a:t>
            </a:r>
            <a:r>
              <a:rPr lang="en-US" altLang="ko-KR" sz="2200" dirty="0" smtClean="0">
                <a:solidFill>
                  <a:srgbClr val="92D050"/>
                </a:solidFill>
                <a:latin typeface="+mn-ea"/>
              </a:rPr>
              <a:t>CO₂ </a:t>
            </a:r>
            <a:r>
              <a:rPr lang="ko-KR" altLang="en-US" sz="2200" dirty="0" smtClean="0">
                <a:solidFill>
                  <a:srgbClr val="92D050"/>
                </a:solidFill>
                <a:latin typeface="+mn-ea"/>
              </a:rPr>
              <a:t>배출량</a:t>
            </a:r>
            <a:r>
              <a:rPr lang="en-US" altLang="ko-KR" sz="2200" dirty="0" smtClean="0">
                <a:latin typeface="+mn-ea"/>
              </a:rPr>
              <a:t>(Per.Capita.CO2)</a:t>
            </a:r>
            <a:r>
              <a:rPr lang="ko-KR" altLang="en-US" sz="2200" dirty="0" smtClean="0">
                <a:latin typeface="+mn-ea"/>
              </a:rPr>
              <a:t>이 가장 큰 영향</a:t>
            </a:r>
            <a:endParaRPr lang="en-US" altLang="ko-KR" sz="2200" dirty="0" smtClean="0">
              <a:latin typeface="+mn-ea"/>
            </a:endParaRPr>
          </a:p>
          <a:p>
            <a:r>
              <a:rPr lang="en-US" altLang="ko-KR" sz="2200" dirty="0" smtClean="0">
                <a:latin typeface="+mn-ea"/>
              </a:rPr>
              <a:t>→ PC3</a:t>
            </a:r>
            <a:r>
              <a:rPr lang="ko-KR" altLang="en-US" sz="2200" dirty="0" smtClean="0">
                <a:latin typeface="+mn-ea"/>
              </a:rPr>
              <a:t>는 “</a:t>
            </a:r>
            <a:r>
              <a:rPr lang="en-US" altLang="ko-KR" sz="2400" dirty="0" smtClean="0"/>
              <a:t>1</a:t>
            </a:r>
            <a:r>
              <a:rPr lang="ko-KR" altLang="en-US" sz="2400" dirty="0" smtClean="0"/>
              <a:t>인당 온실가스 배출량 변화 경향</a:t>
            </a:r>
            <a:r>
              <a:rPr lang="ko-KR" altLang="en-US" sz="2200" dirty="0" smtClean="0">
                <a:latin typeface="+mn-ea"/>
              </a:rPr>
              <a:t>” 차이를 보여준다</a:t>
            </a:r>
            <a:br>
              <a:rPr lang="ko-KR" altLang="en-US" sz="2200" dirty="0" smtClean="0">
                <a:latin typeface="+mn-ea"/>
              </a:rPr>
            </a:br>
            <a:r>
              <a:rPr lang="ko-KR" altLang="en-US" sz="2200" dirty="0" smtClean="0">
                <a:latin typeface="+mn-ea"/>
              </a:rPr>
              <a:t>→ </a:t>
            </a:r>
            <a:r>
              <a:rPr lang="en-US" altLang="ko-KR" sz="2200" dirty="0" smtClean="0">
                <a:latin typeface="+mn-ea"/>
              </a:rPr>
              <a:t>PC3 </a:t>
            </a:r>
            <a:r>
              <a:rPr lang="ko-KR" altLang="en-US" sz="2200" dirty="0" smtClean="0">
                <a:latin typeface="+mn-ea"/>
              </a:rPr>
              <a:t>점수가 클수록 </a:t>
            </a:r>
            <a:r>
              <a:rPr lang="ko-KR" altLang="en-US" sz="2400" dirty="0" smtClean="0"/>
              <a:t>최근 </a:t>
            </a:r>
            <a:r>
              <a:rPr lang="en-US" altLang="ko-KR" sz="2400" dirty="0" smtClean="0"/>
              <a:t>1</a:t>
            </a:r>
            <a:r>
              <a:rPr lang="ko-KR" altLang="en-US" sz="2400" dirty="0" smtClean="0"/>
              <a:t>인당 온실가스 배출량 변화가 적거나 감소한 국가</a:t>
            </a:r>
            <a:endParaRPr lang="ko-KR" altLang="en-US" sz="2200" dirty="0">
              <a:latin typeface="+mn-ea"/>
            </a:endParaRPr>
          </a:p>
        </p:txBody>
      </p:sp>
      <p:sp>
        <p:nvSpPr>
          <p:cNvPr id="17" name="TextBox 12"/>
          <p:cNvSpPr txBox="1"/>
          <p:nvPr/>
        </p:nvSpPr>
        <p:spPr>
          <a:xfrm>
            <a:off x="7391400" y="660400"/>
            <a:ext cx="3505200" cy="444500"/>
          </a:xfrm>
          <a:prstGeom prst="rect">
            <a:avLst/>
          </a:prstGeom>
        </p:spPr>
        <p:txBody>
          <a:bodyPr lIns="0" tIns="0" rIns="0" bIns="0" rtlCol="0" anchor="ctr"/>
          <a:lstStyle/>
          <a:p>
            <a:pPr lvl="0" algn="ctr">
              <a:lnSpc>
                <a:spcPct val="98770"/>
              </a:lnSpc>
            </a:pPr>
            <a:r>
              <a:rPr lang="en-US" sz="2500" b="0" i="0" u="none" strike="noStrike" dirty="0">
                <a:solidFill>
                  <a:srgbClr val="229BEE"/>
                </a:solidFill>
                <a:latin typeface="+mn-ea"/>
              </a:rPr>
              <a:t>CHAPTER </a:t>
            </a:r>
            <a:r>
              <a:rPr lang="en-US" sz="2500" b="0" i="0" u="none" strike="noStrike" dirty="0" smtClean="0">
                <a:solidFill>
                  <a:srgbClr val="229BEE"/>
                </a:solidFill>
                <a:latin typeface="+mn-ea"/>
              </a:rPr>
              <a:t>03</a:t>
            </a:r>
            <a:endParaRPr lang="en-US" sz="2500" b="0" i="0" u="none" strike="noStrike" dirty="0">
              <a:solidFill>
                <a:srgbClr val="229BEE"/>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8"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229BEE"/>
        </a:solidFill>
        <a:effectLst/>
      </p:bgPr>
    </p:bg>
    <p:spTree>
      <p:nvGrpSpPr>
        <p:cNvPr id="1" name=""/>
        <p:cNvGrpSpPr/>
        <p:nvPr/>
      </p:nvGrpSpPr>
      <p:grpSpPr>
        <a:xfrm>
          <a:off x="0" y="0"/>
          <a:ext cx="0" cy="0"/>
          <a:chOff x="0" y="0"/>
          <a:chExt cx="0" cy="0"/>
        </a:xfrm>
      </p:grpSpPr>
      <p:pic>
        <p:nvPicPr>
          <p:cNvPr id="13" name="Picture 2"/>
          <p:cNvPicPr>
            <a:picLocks noChangeAspect="1"/>
          </p:cNvPicPr>
          <p:nvPr/>
        </p:nvPicPr>
        <p:blipFill>
          <a:blip r:embed="rId3" cstate="print"/>
          <a:stretch>
            <a:fillRect/>
          </a:stretch>
        </p:blipFill>
        <p:spPr>
          <a:xfrm>
            <a:off x="292100" y="292100"/>
            <a:ext cx="17716500" cy="9715500"/>
          </a:xfrm>
          <a:prstGeom prst="rect">
            <a:avLst/>
          </a:prstGeom>
        </p:spPr>
      </p:pic>
      <p:pic>
        <p:nvPicPr>
          <p:cNvPr id="3" name="Picture 3"/>
          <p:cNvPicPr>
            <a:picLocks noChangeAspect="1"/>
          </p:cNvPicPr>
          <p:nvPr/>
        </p:nvPicPr>
        <p:blipFill>
          <a:blip r:embed="rId4" cstate="print"/>
          <a:stretch>
            <a:fillRect/>
          </a:stretch>
        </p:blipFill>
        <p:spPr>
          <a:xfrm>
            <a:off x="1003300" y="2171700"/>
            <a:ext cx="16281400" cy="25400"/>
          </a:xfrm>
          <a:prstGeom prst="rect">
            <a:avLst/>
          </a:prstGeom>
        </p:spPr>
      </p:pic>
      <p:pic>
        <p:nvPicPr>
          <p:cNvPr id="4" name="Picture 4"/>
          <p:cNvPicPr>
            <a:picLocks noChangeAspect="1"/>
          </p:cNvPicPr>
          <p:nvPr/>
        </p:nvPicPr>
        <p:blipFill>
          <a:blip r:embed="rId5" cstate="print"/>
          <a:stretch>
            <a:fillRect/>
          </a:stretch>
        </p:blipFill>
        <p:spPr>
          <a:xfrm>
            <a:off x="16611600" y="0"/>
            <a:ext cx="673100" cy="965200"/>
          </a:xfrm>
          <a:prstGeom prst="rect">
            <a:avLst/>
          </a:prstGeom>
        </p:spPr>
      </p:pic>
      <p:pic>
        <p:nvPicPr>
          <p:cNvPr id="65537" name="Picture 1"/>
          <p:cNvPicPr>
            <a:picLocks noChangeAspect="1" noChangeArrowheads="1"/>
          </p:cNvPicPr>
          <p:nvPr/>
        </p:nvPicPr>
        <p:blipFill>
          <a:blip r:embed="rId6" cstate="print"/>
          <a:srcRect/>
          <a:stretch>
            <a:fillRect/>
          </a:stretch>
        </p:blipFill>
        <p:spPr bwMode="auto">
          <a:xfrm>
            <a:off x="457200" y="2324100"/>
            <a:ext cx="17373600" cy="7620000"/>
          </a:xfrm>
          <a:prstGeom prst="rect">
            <a:avLst/>
          </a:prstGeom>
          <a:noFill/>
          <a:ln w="9525">
            <a:noFill/>
            <a:miter lim="800000"/>
            <a:headEnd/>
            <a:tailEnd/>
          </a:ln>
          <a:effectLst/>
        </p:spPr>
      </p:pic>
      <p:sp>
        <p:nvSpPr>
          <p:cNvPr id="17" name="오른쪽 화살표 16"/>
          <p:cNvSpPr/>
          <p:nvPr/>
        </p:nvSpPr>
        <p:spPr>
          <a:xfrm>
            <a:off x="13487400" y="7048500"/>
            <a:ext cx="3352800"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직사각형 17"/>
          <p:cNvSpPr/>
          <p:nvPr/>
        </p:nvSpPr>
        <p:spPr>
          <a:xfrm>
            <a:off x="13411200" y="6286500"/>
            <a:ext cx="4038600" cy="830997"/>
          </a:xfrm>
          <a:prstGeom prst="rect">
            <a:avLst/>
          </a:prstGeom>
        </p:spPr>
        <p:txBody>
          <a:bodyPr wrap="square">
            <a:spAutoFit/>
          </a:bodyPr>
          <a:lstStyle/>
          <a:p>
            <a:r>
              <a:rPr lang="ko-KR" altLang="en-US" sz="2400" b="1" dirty="0" smtClean="0"/>
              <a:t>최근 </a:t>
            </a:r>
            <a:r>
              <a:rPr lang="en-US" altLang="ko-KR" sz="2400" b="1" dirty="0" smtClean="0"/>
              <a:t>20</a:t>
            </a:r>
            <a:r>
              <a:rPr lang="ko-KR" altLang="en-US" sz="2400" b="1" dirty="0" smtClean="0"/>
              <a:t>년간 온실가스 배출량 및 에너지  사용 증가</a:t>
            </a:r>
            <a:endParaRPr lang="ko-KR" altLang="en-US" sz="2400" b="1" dirty="0"/>
          </a:p>
        </p:txBody>
      </p:sp>
      <p:sp>
        <p:nvSpPr>
          <p:cNvPr id="23" name="위쪽 화살표 22"/>
          <p:cNvSpPr/>
          <p:nvPr/>
        </p:nvSpPr>
        <p:spPr>
          <a:xfrm>
            <a:off x="14554200" y="4457700"/>
            <a:ext cx="533400" cy="167640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TextBox 23">
            <a:extLst>
              <a:ext uri="{FF2B5EF4-FFF2-40B4-BE49-F238E27FC236}">
                <a16:creationId xmlns="" xmlns:a16="http://schemas.microsoft.com/office/drawing/2014/main" id="{9868D4D3-D354-8A4A-E870-E4A7DA56A02E}"/>
              </a:ext>
            </a:extLst>
          </p:cNvPr>
          <p:cNvSpPr txBox="1"/>
          <p:nvPr/>
        </p:nvSpPr>
        <p:spPr>
          <a:xfrm>
            <a:off x="15011400" y="5067300"/>
            <a:ext cx="2743200" cy="769441"/>
          </a:xfrm>
          <a:prstGeom prst="rect">
            <a:avLst/>
          </a:prstGeom>
          <a:noFill/>
        </p:spPr>
        <p:txBody>
          <a:bodyPr wrap="square" rtlCol="0">
            <a:spAutoFit/>
          </a:bodyPr>
          <a:lstStyle/>
          <a:p>
            <a:r>
              <a:rPr lang="ko-KR" altLang="en-US" sz="2200" b="1" dirty="0" smtClean="0">
                <a:latin typeface="+mn-ea"/>
              </a:rPr>
              <a:t>석탄 기반　에너지　사용 증가</a:t>
            </a:r>
            <a:endParaRPr lang="en-US" altLang="ko-KR" sz="2200" b="1" dirty="0">
              <a:latin typeface="+mn-ea"/>
            </a:endParaRPr>
          </a:p>
        </p:txBody>
      </p:sp>
      <p:sp>
        <p:nvSpPr>
          <p:cNvPr id="25" name="TextBox 24">
            <a:extLst>
              <a:ext uri="{FF2B5EF4-FFF2-40B4-BE49-F238E27FC236}">
                <a16:creationId xmlns="" xmlns:a16="http://schemas.microsoft.com/office/drawing/2014/main" id="{9868D4D3-D354-8A4A-E870-E4A7DA56A02E}"/>
              </a:ext>
            </a:extLst>
          </p:cNvPr>
          <p:cNvSpPr txBox="1"/>
          <p:nvPr/>
        </p:nvSpPr>
        <p:spPr>
          <a:xfrm>
            <a:off x="15087600" y="7817703"/>
            <a:ext cx="2895600" cy="1200329"/>
          </a:xfrm>
          <a:prstGeom prst="rect">
            <a:avLst/>
          </a:prstGeom>
          <a:noFill/>
        </p:spPr>
        <p:txBody>
          <a:bodyPr wrap="square" rtlCol="0">
            <a:spAutoFit/>
          </a:bodyPr>
          <a:lstStyle/>
          <a:p>
            <a:r>
              <a:rPr lang="ko-KR" altLang="en-US" sz="2400" b="1" dirty="0" smtClean="0">
                <a:latin typeface="+mn-ea"/>
              </a:rPr>
              <a:t>가스</a:t>
            </a:r>
            <a:r>
              <a:rPr lang="en-US" altLang="ko-KR" sz="2400" b="1" dirty="0" smtClean="0">
                <a:latin typeface="+mn-ea"/>
              </a:rPr>
              <a:t>, </a:t>
            </a:r>
            <a:r>
              <a:rPr lang="ko-KR" altLang="en-US" sz="2400" b="1" dirty="0" smtClean="0">
                <a:latin typeface="+mn-ea"/>
              </a:rPr>
              <a:t>석유</a:t>
            </a:r>
            <a:r>
              <a:rPr lang="en-US" altLang="ko-KR" sz="2400" b="1" dirty="0" smtClean="0">
                <a:latin typeface="+mn-ea"/>
              </a:rPr>
              <a:t>, </a:t>
            </a:r>
            <a:r>
              <a:rPr lang="ko-KR" altLang="en-US" sz="2400" b="1" dirty="0" smtClean="0">
                <a:latin typeface="+mn-ea"/>
              </a:rPr>
              <a:t>원자력 기반　에너지　사용 증가</a:t>
            </a:r>
            <a:endParaRPr lang="en-US" altLang="ko-KR" sz="2400" b="1" dirty="0">
              <a:latin typeface="+mn-ea"/>
            </a:endParaRPr>
          </a:p>
        </p:txBody>
      </p:sp>
      <p:sp>
        <p:nvSpPr>
          <p:cNvPr id="26" name="아래쪽 화살표 25"/>
          <p:cNvSpPr/>
          <p:nvPr/>
        </p:nvSpPr>
        <p:spPr>
          <a:xfrm>
            <a:off x="14554200" y="7658100"/>
            <a:ext cx="533400" cy="1600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TextBox 11"/>
          <p:cNvSpPr txBox="1"/>
          <p:nvPr/>
        </p:nvSpPr>
        <p:spPr>
          <a:xfrm>
            <a:off x="2476500" y="876300"/>
            <a:ext cx="13335000" cy="1409700"/>
          </a:xfrm>
          <a:prstGeom prst="rect">
            <a:avLst/>
          </a:prstGeom>
        </p:spPr>
        <p:txBody>
          <a:bodyPr lIns="0" tIns="0" rIns="0" bIns="0" rtlCol="0" anchor="ctr"/>
          <a:lstStyle/>
          <a:p>
            <a:pPr lvl="0" algn="ctr">
              <a:lnSpc>
                <a:spcPct val="98770"/>
              </a:lnSpc>
            </a:pPr>
            <a:r>
              <a:rPr lang="ko-KR" altLang="en-US" sz="5400" dirty="0" smtClean="0">
                <a:solidFill>
                  <a:srgbClr val="4D4D4D"/>
                </a:solidFill>
                <a:latin typeface="Noto Sans KR Medium" pitchFamily="50" charset="-127"/>
                <a:ea typeface="Noto Sans KR Medium" pitchFamily="50" charset="-127"/>
              </a:rPr>
              <a:t>주성분점수 시각화</a:t>
            </a:r>
            <a:endParaRPr lang="ko-KR" sz="5400" b="0" i="0" u="none" strike="noStrike" dirty="0">
              <a:solidFill>
                <a:srgbClr val="4D4D4D"/>
              </a:solidFill>
              <a:latin typeface="Noto Sans KR Medium" pitchFamily="50" charset="-127"/>
              <a:ea typeface="Noto Sans KR Medium" pitchFamily="50" charset="-127"/>
            </a:endParaRPr>
          </a:p>
        </p:txBody>
      </p:sp>
      <p:sp>
        <p:nvSpPr>
          <p:cNvPr id="29" name="TextBox 28">
            <a:extLst>
              <a:ext uri="{FF2B5EF4-FFF2-40B4-BE49-F238E27FC236}">
                <a16:creationId xmlns="" xmlns:a16="http://schemas.microsoft.com/office/drawing/2014/main" id="{9868D4D3-D354-8A4A-E870-E4A7DA56A02E}"/>
              </a:ext>
            </a:extLst>
          </p:cNvPr>
          <p:cNvSpPr txBox="1"/>
          <p:nvPr/>
        </p:nvSpPr>
        <p:spPr>
          <a:xfrm>
            <a:off x="381000" y="1028700"/>
            <a:ext cx="6477000" cy="430887"/>
          </a:xfrm>
          <a:prstGeom prst="rect">
            <a:avLst/>
          </a:prstGeom>
          <a:noFill/>
        </p:spPr>
        <p:txBody>
          <a:bodyPr wrap="square" rtlCol="0">
            <a:spAutoFit/>
          </a:bodyPr>
          <a:lstStyle/>
          <a:p>
            <a:r>
              <a:rPr lang="en-US" altLang="ko-KR" sz="2200" b="1" dirty="0" smtClean="0">
                <a:latin typeface="NanumBarunGothic Light" panose="020B0603020101020101" pitchFamily="34" charset="-127"/>
                <a:ea typeface="NanumBarunGothic Light" panose="020B0603020101020101" pitchFamily="34" charset="-127"/>
              </a:rPr>
              <a:t>PCA </a:t>
            </a:r>
            <a:r>
              <a:rPr lang="en-US" altLang="ko-KR" sz="2200" b="1" dirty="0" err="1" smtClean="0">
                <a:latin typeface="NanumBarunGothic Light" panose="020B0603020101020101" pitchFamily="34" charset="-127"/>
                <a:ea typeface="NanumBarunGothic Light" panose="020B0603020101020101" pitchFamily="34" charset="-127"/>
              </a:rPr>
              <a:t>Biplot</a:t>
            </a:r>
            <a:r>
              <a:rPr lang="en-US" altLang="ko-KR" sz="2200" b="1" dirty="0" smtClean="0">
                <a:latin typeface="NanumBarunGothic Light" panose="020B0603020101020101" pitchFamily="34" charset="-127"/>
                <a:ea typeface="NanumBarunGothic Light" panose="020B0603020101020101" pitchFamily="34" charset="-127"/>
              </a:rPr>
              <a:t>(Countries)-</a:t>
            </a:r>
            <a:r>
              <a:rPr lang="ko-KR" altLang="en-US" sz="2200" b="1" dirty="0" err="1" smtClean="0">
                <a:latin typeface="NanumBarunGothic Light" panose="020B0603020101020101" pitchFamily="34" charset="-127"/>
                <a:ea typeface="NanumBarunGothic Light" panose="020B0603020101020101" pitchFamily="34" charset="-127"/>
              </a:rPr>
              <a:t>적재값</a:t>
            </a:r>
            <a:r>
              <a:rPr lang="ko-KR" altLang="en-US" sz="2200" b="1" dirty="0" smtClean="0">
                <a:latin typeface="NanumBarunGothic Light" panose="020B0603020101020101" pitchFamily="34" charset="-127"/>
                <a:ea typeface="NanumBarunGothic Light" panose="020B0603020101020101" pitchFamily="34" charset="-127"/>
              </a:rPr>
              <a:t> 기준</a:t>
            </a:r>
            <a:endParaRPr lang="en-US" altLang="ko-KR" sz="2200" b="1" dirty="0">
              <a:latin typeface="NanumBarunGothic Light" panose="020B0603020101020101" pitchFamily="34" charset="-127"/>
              <a:ea typeface="NanumBarunGothic Light" panose="020B0603020101020101" pitchFamily="34" charset="-127"/>
            </a:endParaRPr>
          </a:p>
        </p:txBody>
      </p:sp>
      <p:pic>
        <p:nvPicPr>
          <p:cNvPr id="30" name="Picture 8"/>
          <p:cNvPicPr>
            <a:picLocks noChangeAspect="1" noChangeArrowheads="1"/>
          </p:cNvPicPr>
          <p:nvPr/>
        </p:nvPicPr>
        <p:blipFill>
          <a:blip r:embed="rId7" cstate="print"/>
          <a:srcRect/>
          <a:stretch>
            <a:fillRect/>
          </a:stretch>
        </p:blipFill>
        <p:spPr bwMode="auto">
          <a:xfrm>
            <a:off x="457200" y="1562099"/>
            <a:ext cx="5791200" cy="468399"/>
          </a:xfrm>
          <a:prstGeom prst="rect">
            <a:avLst/>
          </a:prstGeom>
          <a:noFill/>
          <a:ln w="9525">
            <a:noFill/>
            <a:miter lim="800000"/>
            <a:headEnd/>
            <a:tailEnd/>
          </a:ln>
          <a:effectLst/>
        </p:spPr>
      </p:pic>
      <p:sp>
        <p:nvSpPr>
          <p:cNvPr id="31" name="TextBox 12"/>
          <p:cNvSpPr txBox="1"/>
          <p:nvPr/>
        </p:nvSpPr>
        <p:spPr>
          <a:xfrm>
            <a:off x="7391400" y="660400"/>
            <a:ext cx="3505200" cy="444500"/>
          </a:xfrm>
          <a:prstGeom prst="rect">
            <a:avLst/>
          </a:prstGeom>
        </p:spPr>
        <p:txBody>
          <a:bodyPr lIns="0" tIns="0" rIns="0" bIns="0" rtlCol="0" anchor="ctr"/>
          <a:lstStyle/>
          <a:p>
            <a:pPr lvl="0" algn="ctr">
              <a:lnSpc>
                <a:spcPct val="98770"/>
              </a:lnSpc>
            </a:pPr>
            <a:r>
              <a:rPr lang="en-US" sz="2500" b="0" i="0" u="none" strike="noStrike" dirty="0">
                <a:solidFill>
                  <a:srgbClr val="229BEE"/>
                </a:solidFill>
                <a:latin typeface="+mn-ea"/>
              </a:rPr>
              <a:t>CHAPTER </a:t>
            </a:r>
            <a:r>
              <a:rPr lang="en-US" sz="2500" b="0" i="0" u="none" strike="noStrike" dirty="0" smtClean="0">
                <a:solidFill>
                  <a:srgbClr val="229BEE"/>
                </a:solidFill>
                <a:latin typeface="+mn-ea"/>
              </a:rPr>
              <a:t>03</a:t>
            </a:r>
            <a:endParaRPr lang="en-US" sz="2500" b="0" i="0" u="none" strike="noStrike" dirty="0">
              <a:solidFill>
                <a:srgbClr val="229BEE"/>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p:bldP spid="25" grpId="0"/>
      <p:bldP spid="2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229BEE"/>
        </a:solidFill>
        <a:effectLst/>
      </p:bgPr>
    </p:bg>
    <p:spTree>
      <p:nvGrpSpPr>
        <p:cNvPr id="1" name=""/>
        <p:cNvGrpSpPr/>
        <p:nvPr/>
      </p:nvGrpSpPr>
      <p:grpSpPr>
        <a:xfrm>
          <a:off x="0" y="0"/>
          <a:ext cx="0" cy="0"/>
          <a:chOff x="0" y="0"/>
          <a:chExt cx="0" cy="0"/>
        </a:xfrm>
      </p:grpSpPr>
      <p:pic>
        <p:nvPicPr>
          <p:cNvPr id="3" name="Picture 3"/>
          <p:cNvPicPr>
            <a:picLocks noChangeAspect="1"/>
          </p:cNvPicPr>
          <p:nvPr/>
        </p:nvPicPr>
        <p:blipFill>
          <a:blip r:embed="rId3" cstate="print">
            <a:alphaModFix amt="30000"/>
          </a:blip>
          <a:stretch>
            <a:fillRect/>
          </a:stretch>
        </p:blipFill>
        <p:spPr>
          <a:xfrm>
            <a:off x="1498600" y="8331200"/>
            <a:ext cx="6045200" cy="25400"/>
          </a:xfrm>
          <a:prstGeom prst="rect">
            <a:avLst/>
          </a:prstGeom>
        </p:spPr>
      </p:pic>
      <p:pic>
        <p:nvPicPr>
          <p:cNvPr id="4" name="Picture 4"/>
          <p:cNvPicPr>
            <a:picLocks noChangeAspect="1"/>
          </p:cNvPicPr>
          <p:nvPr/>
        </p:nvPicPr>
        <p:blipFill>
          <a:blip r:embed="rId4" cstate="print"/>
          <a:stretch>
            <a:fillRect/>
          </a:stretch>
        </p:blipFill>
        <p:spPr>
          <a:xfrm>
            <a:off x="16611600" y="0"/>
            <a:ext cx="673100" cy="965200"/>
          </a:xfrm>
          <a:prstGeom prst="rect">
            <a:avLst/>
          </a:prstGeom>
        </p:spPr>
      </p:pic>
      <p:pic>
        <p:nvPicPr>
          <p:cNvPr id="16" name="Picture 2"/>
          <p:cNvPicPr>
            <a:picLocks noChangeAspect="1"/>
          </p:cNvPicPr>
          <p:nvPr/>
        </p:nvPicPr>
        <p:blipFill>
          <a:blip r:embed="rId5" cstate="print"/>
          <a:stretch>
            <a:fillRect/>
          </a:stretch>
        </p:blipFill>
        <p:spPr>
          <a:xfrm>
            <a:off x="292100" y="292100"/>
            <a:ext cx="17716500" cy="9715500"/>
          </a:xfrm>
          <a:prstGeom prst="rect">
            <a:avLst/>
          </a:prstGeom>
        </p:spPr>
      </p:pic>
      <p:pic>
        <p:nvPicPr>
          <p:cNvPr id="17" name="Picture 3"/>
          <p:cNvPicPr>
            <a:picLocks noChangeAspect="1"/>
          </p:cNvPicPr>
          <p:nvPr/>
        </p:nvPicPr>
        <p:blipFill>
          <a:blip r:embed="rId6" cstate="print"/>
          <a:stretch>
            <a:fillRect/>
          </a:stretch>
        </p:blipFill>
        <p:spPr>
          <a:xfrm>
            <a:off x="1003300" y="2171700"/>
            <a:ext cx="16281400" cy="25400"/>
          </a:xfrm>
          <a:prstGeom prst="rect">
            <a:avLst/>
          </a:prstGeom>
        </p:spPr>
      </p:pic>
      <p:pic>
        <p:nvPicPr>
          <p:cNvPr id="18" name="Picture 4"/>
          <p:cNvPicPr>
            <a:picLocks noChangeAspect="1"/>
          </p:cNvPicPr>
          <p:nvPr/>
        </p:nvPicPr>
        <p:blipFill>
          <a:blip r:embed="rId4" cstate="print"/>
          <a:stretch>
            <a:fillRect/>
          </a:stretch>
        </p:blipFill>
        <p:spPr>
          <a:xfrm>
            <a:off x="16611600" y="0"/>
            <a:ext cx="673100" cy="965200"/>
          </a:xfrm>
          <a:prstGeom prst="rect">
            <a:avLst/>
          </a:prstGeom>
        </p:spPr>
      </p:pic>
      <p:sp>
        <p:nvSpPr>
          <p:cNvPr id="19" name="TextBox 18">
            <a:extLst>
              <a:ext uri="{FF2B5EF4-FFF2-40B4-BE49-F238E27FC236}">
                <a16:creationId xmlns="" xmlns:a16="http://schemas.microsoft.com/office/drawing/2014/main" id="{9868D4D3-D354-8A4A-E870-E4A7DA56A02E}"/>
              </a:ext>
            </a:extLst>
          </p:cNvPr>
          <p:cNvSpPr txBox="1"/>
          <p:nvPr/>
        </p:nvSpPr>
        <p:spPr>
          <a:xfrm>
            <a:off x="914400" y="2628900"/>
            <a:ext cx="6477000" cy="430887"/>
          </a:xfrm>
          <a:prstGeom prst="rect">
            <a:avLst/>
          </a:prstGeom>
          <a:noFill/>
        </p:spPr>
        <p:txBody>
          <a:bodyPr wrap="square" rtlCol="0">
            <a:spAutoFit/>
          </a:bodyPr>
          <a:lstStyle/>
          <a:p>
            <a:r>
              <a:rPr lang="ko-KR" altLang="en-US" sz="2200" b="1" dirty="0" smtClean="0">
                <a:latin typeface="NanumBarunGothic Light" panose="020B0603020101020101" pitchFamily="34" charset="-127"/>
                <a:ea typeface="NanumBarunGothic Light" panose="020B0603020101020101" pitchFamily="34" charset="-127"/>
              </a:rPr>
              <a:t>주성분　</a:t>
            </a:r>
            <a:r>
              <a:rPr lang="ko-KR" altLang="en-US" sz="2200" b="1" dirty="0" err="1" smtClean="0">
                <a:latin typeface="NanumBarunGothic Light" panose="020B0603020101020101" pitchFamily="34" charset="-127"/>
                <a:ea typeface="NanumBarunGothic Light" panose="020B0603020101020101" pitchFamily="34" charset="-127"/>
              </a:rPr>
              <a:t>적재값</a:t>
            </a:r>
            <a:r>
              <a:rPr lang="ko-KR" altLang="en-US" sz="2200" b="1" dirty="0" smtClean="0">
                <a:latin typeface="NanumBarunGothic Light" panose="020B0603020101020101" pitchFamily="34" charset="-127"/>
                <a:ea typeface="NanumBarunGothic Light" panose="020B0603020101020101" pitchFamily="34" charset="-127"/>
              </a:rPr>
              <a:t> </a:t>
            </a:r>
            <a:endParaRPr lang="en-US" altLang="ko-KR" sz="2200" b="1" dirty="0">
              <a:latin typeface="NanumBarunGothic Light" panose="020B0603020101020101" pitchFamily="34" charset="-127"/>
              <a:ea typeface="NanumBarunGothic Light" panose="020B0603020101020101" pitchFamily="34" charset="-127"/>
            </a:endParaRPr>
          </a:p>
        </p:txBody>
      </p:sp>
      <p:sp>
        <p:nvSpPr>
          <p:cNvPr id="20" name="TextBox 11"/>
          <p:cNvSpPr txBox="1"/>
          <p:nvPr/>
        </p:nvSpPr>
        <p:spPr>
          <a:xfrm>
            <a:off x="2476500" y="876300"/>
            <a:ext cx="13335000" cy="1409700"/>
          </a:xfrm>
          <a:prstGeom prst="rect">
            <a:avLst/>
          </a:prstGeom>
        </p:spPr>
        <p:txBody>
          <a:bodyPr lIns="0" tIns="0" rIns="0" bIns="0" rtlCol="0" anchor="ctr"/>
          <a:lstStyle/>
          <a:p>
            <a:pPr lvl="0" algn="ctr">
              <a:lnSpc>
                <a:spcPct val="98770"/>
              </a:lnSpc>
            </a:pPr>
            <a:r>
              <a:rPr lang="ko-KR" altLang="en-US" sz="5400" dirty="0" smtClean="0">
                <a:solidFill>
                  <a:srgbClr val="4D4D4D"/>
                </a:solidFill>
                <a:latin typeface="Noto Sans KR Medium" pitchFamily="50" charset="-127"/>
                <a:ea typeface="Noto Sans KR Medium" pitchFamily="50" charset="-127"/>
              </a:rPr>
              <a:t>전체평균 데이터</a:t>
            </a:r>
            <a:endParaRPr lang="ko-KR" sz="5400" b="0" i="0" u="none" strike="noStrike" dirty="0">
              <a:solidFill>
                <a:srgbClr val="4D4D4D"/>
              </a:solidFill>
              <a:latin typeface="Noto Sans KR Medium" pitchFamily="50" charset="-127"/>
              <a:ea typeface="Noto Sans KR Medium" pitchFamily="50" charset="-127"/>
            </a:endParaRPr>
          </a:p>
        </p:txBody>
      </p:sp>
      <p:pic>
        <p:nvPicPr>
          <p:cNvPr id="21" name="Picture 7"/>
          <p:cNvPicPr>
            <a:picLocks noChangeAspect="1" noChangeArrowheads="1"/>
          </p:cNvPicPr>
          <p:nvPr/>
        </p:nvPicPr>
        <p:blipFill>
          <a:blip r:embed="rId7" cstate="print"/>
          <a:srcRect/>
          <a:stretch>
            <a:fillRect/>
          </a:stretch>
        </p:blipFill>
        <p:spPr bwMode="auto">
          <a:xfrm>
            <a:off x="609600" y="3314700"/>
            <a:ext cx="16992600" cy="1981200"/>
          </a:xfrm>
          <a:prstGeom prst="rect">
            <a:avLst/>
          </a:prstGeom>
          <a:noFill/>
          <a:ln w="9525">
            <a:noFill/>
            <a:miter lim="800000"/>
            <a:headEnd/>
            <a:tailEnd/>
          </a:ln>
          <a:effectLst/>
        </p:spPr>
      </p:pic>
      <p:sp>
        <p:nvSpPr>
          <p:cNvPr id="22" name="직사각형 21"/>
          <p:cNvSpPr/>
          <p:nvPr/>
        </p:nvSpPr>
        <p:spPr>
          <a:xfrm>
            <a:off x="1371600" y="3771900"/>
            <a:ext cx="16230600" cy="53340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TextBox 22"/>
          <p:cNvSpPr txBox="1"/>
          <p:nvPr/>
        </p:nvSpPr>
        <p:spPr>
          <a:xfrm>
            <a:off x="990600" y="5981700"/>
            <a:ext cx="14173200" cy="2677656"/>
          </a:xfrm>
          <a:prstGeom prst="rect">
            <a:avLst/>
          </a:prstGeom>
          <a:noFill/>
        </p:spPr>
        <p:txBody>
          <a:bodyPr wrap="square" rtlCol="0">
            <a:spAutoFit/>
          </a:bodyPr>
          <a:lstStyle/>
          <a:p>
            <a:r>
              <a:rPr lang="ko-KR" altLang="en-US" sz="2400" b="1" dirty="0" smtClean="0">
                <a:latin typeface="+mn-ea"/>
              </a:rPr>
              <a:t>ＰＣ１（</a:t>
            </a:r>
            <a:r>
              <a:rPr lang="ko-KR" altLang="en-US" sz="2400" b="1" dirty="0" err="1" smtClean="0">
                <a:latin typeface="+mn-ea"/>
              </a:rPr>
              <a:t>첫번째</a:t>
            </a:r>
            <a:r>
              <a:rPr lang="ko-KR" altLang="en-US" sz="2400" b="1" dirty="0" smtClean="0">
                <a:latin typeface="+mn-ea"/>
              </a:rPr>
              <a:t>　주성분）</a:t>
            </a:r>
            <a:r>
              <a:rPr lang="ko-KR" altLang="en-US" sz="2400" dirty="0" smtClean="0">
                <a:latin typeface="+mn-ea"/>
              </a:rPr>
              <a:t>：</a:t>
            </a:r>
            <a:endParaRPr lang="en-US" altLang="ko-KR" sz="2400" dirty="0" smtClean="0">
              <a:latin typeface="+mn-ea"/>
            </a:endParaRPr>
          </a:p>
          <a:p>
            <a:pPr>
              <a:buFont typeface="Arial" pitchFamily="34" charset="0"/>
              <a:buChar char="•"/>
            </a:pPr>
            <a:r>
              <a:rPr lang="en-US" altLang="ko-KR" sz="2400" dirty="0" smtClean="0">
                <a:latin typeface="+mn-ea"/>
              </a:rPr>
              <a:t>PC1</a:t>
            </a:r>
            <a:r>
              <a:rPr lang="ko-KR" altLang="en-US" sz="2400" dirty="0" smtClean="0">
                <a:latin typeface="+mn-ea"/>
              </a:rPr>
              <a:t>에서 거의 모든 변수들이 고르게 양수값 </a:t>
            </a:r>
            <a:endParaRPr lang="en-US" altLang="ko-KR" sz="2400" dirty="0" smtClean="0">
              <a:latin typeface="+mn-ea"/>
            </a:endParaRPr>
          </a:p>
          <a:p>
            <a:r>
              <a:rPr lang="ko-KR" altLang="en-US" sz="2400" dirty="0" smtClean="0">
                <a:latin typeface="+mn-ea"/>
              </a:rPr>
              <a:t>→ </a:t>
            </a:r>
            <a:r>
              <a:rPr lang="en-US" altLang="ko-KR" sz="2400" dirty="0" smtClean="0">
                <a:latin typeface="+mn-ea"/>
              </a:rPr>
              <a:t>"</a:t>
            </a:r>
            <a:r>
              <a:rPr lang="ko-KR" altLang="en-US" sz="2400" dirty="0" smtClean="0">
                <a:latin typeface="+mn-ea"/>
              </a:rPr>
              <a:t>에너지 생산량과 온실가스 배출량이 동시에 높거나 낮은 국가 구분</a:t>
            </a:r>
            <a:r>
              <a:rPr lang="en-US" altLang="ko-KR" sz="2400" dirty="0" smtClean="0">
                <a:latin typeface="+mn-ea"/>
              </a:rPr>
              <a:t>“</a:t>
            </a:r>
          </a:p>
          <a:p>
            <a:pPr>
              <a:buFont typeface="Arial" pitchFamily="34" charset="0"/>
              <a:buChar char="•"/>
            </a:pPr>
            <a:r>
              <a:rPr lang="en-US" altLang="ko-KR" sz="2400" dirty="0" smtClean="0">
                <a:latin typeface="+mn-ea"/>
              </a:rPr>
              <a:t>PC1 </a:t>
            </a:r>
            <a:r>
              <a:rPr lang="ko-KR" altLang="en-US" sz="2400" dirty="0" smtClean="0">
                <a:latin typeface="+mn-ea"/>
              </a:rPr>
              <a:t>점수가 높은 국가는</a:t>
            </a:r>
            <a:br>
              <a:rPr lang="ko-KR" altLang="en-US" sz="2400" dirty="0" smtClean="0">
                <a:latin typeface="+mn-ea"/>
              </a:rPr>
            </a:br>
            <a:r>
              <a:rPr lang="ko-KR" altLang="en-US" sz="2400" dirty="0" smtClean="0">
                <a:latin typeface="+mn-ea"/>
              </a:rPr>
              <a:t>→ 에너지 소비량도 많고 온실가스 배출량도 많은 국가 </a:t>
            </a:r>
          </a:p>
          <a:p>
            <a:pPr>
              <a:buFont typeface="Arial" pitchFamily="34" charset="0"/>
              <a:buChar char="•"/>
            </a:pPr>
            <a:r>
              <a:rPr lang="en-US" altLang="ko-KR" sz="2400" dirty="0" smtClean="0">
                <a:latin typeface="+mn-ea"/>
              </a:rPr>
              <a:t>PC1 </a:t>
            </a:r>
            <a:r>
              <a:rPr lang="ko-KR" altLang="en-US" sz="2400" dirty="0" smtClean="0">
                <a:latin typeface="+mn-ea"/>
              </a:rPr>
              <a:t>점수가 낮은 국가는</a:t>
            </a:r>
            <a:br>
              <a:rPr lang="ko-KR" altLang="en-US" sz="2400" dirty="0" smtClean="0">
                <a:latin typeface="+mn-ea"/>
              </a:rPr>
            </a:br>
            <a:r>
              <a:rPr lang="ko-KR" altLang="en-US" sz="2400" dirty="0" smtClean="0">
                <a:latin typeface="+mn-ea"/>
              </a:rPr>
              <a:t>→ 에너지 소비량과 온실가스 배출량이 적은 </a:t>
            </a:r>
            <a:r>
              <a:rPr lang="ko-KR" altLang="en-US" sz="2400" dirty="0" err="1" smtClean="0">
                <a:latin typeface="+mn-ea"/>
              </a:rPr>
              <a:t>소국가</a:t>
            </a:r>
            <a:endParaRPr lang="ko-KR" altLang="en-US" sz="2400" dirty="0">
              <a:latin typeface="+mn-ea"/>
            </a:endParaRPr>
          </a:p>
        </p:txBody>
      </p:sp>
      <p:sp>
        <p:nvSpPr>
          <p:cNvPr id="24" name="TextBox 12"/>
          <p:cNvSpPr txBox="1"/>
          <p:nvPr/>
        </p:nvSpPr>
        <p:spPr>
          <a:xfrm>
            <a:off x="7391400" y="660400"/>
            <a:ext cx="3505200" cy="444500"/>
          </a:xfrm>
          <a:prstGeom prst="rect">
            <a:avLst/>
          </a:prstGeom>
        </p:spPr>
        <p:txBody>
          <a:bodyPr lIns="0" tIns="0" rIns="0" bIns="0" rtlCol="0" anchor="ctr"/>
          <a:lstStyle/>
          <a:p>
            <a:pPr lvl="0" algn="ctr">
              <a:lnSpc>
                <a:spcPct val="98770"/>
              </a:lnSpc>
            </a:pPr>
            <a:r>
              <a:rPr lang="en-US" sz="2500" b="0" i="0" u="none" strike="noStrike" dirty="0">
                <a:solidFill>
                  <a:srgbClr val="229BEE"/>
                </a:solidFill>
                <a:latin typeface="+mn-ea"/>
              </a:rPr>
              <a:t>CHAPTER </a:t>
            </a:r>
            <a:r>
              <a:rPr lang="en-US" sz="2500" b="0" i="0" u="none" strike="noStrike" dirty="0" smtClean="0">
                <a:solidFill>
                  <a:srgbClr val="229BEE"/>
                </a:solidFill>
                <a:latin typeface="+mn-ea"/>
              </a:rPr>
              <a:t>03</a:t>
            </a:r>
            <a:endParaRPr lang="en-US" sz="2500" b="0" i="0" u="none" strike="noStrike" dirty="0">
              <a:solidFill>
                <a:srgbClr val="229BEE"/>
              </a:solidFill>
              <a:latin typeface="+mn-ea"/>
            </a:endParaRPr>
          </a:p>
        </p:txBody>
      </p:sp>
      <p:sp>
        <p:nvSpPr>
          <p:cNvPr id="25" name="오른쪽 화살표 24"/>
          <p:cNvSpPr/>
          <p:nvPr/>
        </p:nvSpPr>
        <p:spPr>
          <a:xfrm>
            <a:off x="762000" y="952500"/>
            <a:ext cx="762000" cy="533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TextBox 25"/>
          <p:cNvSpPr txBox="1"/>
          <p:nvPr/>
        </p:nvSpPr>
        <p:spPr>
          <a:xfrm>
            <a:off x="1676400" y="760393"/>
            <a:ext cx="4648200" cy="954107"/>
          </a:xfrm>
          <a:prstGeom prst="rect">
            <a:avLst/>
          </a:prstGeom>
          <a:noFill/>
        </p:spPr>
        <p:txBody>
          <a:bodyPr wrap="square" rtlCol="0">
            <a:spAutoFit/>
          </a:bodyPr>
          <a:lstStyle/>
          <a:p>
            <a:r>
              <a:rPr lang="ko-KR" altLang="en-US" sz="2800" dirty="0" smtClean="0"/>
              <a:t>추가적인 </a:t>
            </a:r>
            <a:r>
              <a:rPr lang="en-US" altLang="ko-KR" sz="2800" dirty="0" smtClean="0"/>
              <a:t>‘1981~2021’</a:t>
            </a:r>
            <a:r>
              <a:rPr lang="ko-KR" altLang="en-US" sz="2800" dirty="0" smtClean="0"/>
              <a:t>기간 전체 평균 데이터로도 진행</a:t>
            </a:r>
            <a:endParaRPr lang="ko-KR" altLang="en-US" sz="28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229BEE"/>
        </a:solidFill>
        <a:effectLst/>
      </p:bgPr>
    </p:bg>
    <p:spTree>
      <p:nvGrpSpPr>
        <p:cNvPr id="1" name=""/>
        <p:cNvGrpSpPr/>
        <p:nvPr/>
      </p:nvGrpSpPr>
      <p:grpSpPr>
        <a:xfrm>
          <a:off x="0" y="0"/>
          <a:ext cx="0" cy="0"/>
          <a:chOff x="0" y="0"/>
          <a:chExt cx="0" cy="0"/>
        </a:xfrm>
      </p:grpSpPr>
      <p:pic>
        <p:nvPicPr>
          <p:cNvPr id="3" name="Picture 3"/>
          <p:cNvPicPr>
            <a:picLocks noChangeAspect="1"/>
          </p:cNvPicPr>
          <p:nvPr/>
        </p:nvPicPr>
        <p:blipFill>
          <a:blip r:embed="rId3" cstate="print">
            <a:alphaModFix amt="30000"/>
          </a:blip>
          <a:stretch>
            <a:fillRect/>
          </a:stretch>
        </p:blipFill>
        <p:spPr>
          <a:xfrm>
            <a:off x="1498600" y="8331200"/>
            <a:ext cx="6045200" cy="25400"/>
          </a:xfrm>
          <a:prstGeom prst="rect">
            <a:avLst/>
          </a:prstGeom>
        </p:spPr>
      </p:pic>
      <p:pic>
        <p:nvPicPr>
          <p:cNvPr id="4" name="Picture 4"/>
          <p:cNvPicPr>
            <a:picLocks noChangeAspect="1"/>
          </p:cNvPicPr>
          <p:nvPr/>
        </p:nvPicPr>
        <p:blipFill>
          <a:blip r:embed="rId4" cstate="print"/>
          <a:stretch>
            <a:fillRect/>
          </a:stretch>
        </p:blipFill>
        <p:spPr>
          <a:xfrm>
            <a:off x="16611600" y="0"/>
            <a:ext cx="673100" cy="965200"/>
          </a:xfrm>
          <a:prstGeom prst="rect">
            <a:avLst/>
          </a:prstGeom>
        </p:spPr>
      </p:pic>
      <p:pic>
        <p:nvPicPr>
          <p:cNvPr id="5" name="Picture 2"/>
          <p:cNvPicPr>
            <a:picLocks noChangeAspect="1"/>
          </p:cNvPicPr>
          <p:nvPr/>
        </p:nvPicPr>
        <p:blipFill>
          <a:blip r:embed="rId5" cstate="print"/>
          <a:stretch>
            <a:fillRect/>
          </a:stretch>
        </p:blipFill>
        <p:spPr>
          <a:xfrm>
            <a:off x="292100" y="292100"/>
            <a:ext cx="17716500" cy="9715500"/>
          </a:xfrm>
          <a:prstGeom prst="rect">
            <a:avLst/>
          </a:prstGeom>
        </p:spPr>
      </p:pic>
      <p:pic>
        <p:nvPicPr>
          <p:cNvPr id="6" name="Picture 3"/>
          <p:cNvPicPr>
            <a:picLocks noChangeAspect="1"/>
          </p:cNvPicPr>
          <p:nvPr/>
        </p:nvPicPr>
        <p:blipFill>
          <a:blip r:embed="rId6" cstate="print"/>
          <a:stretch>
            <a:fillRect/>
          </a:stretch>
        </p:blipFill>
        <p:spPr>
          <a:xfrm>
            <a:off x="1003300" y="2171700"/>
            <a:ext cx="16281400" cy="25400"/>
          </a:xfrm>
          <a:prstGeom prst="rect">
            <a:avLst/>
          </a:prstGeom>
        </p:spPr>
      </p:pic>
      <p:pic>
        <p:nvPicPr>
          <p:cNvPr id="7" name="Picture 4"/>
          <p:cNvPicPr>
            <a:picLocks noChangeAspect="1"/>
          </p:cNvPicPr>
          <p:nvPr/>
        </p:nvPicPr>
        <p:blipFill>
          <a:blip r:embed="rId4" cstate="print"/>
          <a:stretch>
            <a:fillRect/>
          </a:stretch>
        </p:blipFill>
        <p:spPr>
          <a:xfrm>
            <a:off x="16611600" y="0"/>
            <a:ext cx="673100" cy="965200"/>
          </a:xfrm>
          <a:prstGeom prst="rect">
            <a:avLst/>
          </a:prstGeom>
        </p:spPr>
      </p:pic>
      <p:sp>
        <p:nvSpPr>
          <p:cNvPr id="8" name="TextBox 7">
            <a:extLst>
              <a:ext uri="{FF2B5EF4-FFF2-40B4-BE49-F238E27FC236}">
                <a16:creationId xmlns="" xmlns:a16="http://schemas.microsoft.com/office/drawing/2014/main" id="{9868D4D3-D354-8A4A-E870-E4A7DA56A02E}"/>
              </a:ext>
            </a:extLst>
          </p:cNvPr>
          <p:cNvSpPr txBox="1"/>
          <p:nvPr/>
        </p:nvSpPr>
        <p:spPr>
          <a:xfrm>
            <a:off x="914400" y="2628900"/>
            <a:ext cx="6477000" cy="430887"/>
          </a:xfrm>
          <a:prstGeom prst="rect">
            <a:avLst/>
          </a:prstGeom>
          <a:noFill/>
        </p:spPr>
        <p:txBody>
          <a:bodyPr wrap="square" rtlCol="0">
            <a:spAutoFit/>
          </a:bodyPr>
          <a:lstStyle/>
          <a:p>
            <a:r>
              <a:rPr lang="ko-KR" altLang="en-US" sz="2200" b="1" dirty="0" smtClean="0">
                <a:latin typeface="NanumBarunGothic Light" panose="020B0603020101020101" pitchFamily="34" charset="-127"/>
                <a:ea typeface="NanumBarunGothic Light" panose="020B0603020101020101" pitchFamily="34" charset="-127"/>
              </a:rPr>
              <a:t>주성분　</a:t>
            </a:r>
            <a:r>
              <a:rPr lang="ko-KR" altLang="en-US" sz="2200" b="1" dirty="0" err="1" smtClean="0">
                <a:latin typeface="NanumBarunGothic Light" panose="020B0603020101020101" pitchFamily="34" charset="-127"/>
                <a:ea typeface="NanumBarunGothic Light" panose="020B0603020101020101" pitchFamily="34" charset="-127"/>
              </a:rPr>
              <a:t>적재값</a:t>
            </a:r>
            <a:r>
              <a:rPr lang="ko-KR" altLang="en-US" sz="2200" b="1" dirty="0" smtClean="0">
                <a:latin typeface="NanumBarunGothic Light" panose="020B0603020101020101" pitchFamily="34" charset="-127"/>
                <a:ea typeface="NanumBarunGothic Light" panose="020B0603020101020101" pitchFamily="34" charset="-127"/>
              </a:rPr>
              <a:t> </a:t>
            </a:r>
            <a:endParaRPr lang="en-US" altLang="ko-KR" sz="2200" b="1" dirty="0">
              <a:latin typeface="NanumBarunGothic Light" panose="020B0603020101020101" pitchFamily="34" charset="-127"/>
              <a:ea typeface="NanumBarunGothic Light" panose="020B0603020101020101" pitchFamily="34" charset="-127"/>
            </a:endParaRPr>
          </a:p>
        </p:txBody>
      </p:sp>
      <p:pic>
        <p:nvPicPr>
          <p:cNvPr id="9" name="Picture 7"/>
          <p:cNvPicPr>
            <a:picLocks noChangeAspect="1" noChangeArrowheads="1"/>
          </p:cNvPicPr>
          <p:nvPr/>
        </p:nvPicPr>
        <p:blipFill>
          <a:blip r:embed="rId7" cstate="print"/>
          <a:srcRect/>
          <a:stretch>
            <a:fillRect/>
          </a:stretch>
        </p:blipFill>
        <p:spPr bwMode="auto">
          <a:xfrm>
            <a:off x="609600" y="3314700"/>
            <a:ext cx="16992600" cy="1981200"/>
          </a:xfrm>
          <a:prstGeom prst="rect">
            <a:avLst/>
          </a:prstGeom>
          <a:noFill/>
          <a:ln w="9525">
            <a:noFill/>
            <a:miter lim="800000"/>
            <a:headEnd/>
            <a:tailEnd/>
          </a:ln>
          <a:effectLst/>
        </p:spPr>
      </p:pic>
      <p:sp>
        <p:nvSpPr>
          <p:cNvPr id="10" name="직사각형 9"/>
          <p:cNvSpPr/>
          <p:nvPr/>
        </p:nvSpPr>
        <p:spPr>
          <a:xfrm>
            <a:off x="7467600" y="4305300"/>
            <a:ext cx="990600" cy="45720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직사각형 10"/>
          <p:cNvSpPr/>
          <p:nvPr/>
        </p:nvSpPr>
        <p:spPr>
          <a:xfrm>
            <a:off x="8458200" y="4762500"/>
            <a:ext cx="1066800" cy="533400"/>
          </a:xfrm>
          <a:prstGeom prst="rect">
            <a:avLst/>
          </a:prstGeom>
          <a:noFill/>
          <a:ln w="5715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 name="직사각형 11"/>
          <p:cNvSpPr/>
          <p:nvPr/>
        </p:nvSpPr>
        <p:spPr>
          <a:xfrm>
            <a:off x="5486400" y="4305300"/>
            <a:ext cx="990600" cy="45720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p:cNvSpPr/>
          <p:nvPr/>
        </p:nvSpPr>
        <p:spPr>
          <a:xfrm>
            <a:off x="2438400" y="4305300"/>
            <a:ext cx="990600" cy="45720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TextBox 13"/>
          <p:cNvSpPr txBox="1"/>
          <p:nvPr/>
        </p:nvSpPr>
        <p:spPr>
          <a:xfrm>
            <a:off x="990600" y="5600700"/>
            <a:ext cx="16840200" cy="2677656"/>
          </a:xfrm>
          <a:prstGeom prst="rect">
            <a:avLst/>
          </a:prstGeom>
          <a:noFill/>
        </p:spPr>
        <p:txBody>
          <a:bodyPr wrap="square" rtlCol="0">
            <a:spAutoFit/>
          </a:bodyPr>
          <a:lstStyle/>
          <a:p>
            <a:r>
              <a:rPr lang="ko-KR" altLang="en-US" sz="2400" b="1" dirty="0" smtClean="0">
                <a:latin typeface="+mn-ea"/>
              </a:rPr>
              <a:t>ＰＣ２（</a:t>
            </a:r>
            <a:r>
              <a:rPr lang="ko-KR" altLang="en-US" sz="2400" b="1" dirty="0" err="1" smtClean="0">
                <a:latin typeface="+mn-ea"/>
              </a:rPr>
              <a:t>두번째</a:t>
            </a:r>
            <a:r>
              <a:rPr lang="ko-KR" altLang="en-US" sz="2400" b="1" dirty="0" smtClean="0">
                <a:latin typeface="+mn-ea"/>
              </a:rPr>
              <a:t>　주성분）</a:t>
            </a:r>
            <a:r>
              <a:rPr lang="ko-KR" altLang="en-US" sz="2400" dirty="0" smtClean="0">
                <a:latin typeface="+mn-ea"/>
              </a:rPr>
              <a:t>：</a:t>
            </a:r>
            <a:endParaRPr lang="en-US" altLang="ko-KR" sz="2400" b="1" dirty="0" smtClean="0"/>
          </a:p>
          <a:p>
            <a:pPr>
              <a:buFont typeface="Arial" pitchFamily="34" charset="0"/>
              <a:buChar char="•"/>
            </a:pPr>
            <a:r>
              <a:rPr lang="en-US" altLang="ko-KR" sz="2400" dirty="0" smtClean="0"/>
              <a:t>PC2</a:t>
            </a:r>
            <a:r>
              <a:rPr lang="ko-KR" altLang="en-US" sz="2400" dirty="0" smtClean="0"/>
              <a:t>에서 석탄（ｃｏａｌ）</a:t>
            </a:r>
            <a:r>
              <a:rPr lang="en-US" altLang="ko-KR" sz="2400" dirty="0" smtClean="0"/>
              <a:t>, </a:t>
            </a:r>
            <a:r>
              <a:rPr lang="ko-KR" altLang="en-US" sz="2400" dirty="0" smtClean="0"/>
              <a:t>시멘트（ｃｅｍｅｎｔ）</a:t>
            </a:r>
            <a:r>
              <a:rPr lang="en-US" altLang="ko-KR" sz="2400" dirty="0" smtClean="0"/>
              <a:t>, </a:t>
            </a:r>
            <a:r>
              <a:rPr lang="ko-KR" altLang="en-US" sz="2400" dirty="0" smtClean="0"/>
              <a:t>기타 </a:t>
            </a:r>
            <a:r>
              <a:rPr lang="en-US" altLang="ko-KR" sz="2400" dirty="0" smtClean="0"/>
              <a:t>CO2 </a:t>
            </a:r>
            <a:r>
              <a:rPr lang="ko-KR" altLang="en-US" sz="2400" dirty="0" smtClean="0"/>
              <a:t>배출은 </a:t>
            </a:r>
            <a:r>
              <a:rPr lang="en-US" altLang="ko-KR" sz="2400" dirty="0" smtClean="0"/>
              <a:t> </a:t>
            </a:r>
            <a:r>
              <a:rPr lang="ko-KR" altLang="en-US" sz="2400" dirty="0" smtClean="0"/>
              <a:t>양수</a:t>
            </a:r>
            <a:r>
              <a:rPr lang="en-US" altLang="ko-KR" sz="2400" dirty="0" smtClean="0"/>
              <a:t> / </a:t>
            </a:r>
            <a:r>
              <a:rPr lang="ko-KR" altLang="en-US" sz="2400" dirty="0" smtClean="0"/>
              <a:t>가스，</a:t>
            </a:r>
            <a:r>
              <a:rPr lang="ko-KR" altLang="en-US" sz="2400" dirty="0" err="1" smtClean="0"/>
              <a:t>플레어링</a:t>
            </a:r>
            <a:r>
              <a:rPr lang="ko-KR" altLang="en-US" sz="2400" dirty="0" smtClean="0"/>
              <a:t>　배출，에너지생산은 음수</a:t>
            </a:r>
            <a:br>
              <a:rPr lang="ko-KR" altLang="en-US" sz="2400" dirty="0" smtClean="0"/>
            </a:br>
            <a:r>
              <a:rPr lang="ko-KR" altLang="en-US" sz="2400" dirty="0" smtClean="0"/>
              <a:t>→ </a:t>
            </a:r>
            <a:r>
              <a:rPr lang="en-US" altLang="ko-KR" sz="2400" dirty="0" smtClean="0"/>
              <a:t>PC2</a:t>
            </a:r>
            <a:r>
              <a:rPr lang="ko-KR" altLang="en-US" sz="2400" dirty="0" smtClean="0"/>
              <a:t>는 국가별 </a:t>
            </a:r>
            <a:r>
              <a:rPr lang="en-US" altLang="ko-KR" sz="2400" dirty="0" smtClean="0"/>
              <a:t>"</a:t>
            </a:r>
            <a:r>
              <a:rPr lang="ko-KR" altLang="en-US" sz="2400" dirty="0" smtClean="0"/>
              <a:t>에너지원 구성</a:t>
            </a:r>
            <a:r>
              <a:rPr lang="en-US" altLang="ko-KR" sz="2400" dirty="0" smtClean="0"/>
              <a:t>" </a:t>
            </a:r>
            <a:r>
              <a:rPr lang="ko-KR" altLang="en-US" sz="2400" dirty="0" smtClean="0"/>
              <a:t>차이를 보여준다</a:t>
            </a:r>
          </a:p>
          <a:p>
            <a:pPr>
              <a:buFont typeface="Arial" pitchFamily="34" charset="0"/>
              <a:buChar char="•"/>
            </a:pPr>
            <a:r>
              <a:rPr lang="en-US" altLang="ko-KR" sz="2400" dirty="0" smtClean="0"/>
              <a:t>PC2 </a:t>
            </a:r>
            <a:r>
              <a:rPr lang="ko-KR" altLang="en-US" sz="2400" dirty="0" smtClean="0"/>
              <a:t>점수가 높은 국가는</a:t>
            </a:r>
            <a:br>
              <a:rPr lang="ko-KR" altLang="en-US" sz="2400" dirty="0" smtClean="0"/>
            </a:br>
            <a:r>
              <a:rPr lang="ko-KR" altLang="en-US" sz="2400" dirty="0" smtClean="0"/>
              <a:t>→ 석탄 중심 </a:t>
            </a:r>
            <a:r>
              <a:rPr lang="en-US" altLang="ko-KR" sz="2400" dirty="0" smtClean="0"/>
              <a:t>/ </a:t>
            </a:r>
            <a:r>
              <a:rPr lang="ko-KR" altLang="en-US" sz="2400" dirty="0" smtClean="0"/>
              <a:t>시멘트 산업 비중 높은 국가</a:t>
            </a:r>
          </a:p>
          <a:p>
            <a:pPr>
              <a:buFont typeface="Arial" pitchFamily="34" charset="0"/>
              <a:buChar char="•"/>
            </a:pPr>
            <a:r>
              <a:rPr lang="en-US" altLang="ko-KR" sz="2400" dirty="0" smtClean="0"/>
              <a:t>PC2 </a:t>
            </a:r>
            <a:r>
              <a:rPr lang="ko-KR" altLang="en-US" sz="2400" dirty="0" smtClean="0"/>
              <a:t>점수가 낮은 국가는</a:t>
            </a:r>
            <a:br>
              <a:rPr lang="ko-KR" altLang="en-US" sz="2400" dirty="0" smtClean="0"/>
            </a:br>
            <a:r>
              <a:rPr lang="ko-KR" altLang="en-US" sz="2400" dirty="0" smtClean="0"/>
              <a:t>→ 천연가스</a:t>
            </a:r>
            <a:r>
              <a:rPr lang="en-US" altLang="ko-KR" sz="2400" dirty="0" smtClean="0"/>
              <a:t>·</a:t>
            </a:r>
            <a:r>
              <a:rPr lang="ko-KR" altLang="en-US" sz="2400" dirty="0" smtClean="0"/>
              <a:t>원자력 기반 에너지가 높은 국가</a:t>
            </a:r>
            <a:endParaRPr lang="en-US" altLang="ko-KR" sz="2400" dirty="0" smtClean="0"/>
          </a:p>
        </p:txBody>
      </p:sp>
      <p:sp>
        <p:nvSpPr>
          <p:cNvPr id="15" name="직사각형 14"/>
          <p:cNvSpPr/>
          <p:nvPr/>
        </p:nvSpPr>
        <p:spPr>
          <a:xfrm>
            <a:off x="4419600" y="4305300"/>
            <a:ext cx="990600" cy="457200"/>
          </a:xfrm>
          <a:prstGeom prst="rect">
            <a:avLst/>
          </a:prstGeom>
          <a:no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직사각형 15"/>
          <p:cNvSpPr/>
          <p:nvPr/>
        </p:nvSpPr>
        <p:spPr>
          <a:xfrm>
            <a:off x="6477000" y="4305300"/>
            <a:ext cx="990600" cy="457200"/>
          </a:xfrm>
          <a:prstGeom prst="rect">
            <a:avLst/>
          </a:prstGeom>
          <a:no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p:cNvSpPr/>
          <p:nvPr/>
        </p:nvSpPr>
        <p:spPr>
          <a:xfrm>
            <a:off x="11582400" y="4305300"/>
            <a:ext cx="2971800" cy="457200"/>
          </a:xfrm>
          <a:prstGeom prst="rect">
            <a:avLst/>
          </a:prstGeom>
          <a:no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TextBox 17"/>
          <p:cNvSpPr txBox="1"/>
          <p:nvPr/>
        </p:nvSpPr>
        <p:spPr>
          <a:xfrm>
            <a:off x="990600" y="8343900"/>
            <a:ext cx="17068800" cy="1446550"/>
          </a:xfrm>
          <a:prstGeom prst="rect">
            <a:avLst/>
          </a:prstGeom>
          <a:noFill/>
        </p:spPr>
        <p:txBody>
          <a:bodyPr wrap="square" rtlCol="0">
            <a:spAutoFit/>
          </a:bodyPr>
          <a:lstStyle/>
          <a:p>
            <a:r>
              <a:rPr lang="ko-KR" altLang="en-US" sz="2200" b="1" dirty="0" smtClean="0">
                <a:latin typeface="+mn-ea"/>
              </a:rPr>
              <a:t>ＰＣ３（</a:t>
            </a:r>
            <a:r>
              <a:rPr lang="ko-KR" altLang="en-US" sz="2200" b="1" dirty="0" err="1" smtClean="0">
                <a:latin typeface="+mn-ea"/>
              </a:rPr>
              <a:t>세번째</a:t>
            </a:r>
            <a:r>
              <a:rPr lang="ko-KR" altLang="en-US" sz="2200" b="1" dirty="0" smtClean="0">
                <a:latin typeface="+mn-ea"/>
              </a:rPr>
              <a:t>　주성분）</a:t>
            </a:r>
            <a:r>
              <a:rPr lang="ko-KR" altLang="en-US" sz="2200" dirty="0" smtClean="0">
                <a:latin typeface="+mn-ea"/>
              </a:rPr>
              <a:t>：</a:t>
            </a:r>
            <a:endParaRPr lang="en-US" altLang="ko-KR" sz="2200" dirty="0" smtClean="0">
              <a:latin typeface="+mn-ea"/>
            </a:endParaRPr>
          </a:p>
          <a:p>
            <a:pPr>
              <a:buFont typeface="Arial" pitchFamily="34" charset="0"/>
              <a:buChar char="•"/>
            </a:pPr>
            <a:r>
              <a:rPr lang="en-US" altLang="ko-KR" sz="2200" dirty="0" smtClean="0">
                <a:latin typeface="+mn-ea"/>
              </a:rPr>
              <a:t>PC3</a:t>
            </a:r>
            <a:r>
              <a:rPr lang="ko-KR" altLang="en-US" sz="2200" dirty="0" smtClean="0">
                <a:latin typeface="+mn-ea"/>
              </a:rPr>
              <a:t>에서 </a:t>
            </a:r>
            <a:r>
              <a:rPr lang="en-US" altLang="ko-KR" sz="2200" dirty="0" smtClean="0">
                <a:latin typeface="+mn-ea"/>
              </a:rPr>
              <a:t>1</a:t>
            </a:r>
            <a:r>
              <a:rPr lang="ko-KR" altLang="en-US" sz="2200" dirty="0" smtClean="0">
                <a:latin typeface="+mn-ea"/>
              </a:rPr>
              <a:t>인당 </a:t>
            </a:r>
            <a:r>
              <a:rPr lang="en-US" altLang="ko-KR" sz="2200" dirty="0" smtClean="0">
                <a:latin typeface="+mn-ea"/>
              </a:rPr>
              <a:t>CO₂ </a:t>
            </a:r>
            <a:r>
              <a:rPr lang="ko-KR" altLang="en-US" sz="2200" dirty="0" smtClean="0">
                <a:latin typeface="+mn-ea"/>
              </a:rPr>
              <a:t>배출량</a:t>
            </a:r>
            <a:r>
              <a:rPr lang="en-US" altLang="ko-KR" sz="2200" dirty="0" smtClean="0">
                <a:latin typeface="+mn-ea"/>
              </a:rPr>
              <a:t>(Per.Capita.CO2)</a:t>
            </a:r>
            <a:r>
              <a:rPr lang="ko-KR" altLang="en-US" sz="2200" dirty="0" smtClean="0">
                <a:latin typeface="+mn-ea"/>
              </a:rPr>
              <a:t>은　거의　１에　가까움 </a:t>
            </a:r>
            <a:r>
              <a:rPr lang="en-US" altLang="ko-KR" sz="2200" dirty="0" smtClean="0">
                <a:latin typeface="+mn-ea"/>
              </a:rPr>
              <a:t>/ </a:t>
            </a:r>
            <a:r>
              <a:rPr lang="ko-KR" altLang="en-US" sz="2200" dirty="0" smtClean="0">
                <a:latin typeface="+mn-ea"/>
              </a:rPr>
              <a:t>나머지 변수들은 대부분 영향이 거의 없음</a:t>
            </a:r>
            <a:r>
              <a:rPr lang="en-US" altLang="ko-KR" sz="2200" dirty="0" smtClean="0">
                <a:latin typeface="+mn-ea"/>
              </a:rPr>
              <a:t>(</a:t>
            </a:r>
            <a:r>
              <a:rPr lang="ko-KR" altLang="en-US" sz="2200" dirty="0" err="1" smtClean="0">
                <a:latin typeface="+mn-ea"/>
              </a:rPr>
              <a:t>적재값</a:t>
            </a:r>
            <a:r>
              <a:rPr lang="ko-KR" altLang="en-US" sz="2200" dirty="0" smtClean="0">
                <a:latin typeface="+mn-ea"/>
              </a:rPr>
              <a:t> 작음</a:t>
            </a:r>
            <a:r>
              <a:rPr lang="en-US" altLang="ko-KR" sz="2200" dirty="0" smtClean="0">
                <a:latin typeface="+mn-ea"/>
              </a:rPr>
              <a:t>)</a:t>
            </a:r>
          </a:p>
          <a:p>
            <a:r>
              <a:rPr lang="en-US" altLang="ko-KR" sz="2200" dirty="0" smtClean="0">
                <a:latin typeface="+mn-ea"/>
              </a:rPr>
              <a:t>→ PC3</a:t>
            </a:r>
            <a:r>
              <a:rPr lang="ko-KR" altLang="en-US" sz="2200" dirty="0" smtClean="0">
                <a:latin typeface="+mn-ea"/>
              </a:rPr>
              <a:t>는 국가별 “</a:t>
            </a:r>
            <a:r>
              <a:rPr lang="en-US" altLang="ko-KR" sz="2200" dirty="0" smtClean="0">
                <a:latin typeface="+mn-ea"/>
              </a:rPr>
              <a:t>1</a:t>
            </a:r>
            <a:r>
              <a:rPr lang="ko-KR" altLang="en-US" sz="2200" dirty="0" smtClean="0">
                <a:latin typeface="+mn-ea"/>
              </a:rPr>
              <a:t>인당 온실가스 배출 특성” 차이를 보여준다</a:t>
            </a:r>
            <a:br>
              <a:rPr lang="ko-KR" altLang="en-US" sz="2200" dirty="0" smtClean="0">
                <a:latin typeface="+mn-ea"/>
              </a:rPr>
            </a:br>
            <a:r>
              <a:rPr lang="ko-KR" altLang="en-US" sz="2200" dirty="0" smtClean="0">
                <a:latin typeface="+mn-ea"/>
              </a:rPr>
              <a:t>→ </a:t>
            </a:r>
            <a:r>
              <a:rPr lang="en-US" altLang="ko-KR" sz="2200" dirty="0" smtClean="0">
                <a:latin typeface="+mn-ea"/>
              </a:rPr>
              <a:t>PC3 </a:t>
            </a:r>
            <a:r>
              <a:rPr lang="ko-KR" altLang="en-US" sz="2200" dirty="0" smtClean="0">
                <a:latin typeface="+mn-ea"/>
              </a:rPr>
              <a:t>점수가 클수록 국민 </a:t>
            </a:r>
            <a:r>
              <a:rPr lang="en-US" altLang="ko-KR" sz="2200" dirty="0" smtClean="0">
                <a:latin typeface="+mn-ea"/>
              </a:rPr>
              <a:t>1</a:t>
            </a:r>
            <a:r>
              <a:rPr lang="ko-KR" altLang="en-US" sz="2200" dirty="0" smtClean="0">
                <a:latin typeface="+mn-ea"/>
              </a:rPr>
              <a:t>인당 에너지 소비</a:t>
            </a:r>
            <a:r>
              <a:rPr lang="en-US" altLang="ko-KR" sz="2200" dirty="0" smtClean="0">
                <a:latin typeface="+mn-ea"/>
              </a:rPr>
              <a:t>·CO₂ </a:t>
            </a:r>
            <a:r>
              <a:rPr lang="ko-KR" altLang="en-US" sz="2200" dirty="0" smtClean="0">
                <a:latin typeface="+mn-ea"/>
              </a:rPr>
              <a:t>배출이 많은 국가</a:t>
            </a:r>
            <a:endParaRPr lang="ko-KR" altLang="en-US" sz="2200" dirty="0">
              <a:latin typeface="+mn-ea"/>
            </a:endParaRPr>
          </a:p>
        </p:txBody>
      </p:sp>
      <p:sp>
        <p:nvSpPr>
          <p:cNvPr id="19" name="TextBox 12"/>
          <p:cNvSpPr txBox="1"/>
          <p:nvPr/>
        </p:nvSpPr>
        <p:spPr>
          <a:xfrm>
            <a:off x="7391400" y="660400"/>
            <a:ext cx="3505200" cy="444500"/>
          </a:xfrm>
          <a:prstGeom prst="rect">
            <a:avLst/>
          </a:prstGeom>
        </p:spPr>
        <p:txBody>
          <a:bodyPr lIns="0" tIns="0" rIns="0" bIns="0" rtlCol="0" anchor="ctr"/>
          <a:lstStyle/>
          <a:p>
            <a:pPr lvl="0" algn="ctr">
              <a:lnSpc>
                <a:spcPct val="98770"/>
              </a:lnSpc>
            </a:pPr>
            <a:r>
              <a:rPr lang="en-US" sz="2500" b="0" i="0" u="none" strike="noStrike" dirty="0">
                <a:solidFill>
                  <a:srgbClr val="229BEE"/>
                </a:solidFill>
                <a:latin typeface="+mn-ea"/>
              </a:rPr>
              <a:t>CHAPTER </a:t>
            </a:r>
            <a:r>
              <a:rPr lang="en-US" sz="2500" b="0" i="0" u="none" strike="noStrike" dirty="0" smtClean="0">
                <a:solidFill>
                  <a:srgbClr val="229BEE"/>
                </a:solidFill>
                <a:latin typeface="+mn-ea"/>
              </a:rPr>
              <a:t>03</a:t>
            </a:r>
            <a:endParaRPr lang="en-US" sz="2500" b="0" i="0" u="none" strike="noStrike" dirty="0">
              <a:solidFill>
                <a:srgbClr val="229BEE"/>
              </a:solidFill>
              <a:latin typeface="+mn-ea"/>
            </a:endParaRPr>
          </a:p>
        </p:txBody>
      </p:sp>
      <p:sp>
        <p:nvSpPr>
          <p:cNvPr id="20" name="TextBox 11"/>
          <p:cNvSpPr txBox="1"/>
          <p:nvPr/>
        </p:nvSpPr>
        <p:spPr>
          <a:xfrm>
            <a:off x="2476500" y="876300"/>
            <a:ext cx="13335000" cy="1409700"/>
          </a:xfrm>
          <a:prstGeom prst="rect">
            <a:avLst/>
          </a:prstGeom>
        </p:spPr>
        <p:txBody>
          <a:bodyPr lIns="0" tIns="0" rIns="0" bIns="0" rtlCol="0" anchor="ctr"/>
          <a:lstStyle/>
          <a:p>
            <a:pPr lvl="0" algn="ctr">
              <a:lnSpc>
                <a:spcPct val="98770"/>
              </a:lnSpc>
            </a:pPr>
            <a:r>
              <a:rPr lang="ko-KR" altLang="en-US" sz="5400" dirty="0" smtClean="0">
                <a:solidFill>
                  <a:srgbClr val="4D4D4D"/>
                </a:solidFill>
                <a:latin typeface="Noto Sans KR Medium" pitchFamily="50" charset="-127"/>
                <a:ea typeface="Noto Sans KR Medium" pitchFamily="50" charset="-127"/>
              </a:rPr>
              <a:t>전체평균 데이터</a:t>
            </a:r>
            <a:endParaRPr lang="ko-KR" sz="5400" b="0" i="0" u="none" strike="noStrike" dirty="0">
              <a:solidFill>
                <a:srgbClr val="4D4D4D"/>
              </a:solidFill>
              <a:latin typeface="Noto Sans KR Medium" pitchFamily="50" charset="-127"/>
              <a:ea typeface="Noto Sans KR Medium" pitchFamily="50" charset="-127"/>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8"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229BEE"/>
        </a:solidFill>
        <a:effectLst/>
      </p:bgPr>
    </p:bg>
    <p:spTree>
      <p:nvGrpSpPr>
        <p:cNvPr id="1" name=""/>
        <p:cNvGrpSpPr/>
        <p:nvPr/>
      </p:nvGrpSpPr>
      <p:grpSpPr>
        <a:xfrm>
          <a:off x="0" y="0"/>
          <a:ext cx="0" cy="0"/>
          <a:chOff x="0" y="0"/>
          <a:chExt cx="0" cy="0"/>
        </a:xfrm>
      </p:grpSpPr>
      <p:pic>
        <p:nvPicPr>
          <p:cNvPr id="3" name="Picture 3"/>
          <p:cNvPicPr>
            <a:picLocks noChangeAspect="1"/>
          </p:cNvPicPr>
          <p:nvPr/>
        </p:nvPicPr>
        <p:blipFill>
          <a:blip r:embed="rId3" cstate="print">
            <a:alphaModFix amt="30000"/>
          </a:blip>
          <a:stretch>
            <a:fillRect/>
          </a:stretch>
        </p:blipFill>
        <p:spPr>
          <a:xfrm>
            <a:off x="1498600" y="8331200"/>
            <a:ext cx="6045200" cy="25400"/>
          </a:xfrm>
          <a:prstGeom prst="rect">
            <a:avLst/>
          </a:prstGeom>
        </p:spPr>
      </p:pic>
      <p:pic>
        <p:nvPicPr>
          <p:cNvPr id="4" name="Picture 4"/>
          <p:cNvPicPr>
            <a:picLocks noChangeAspect="1"/>
          </p:cNvPicPr>
          <p:nvPr/>
        </p:nvPicPr>
        <p:blipFill>
          <a:blip r:embed="rId4" cstate="print"/>
          <a:stretch>
            <a:fillRect/>
          </a:stretch>
        </p:blipFill>
        <p:spPr>
          <a:xfrm>
            <a:off x="16611600" y="0"/>
            <a:ext cx="673100" cy="965200"/>
          </a:xfrm>
          <a:prstGeom prst="rect">
            <a:avLst/>
          </a:prstGeom>
        </p:spPr>
      </p:pic>
      <p:pic>
        <p:nvPicPr>
          <p:cNvPr id="5" name="Picture 2"/>
          <p:cNvPicPr>
            <a:picLocks noChangeAspect="1"/>
          </p:cNvPicPr>
          <p:nvPr/>
        </p:nvPicPr>
        <p:blipFill>
          <a:blip r:embed="rId5" cstate="print"/>
          <a:stretch>
            <a:fillRect/>
          </a:stretch>
        </p:blipFill>
        <p:spPr>
          <a:xfrm>
            <a:off x="292100" y="292100"/>
            <a:ext cx="17716500" cy="9715500"/>
          </a:xfrm>
          <a:prstGeom prst="rect">
            <a:avLst/>
          </a:prstGeom>
        </p:spPr>
      </p:pic>
      <p:pic>
        <p:nvPicPr>
          <p:cNvPr id="6" name="Picture 7"/>
          <p:cNvPicPr>
            <a:picLocks noChangeAspect="1" noChangeArrowheads="1"/>
          </p:cNvPicPr>
          <p:nvPr/>
        </p:nvPicPr>
        <p:blipFill>
          <a:blip r:embed="rId6" cstate="print"/>
          <a:srcRect/>
          <a:stretch>
            <a:fillRect/>
          </a:stretch>
        </p:blipFill>
        <p:spPr bwMode="auto">
          <a:xfrm>
            <a:off x="381000" y="2324100"/>
            <a:ext cx="17526000" cy="7601278"/>
          </a:xfrm>
          <a:prstGeom prst="rect">
            <a:avLst/>
          </a:prstGeom>
          <a:noFill/>
          <a:ln w="9525">
            <a:noFill/>
            <a:miter lim="800000"/>
            <a:headEnd/>
            <a:tailEnd/>
          </a:ln>
          <a:effectLst/>
        </p:spPr>
      </p:pic>
      <p:pic>
        <p:nvPicPr>
          <p:cNvPr id="7" name="Picture 3"/>
          <p:cNvPicPr>
            <a:picLocks noChangeAspect="1"/>
          </p:cNvPicPr>
          <p:nvPr/>
        </p:nvPicPr>
        <p:blipFill>
          <a:blip r:embed="rId7" cstate="print"/>
          <a:stretch>
            <a:fillRect/>
          </a:stretch>
        </p:blipFill>
        <p:spPr>
          <a:xfrm>
            <a:off x="1003300" y="2171700"/>
            <a:ext cx="16281400" cy="25400"/>
          </a:xfrm>
          <a:prstGeom prst="rect">
            <a:avLst/>
          </a:prstGeom>
        </p:spPr>
      </p:pic>
      <p:pic>
        <p:nvPicPr>
          <p:cNvPr id="8" name="Picture 4"/>
          <p:cNvPicPr>
            <a:picLocks noChangeAspect="1"/>
          </p:cNvPicPr>
          <p:nvPr/>
        </p:nvPicPr>
        <p:blipFill>
          <a:blip r:embed="rId4" cstate="print"/>
          <a:stretch>
            <a:fillRect/>
          </a:stretch>
        </p:blipFill>
        <p:spPr>
          <a:xfrm>
            <a:off x="16611600" y="0"/>
            <a:ext cx="673100" cy="965200"/>
          </a:xfrm>
          <a:prstGeom prst="rect">
            <a:avLst/>
          </a:prstGeom>
        </p:spPr>
      </p:pic>
      <p:sp>
        <p:nvSpPr>
          <p:cNvPr id="9" name="TextBox 8">
            <a:extLst>
              <a:ext uri="{FF2B5EF4-FFF2-40B4-BE49-F238E27FC236}">
                <a16:creationId xmlns="" xmlns:a16="http://schemas.microsoft.com/office/drawing/2014/main" id="{9868D4D3-D354-8A4A-E870-E4A7DA56A02E}"/>
              </a:ext>
            </a:extLst>
          </p:cNvPr>
          <p:cNvSpPr txBox="1"/>
          <p:nvPr/>
        </p:nvSpPr>
        <p:spPr>
          <a:xfrm>
            <a:off x="14478000" y="1638300"/>
            <a:ext cx="2895600" cy="430887"/>
          </a:xfrm>
          <a:prstGeom prst="rect">
            <a:avLst/>
          </a:prstGeom>
          <a:noFill/>
        </p:spPr>
        <p:txBody>
          <a:bodyPr wrap="square" rtlCol="0">
            <a:spAutoFit/>
          </a:bodyPr>
          <a:lstStyle/>
          <a:p>
            <a:r>
              <a:rPr lang="ko-KR" altLang="en-US" sz="2200" b="1" dirty="0" smtClean="0">
                <a:latin typeface="NanumBarunGothic Light" panose="020B0603020101020101" pitchFamily="34" charset="-127"/>
                <a:ea typeface="NanumBarunGothic Light" panose="020B0603020101020101" pitchFamily="34" charset="-127"/>
              </a:rPr>
              <a:t>주성분점수　시각화</a:t>
            </a:r>
            <a:endParaRPr lang="en-US" altLang="ko-KR" sz="2200" b="1" dirty="0">
              <a:latin typeface="NanumBarunGothic Light" panose="020B0603020101020101" pitchFamily="34" charset="-127"/>
              <a:ea typeface="NanumBarunGothic Light" panose="020B0603020101020101" pitchFamily="34" charset="-127"/>
            </a:endParaRPr>
          </a:p>
        </p:txBody>
      </p:sp>
      <p:sp>
        <p:nvSpPr>
          <p:cNvPr id="10" name="직사각형 9"/>
          <p:cNvSpPr/>
          <p:nvPr/>
        </p:nvSpPr>
        <p:spPr>
          <a:xfrm>
            <a:off x="16078200" y="2400300"/>
            <a:ext cx="1143000" cy="60960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직사각형 10"/>
          <p:cNvSpPr/>
          <p:nvPr/>
        </p:nvSpPr>
        <p:spPr>
          <a:xfrm>
            <a:off x="15544800" y="8801100"/>
            <a:ext cx="1905000" cy="45720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TextBox 11">
            <a:extLst>
              <a:ext uri="{FF2B5EF4-FFF2-40B4-BE49-F238E27FC236}">
                <a16:creationId xmlns="" xmlns:a16="http://schemas.microsoft.com/office/drawing/2014/main" id="{9868D4D3-D354-8A4A-E870-E4A7DA56A02E}"/>
              </a:ext>
            </a:extLst>
          </p:cNvPr>
          <p:cNvSpPr txBox="1"/>
          <p:nvPr/>
        </p:nvSpPr>
        <p:spPr>
          <a:xfrm>
            <a:off x="14859000" y="5067300"/>
            <a:ext cx="2743200" cy="430887"/>
          </a:xfrm>
          <a:prstGeom prst="rect">
            <a:avLst/>
          </a:prstGeom>
          <a:noFill/>
        </p:spPr>
        <p:txBody>
          <a:bodyPr wrap="square" rtlCol="0">
            <a:spAutoFit/>
          </a:bodyPr>
          <a:lstStyle/>
          <a:p>
            <a:r>
              <a:rPr lang="ko-KR" altLang="en-US" sz="2200" b="1" dirty="0" smtClean="0">
                <a:latin typeface="+mn-ea"/>
              </a:rPr>
              <a:t>석탄，시멘트　기반</a:t>
            </a:r>
            <a:endParaRPr lang="en-US" altLang="ko-KR" sz="2200" b="1" dirty="0">
              <a:latin typeface="+mn-ea"/>
            </a:endParaRPr>
          </a:p>
        </p:txBody>
      </p:sp>
      <p:sp>
        <p:nvSpPr>
          <p:cNvPr id="13" name="위쪽 화살표 12"/>
          <p:cNvSpPr/>
          <p:nvPr/>
        </p:nvSpPr>
        <p:spPr>
          <a:xfrm>
            <a:off x="14325600" y="4305300"/>
            <a:ext cx="533400" cy="167640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아래쪽 화살표 13"/>
          <p:cNvSpPr/>
          <p:nvPr/>
        </p:nvSpPr>
        <p:spPr>
          <a:xfrm>
            <a:off x="14325600" y="6896100"/>
            <a:ext cx="533400" cy="1600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TextBox 14">
            <a:extLst>
              <a:ext uri="{FF2B5EF4-FFF2-40B4-BE49-F238E27FC236}">
                <a16:creationId xmlns="" xmlns:a16="http://schemas.microsoft.com/office/drawing/2014/main" id="{9868D4D3-D354-8A4A-E870-E4A7DA56A02E}"/>
              </a:ext>
            </a:extLst>
          </p:cNvPr>
          <p:cNvSpPr txBox="1"/>
          <p:nvPr/>
        </p:nvSpPr>
        <p:spPr>
          <a:xfrm>
            <a:off x="14782800" y="7200900"/>
            <a:ext cx="3276600" cy="430887"/>
          </a:xfrm>
          <a:prstGeom prst="rect">
            <a:avLst/>
          </a:prstGeom>
          <a:noFill/>
        </p:spPr>
        <p:txBody>
          <a:bodyPr wrap="square" rtlCol="0">
            <a:spAutoFit/>
          </a:bodyPr>
          <a:lstStyle/>
          <a:p>
            <a:r>
              <a:rPr lang="ko-KR" altLang="en-US" sz="2200" b="1" dirty="0" smtClean="0">
                <a:latin typeface="+mn-ea"/>
              </a:rPr>
              <a:t>천연가스，원자력　기반</a:t>
            </a:r>
            <a:endParaRPr lang="en-US" altLang="ko-KR" sz="2200" b="1" dirty="0">
              <a:latin typeface="+mn-ea"/>
            </a:endParaRPr>
          </a:p>
        </p:txBody>
      </p:sp>
      <p:sp>
        <p:nvSpPr>
          <p:cNvPr id="16" name="TextBox 15">
            <a:extLst>
              <a:ext uri="{FF2B5EF4-FFF2-40B4-BE49-F238E27FC236}">
                <a16:creationId xmlns="" xmlns:a16="http://schemas.microsoft.com/office/drawing/2014/main" id="{9868D4D3-D354-8A4A-E870-E4A7DA56A02E}"/>
              </a:ext>
            </a:extLst>
          </p:cNvPr>
          <p:cNvSpPr txBox="1"/>
          <p:nvPr/>
        </p:nvSpPr>
        <p:spPr>
          <a:xfrm>
            <a:off x="13106400" y="3086100"/>
            <a:ext cx="4876800" cy="830997"/>
          </a:xfrm>
          <a:prstGeom prst="rect">
            <a:avLst/>
          </a:prstGeom>
          <a:noFill/>
        </p:spPr>
        <p:txBody>
          <a:bodyPr wrap="square" rtlCol="0">
            <a:spAutoFit/>
          </a:bodyPr>
          <a:lstStyle/>
          <a:p>
            <a:r>
              <a:rPr lang="ko-KR" altLang="en-US" sz="2200" b="1" dirty="0" smtClean="0">
                <a:latin typeface="+mn-ea"/>
              </a:rPr>
              <a:t>중국：</a:t>
            </a:r>
            <a:r>
              <a:rPr lang="ko-KR" altLang="en-US" sz="2400" b="1" dirty="0" smtClean="0"/>
              <a:t> </a:t>
            </a:r>
            <a:r>
              <a:rPr lang="ko-KR" altLang="en-US" sz="2400" dirty="0" smtClean="0"/>
              <a:t>부동산 개발</a:t>
            </a:r>
            <a:r>
              <a:rPr lang="en-US" altLang="ko-KR" sz="2400" dirty="0" smtClean="0"/>
              <a:t>, </a:t>
            </a:r>
            <a:r>
              <a:rPr lang="ko-KR" altLang="en-US" sz="2400" dirty="0" smtClean="0"/>
              <a:t>인프라 건설 엄청 활발　시멘트　최대　생산국</a:t>
            </a:r>
            <a:endParaRPr lang="en-US" altLang="ko-KR" sz="2200" dirty="0">
              <a:latin typeface="+mn-ea"/>
            </a:endParaRPr>
          </a:p>
        </p:txBody>
      </p:sp>
      <p:sp>
        <p:nvSpPr>
          <p:cNvPr id="17" name="TextBox 16">
            <a:extLst>
              <a:ext uri="{FF2B5EF4-FFF2-40B4-BE49-F238E27FC236}">
                <a16:creationId xmlns="" xmlns:a16="http://schemas.microsoft.com/office/drawing/2014/main" id="{9868D4D3-D354-8A4A-E870-E4A7DA56A02E}"/>
              </a:ext>
            </a:extLst>
          </p:cNvPr>
          <p:cNvSpPr txBox="1"/>
          <p:nvPr/>
        </p:nvSpPr>
        <p:spPr>
          <a:xfrm>
            <a:off x="14478000" y="9258300"/>
            <a:ext cx="3505200" cy="830997"/>
          </a:xfrm>
          <a:prstGeom prst="rect">
            <a:avLst/>
          </a:prstGeom>
          <a:noFill/>
        </p:spPr>
        <p:txBody>
          <a:bodyPr wrap="square" rtlCol="0">
            <a:spAutoFit/>
          </a:bodyPr>
          <a:lstStyle/>
          <a:p>
            <a:r>
              <a:rPr lang="ko-KR" altLang="en-US" sz="2400" b="1" dirty="0" smtClean="0">
                <a:latin typeface="+mn-ea"/>
              </a:rPr>
              <a:t>미국：</a:t>
            </a:r>
            <a:r>
              <a:rPr lang="ko-KR" altLang="en-US" sz="2400" dirty="0" smtClean="0"/>
              <a:t> 큰　경제규모，</a:t>
            </a:r>
            <a:endParaRPr lang="en-US" altLang="ko-KR" sz="2400" dirty="0" smtClean="0"/>
          </a:p>
          <a:p>
            <a:r>
              <a:rPr lang="ko-KR" altLang="en-US" sz="2400" dirty="0" smtClean="0"/>
              <a:t>첨단　산업　중심</a:t>
            </a:r>
            <a:endParaRPr lang="en-US" altLang="ko-KR" sz="2400" b="1" dirty="0">
              <a:latin typeface="+mn-ea"/>
            </a:endParaRPr>
          </a:p>
        </p:txBody>
      </p:sp>
      <p:sp>
        <p:nvSpPr>
          <p:cNvPr id="18" name="오른쪽 화살표 17"/>
          <p:cNvSpPr/>
          <p:nvPr/>
        </p:nvSpPr>
        <p:spPr>
          <a:xfrm>
            <a:off x="16306800" y="6134100"/>
            <a:ext cx="1676400"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TextBox 18">
            <a:extLst>
              <a:ext uri="{FF2B5EF4-FFF2-40B4-BE49-F238E27FC236}">
                <a16:creationId xmlns="" xmlns:a16="http://schemas.microsoft.com/office/drawing/2014/main" id="{9868D4D3-D354-8A4A-E870-E4A7DA56A02E}"/>
              </a:ext>
            </a:extLst>
          </p:cNvPr>
          <p:cNvSpPr txBox="1"/>
          <p:nvPr/>
        </p:nvSpPr>
        <p:spPr>
          <a:xfrm>
            <a:off x="13182600" y="5988903"/>
            <a:ext cx="3200400" cy="830997"/>
          </a:xfrm>
          <a:prstGeom prst="rect">
            <a:avLst/>
          </a:prstGeom>
          <a:noFill/>
        </p:spPr>
        <p:txBody>
          <a:bodyPr wrap="square" rtlCol="0">
            <a:spAutoFit/>
          </a:bodyPr>
          <a:lstStyle/>
          <a:p>
            <a:r>
              <a:rPr lang="ko-KR" altLang="en-US" sz="2400" b="1" dirty="0" smtClean="0"/>
              <a:t>총 온실가스 배출량 및 에너지 생산량　높음</a:t>
            </a:r>
            <a:endParaRPr lang="en-US" altLang="ko-KR" sz="2200" b="1" dirty="0">
              <a:latin typeface="+mn-ea"/>
            </a:endParaRPr>
          </a:p>
        </p:txBody>
      </p:sp>
      <p:sp>
        <p:nvSpPr>
          <p:cNvPr id="22" name="TextBox 12"/>
          <p:cNvSpPr txBox="1"/>
          <p:nvPr/>
        </p:nvSpPr>
        <p:spPr>
          <a:xfrm>
            <a:off x="7391400" y="660400"/>
            <a:ext cx="3505200" cy="444500"/>
          </a:xfrm>
          <a:prstGeom prst="rect">
            <a:avLst/>
          </a:prstGeom>
        </p:spPr>
        <p:txBody>
          <a:bodyPr lIns="0" tIns="0" rIns="0" bIns="0" rtlCol="0" anchor="ctr"/>
          <a:lstStyle/>
          <a:p>
            <a:pPr lvl="0" algn="ctr">
              <a:lnSpc>
                <a:spcPct val="98770"/>
              </a:lnSpc>
            </a:pPr>
            <a:r>
              <a:rPr lang="en-US" sz="2500" b="0" i="0" u="none" strike="noStrike" dirty="0">
                <a:solidFill>
                  <a:srgbClr val="229BEE"/>
                </a:solidFill>
                <a:latin typeface="+mn-ea"/>
              </a:rPr>
              <a:t>CHAPTER </a:t>
            </a:r>
            <a:r>
              <a:rPr lang="en-US" sz="2500" dirty="0" smtClean="0">
                <a:solidFill>
                  <a:srgbClr val="229BEE"/>
                </a:solidFill>
                <a:latin typeface="+mn-ea"/>
              </a:rPr>
              <a:t>03</a:t>
            </a:r>
            <a:endParaRPr lang="en-US" sz="2500" b="0" i="0" u="none" strike="noStrike" dirty="0">
              <a:solidFill>
                <a:srgbClr val="229BEE"/>
              </a:solidFill>
              <a:latin typeface="+mn-ea"/>
            </a:endParaRPr>
          </a:p>
        </p:txBody>
      </p:sp>
      <p:sp>
        <p:nvSpPr>
          <p:cNvPr id="23" name="TextBox 11"/>
          <p:cNvSpPr txBox="1"/>
          <p:nvPr/>
        </p:nvSpPr>
        <p:spPr>
          <a:xfrm>
            <a:off x="2476500" y="876300"/>
            <a:ext cx="13335000" cy="1409700"/>
          </a:xfrm>
          <a:prstGeom prst="rect">
            <a:avLst/>
          </a:prstGeom>
        </p:spPr>
        <p:txBody>
          <a:bodyPr lIns="0" tIns="0" rIns="0" bIns="0" rtlCol="0" anchor="ctr"/>
          <a:lstStyle/>
          <a:p>
            <a:pPr lvl="0" algn="ctr">
              <a:lnSpc>
                <a:spcPct val="98770"/>
              </a:lnSpc>
            </a:pPr>
            <a:r>
              <a:rPr lang="ko-KR" altLang="en-US" sz="5400" dirty="0" smtClean="0">
                <a:solidFill>
                  <a:srgbClr val="4D4D4D"/>
                </a:solidFill>
                <a:latin typeface="Noto Sans KR Medium" pitchFamily="50" charset="-127"/>
                <a:ea typeface="Noto Sans KR Medium" pitchFamily="50" charset="-127"/>
              </a:rPr>
              <a:t>전체평균 데이터</a:t>
            </a:r>
            <a:endParaRPr lang="ko-KR" sz="5400" b="0" i="0" u="none" strike="noStrike" dirty="0">
              <a:solidFill>
                <a:srgbClr val="4D4D4D"/>
              </a:solidFill>
              <a:latin typeface="Noto Sans KR Medium" pitchFamily="50" charset="-127"/>
              <a:ea typeface="Noto Sans KR Medium" pitchFamily="50" charset="-127"/>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229BEE"/>
        </a:solidFill>
        <a:effectLst/>
      </p:bgPr>
    </p:bg>
    <p:spTree>
      <p:nvGrpSpPr>
        <p:cNvPr id="1" name=""/>
        <p:cNvGrpSpPr/>
        <p:nvPr/>
      </p:nvGrpSpPr>
      <p:grpSpPr>
        <a:xfrm>
          <a:off x="0" y="0"/>
          <a:ext cx="0" cy="0"/>
          <a:chOff x="0" y="0"/>
          <a:chExt cx="0" cy="0"/>
        </a:xfrm>
      </p:grpSpPr>
      <p:pic>
        <p:nvPicPr>
          <p:cNvPr id="3" name="Picture 3"/>
          <p:cNvPicPr>
            <a:picLocks noChangeAspect="1"/>
          </p:cNvPicPr>
          <p:nvPr/>
        </p:nvPicPr>
        <p:blipFill>
          <a:blip r:embed="rId3" cstate="print">
            <a:alphaModFix amt="30000"/>
          </a:blip>
          <a:stretch>
            <a:fillRect/>
          </a:stretch>
        </p:blipFill>
        <p:spPr>
          <a:xfrm>
            <a:off x="1498600" y="8331200"/>
            <a:ext cx="6045200" cy="25400"/>
          </a:xfrm>
          <a:prstGeom prst="rect">
            <a:avLst/>
          </a:prstGeom>
        </p:spPr>
      </p:pic>
      <p:pic>
        <p:nvPicPr>
          <p:cNvPr id="4" name="Picture 4"/>
          <p:cNvPicPr>
            <a:picLocks noChangeAspect="1"/>
          </p:cNvPicPr>
          <p:nvPr/>
        </p:nvPicPr>
        <p:blipFill>
          <a:blip r:embed="rId4" cstate="print"/>
          <a:stretch>
            <a:fillRect/>
          </a:stretch>
        </p:blipFill>
        <p:spPr>
          <a:xfrm>
            <a:off x="16611600" y="0"/>
            <a:ext cx="673100" cy="965200"/>
          </a:xfrm>
          <a:prstGeom prst="rect">
            <a:avLst/>
          </a:prstGeom>
        </p:spPr>
      </p:pic>
      <p:pic>
        <p:nvPicPr>
          <p:cNvPr id="5" name="Picture 2"/>
          <p:cNvPicPr>
            <a:picLocks noChangeAspect="1"/>
          </p:cNvPicPr>
          <p:nvPr/>
        </p:nvPicPr>
        <p:blipFill>
          <a:blip r:embed="rId5" cstate="print"/>
          <a:stretch>
            <a:fillRect/>
          </a:stretch>
        </p:blipFill>
        <p:spPr>
          <a:xfrm>
            <a:off x="292100" y="292100"/>
            <a:ext cx="17716500" cy="9715500"/>
          </a:xfrm>
          <a:prstGeom prst="rect">
            <a:avLst/>
          </a:prstGeom>
        </p:spPr>
      </p:pic>
      <p:pic>
        <p:nvPicPr>
          <p:cNvPr id="6" name="Picture 7"/>
          <p:cNvPicPr>
            <a:picLocks noChangeAspect="1" noChangeArrowheads="1"/>
          </p:cNvPicPr>
          <p:nvPr/>
        </p:nvPicPr>
        <p:blipFill>
          <a:blip r:embed="rId6" cstate="print"/>
          <a:srcRect/>
          <a:stretch>
            <a:fillRect/>
          </a:stretch>
        </p:blipFill>
        <p:spPr bwMode="auto">
          <a:xfrm>
            <a:off x="381000" y="2324100"/>
            <a:ext cx="17526000" cy="7601278"/>
          </a:xfrm>
          <a:prstGeom prst="rect">
            <a:avLst/>
          </a:prstGeom>
          <a:noFill/>
          <a:ln w="9525">
            <a:noFill/>
            <a:miter lim="800000"/>
            <a:headEnd/>
            <a:tailEnd/>
          </a:ln>
          <a:effectLst/>
        </p:spPr>
      </p:pic>
      <p:pic>
        <p:nvPicPr>
          <p:cNvPr id="7" name="Picture 3"/>
          <p:cNvPicPr>
            <a:picLocks noChangeAspect="1"/>
          </p:cNvPicPr>
          <p:nvPr/>
        </p:nvPicPr>
        <p:blipFill>
          <a:blip r:embed="rId7" cstate="print"/>
          <a:stretch>
            <a:fillRect/>
          </a:stretch>
        </p:blipFill>
        <p:spPr>
          <a:xfrm>
            <a:off x="1003300" y="2171700"/>
            <a:ext cx="16281400" cy="25400"/>
          </a:xfrm>
          <a:prstGeom prst="rect">
            <a:avLst/>
          </a:prstGeom>
        </p:spPr>
      </p:pic>
      <p:pic>
        <p:nvPicPr>
          <p:cNvPr id="8" name="Picture 4"/>
          <p:cNvPicPr>
            <a:picLocks noChangeAspect="1"/>
          </p:cNvPicPr>
          <p:nvPr/>
        </p:nvPicPr>
        <p:blipFill>
          <a:blip r:embed="rId4" cstate="print"/>
          <a:stretch>
            <a:fillRect/>
          </a:stretch>
        </p:blipFill>
        <p:spPr>
          <a:xfrm>
            <a:off x="16611600" y="0"/>
            <a:ext cx="673100" cy="965200"/>
          </a:xfrm>
          <a:prstGeom prst="rect">
            <a:avLst/>
          </a:prstGeom>
        </p:spPr>
      </p:pic>
      <p:sp>
        <p:nvSpPr>
          <p:cNvPr id="9" name="TextBox 8">
            <a:extLst>
              <a:ext uri="{FF2B5EF4-FFF2-40B4-BE49-F238E27FC236}">
                <a16:creationId xmlns="" xmlns:a16="http://schemas.microsoft.com/office/drawing/2014/main" id="{9868D4D3-D354-8A4A-E870-E4A7DA56A02E}"/>
              </a:ext>
            </a:extLst>
          </p:cNvPr>
          <p:cNvSpPr txBox="1"/>
          <p:nvPr/>
        </p:nvSpPr>
        <p:spPr>
          <a:xfrm>
            <a:off x="14478000" y="1638300"/>
            <a:ext cx="2895600" cy="430887"/>
          </a:xfrm>
          <a:prstGeom prst="rect">
            <a:avLst/>
          </a:prstGeom>
          <a:noFill/>
        </p:spPr>
        <p:txBody>
          <a:bodyPr wrap="square" rtlCol="0">
            <a:spAutoFit/>
          </a:bodyPr>
          <a:lstStyle/>
          <a:p>
            <a:r>
              <a:rPr lang="ko-KR" altLang="en-US" sz="2200" b="1" dirty="0" smtClean="0">
                <a:latin typeface="NanumBarunGothic Light" panose="020B0603020101020101" pitchFamily="34" charset="-127"/>
                <a:ea typeface="NanumBarunGothic Light" panose="020B0603020101020101" pitchFamily="34" charset="-127"/>
              </a:rPr>
              <a:t>주성분점수　시각화</a:t>
            </a:r>
            <a:endParaRPr lang="en-US" altLang="ko-KR" sz="2200" b="1" dirty="0">
              <a:latin typeface="NanumBarunGothic Light" panose="020B0603020101020101" pitchFamily="34" charset="-127"/>
              <a:ea typeface="NanumBarunGothic Light" panose="020B0603020101020101" pitchFamily="34" charset="-127"/>
            </a:endParaRPr>
          </a:p>
        </p:txBody>
      </p:sp>
      <p:sp>
        <p:nvSpPr>
          <p:cNvPr id="10" name="타원 9"/>
          <p:cNvSpPr/>
          <p:nvPr/>
        </p:nvSpPr>
        <p:spPr>
          <a:xfrm>
            <a:off x="7543800" y="5676900"/>
            <a:ext cx="3048000" cy="2590800"/>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타원 10"/>
          <p:cNvSpPr/>
          <p:nvPr/>
        </p:nvSpPr>
        <p:spPr>
          <a:xfrm>
            <a:off x="7315200" y="2781300"/>
            <a:ext cx="4419600" cy="2590800"/>
          </a:xfrm>
          <a:prstGeom prst="ellipse">
            <a:avLst/>
          </a:prstGeom>
          <a:noFill/>
          <a:ln w="571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타원 11"/>
          <p:cNvSpPr/>
          <p:nvPr/>
        </p:nvSpPr>
        <p:spPr>
          <a:xfrm>
            <a:off x="1066800" y="4686300"/>
            <a:ext cx="3505200" cy="2590800"/>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타원 12"/>
          <p:cNvSpPr/>
          <p:nvPr/>
        </p:nvSpPr>
        <p:spPr>
          <a:xfrm>
            <a:off x="4419600" y="8267700"/>
            <a:ext cx="8915400" cy="1219200"/>
          </a:xfrm>
          <a:prstGeom prst="ellipse">
            <a:avLst/>
          </a:prstGeom>
          <a:noFill/>
          <a:ln w="571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위쪽 화살표 13"/>
          <p:cNvSpPr/>
          <p:nvPr/>
        </p:nvSpPr>
        <p:spPr>
          <a:xfrm>
            <a:off x="14325600" y="4305300"/>
            <a:ext cx="533400" cy="167640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TextBox 14">
            <a:extLst>
              <a:ext uri="{FF2B5EF4-FFF2-40B4-BE49-F238E27FC236}">
                <a16:creationId xmlns="" xmlns:a16="http://schemas.microsoft.com/office/drawing/2014/main" id="{9868D4D3-D354-8A4A-E870-E4A7DA56A02E}"/>
              </a:ext>
            </a:extLst>
          </p:cNvPr>
          <p:cNvSpPr txBox="1"/>
          <p:nvPr/>
        </p:nvSpPr>
        <p:spPr>
          <a:xfrm>
            <a:off x="14859000" y="5067300"/>
            <a:ext cx="2743200" cy="430887"/>
          </a:xfrm>
          <a:prstGeom prst="rect">
            <a:avLst/>
          </a:prstGeom>
          <a:noFill/>
        </p:spPr>
        <p:txBody>
          <a:bodyPr wrap="square" rtlCol="0">
            <a:spAutoFit/>
          </a:bodyPr>
          <a:lstStyle/>
          <a:p>
            <a:r>
              <a:rPr lang="ko-KR" altLang="en-US" sz="2200" b="1" dirty="0" smtClean="0">
                <a:latin typeface="+mn-ea"/>
              </a:rPr>
              <a:t>석탄，시멘트　기반</a:t>
            </a:r>
            <a:endParaRPr lang="en-US" altLang="ko-KR" sz="2200" b="1" dirty="0">
              <a:latin typeface="+mn-ea"/>
            </a:endParaRPr>
          </a:p>
        </p:txBody>
      </p:sp>
      <p:sp>
        <p:nvSpPr>
          <p:cNvPr id="16" name="TextBox 15">
            <a:extLst>
              <a:ext uri="{FF2B5EF4-FFF2-40B4-BE49-F238E27FC236}">
                <a16:creationId xmlns="" xmlns:a16="http://schemas.microsoft.com/office/drawing/2014/main" id="{9868D4D3-D354-8A4A-E870-E4A7DA56A02E}"/>
              </a:ext>
            </a:extLst>
          </p:cNvPr>
          <p:cNvSpPr txBox="1"/>
          <p:nvPr/>
        </p:nvSpPr>
        <p:spPr>
          <a:xfrm>
            <a:off x="13182600" y="5988903"/>
            <a:ext cx="3200400" cy="830997"/>
          </a:xfrm>
          <a:prstGeom prst="rect">
            <a:avLst/>
          </a:prstGeom>
          <a:noFill/>
        </p:spPr>
        <p:txBody>
          <a:bodyPr wrap="square" rtlCol="0">
            <a:spAutoFit/>
          </a:bodyPr>
          <a:lstStyle/>
          <a:p>
            <a:r>
              <a:rPr lang="ko-KR" altLang="en-US" sz="2400" b="1" dirty="0" smtClean="0"/>
              <a:t>총 온실가스 배출량 및 에너지 생산량　높음</a:t>
            </a:r>
            <a:endParaRPr lang="en-US" altLang="ko-KR" sz="2200" b="1" dirty="0">
              <a:latin typeface="+mn-ea"/>
            </a:endParaRPr>
          </a:p>
        </p:txBody>
      </p:sp>
      <p:sp>
        <p:nvSpPr>
          <p:cNvPr id="17" name="오른쪽 화살표 16"/>
          <p:cNvSpPr/>
          <p:nvPr/>
        </p:nvSpPr>
        <p:spPr>
          <a:xfrm>
            <a:off x="16306800" y="6134100"/>
            <a:ext cx="1676400"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TextBox 17">
            <a:extLst>
              <a:ext uri="{FF2B5EF4-FFF2-40B4-BE49-F238E27FC236}">
                <a16:creationId xmlns="" xmlns:a16="http://schemas.microsoft.com/office/drawing/2014/main" id="{9868D4D3-D354-8A4A-E870-E4A7DA56A02E}"/>
              </a:ext>
            </a:extLst>
          </p:cNvPr>
          <p:cNvSpPr txBox="1"/>
          <p:nvPr/>
        </p:nvSpPr>
        <p:spPr>
          <a:xfrm>
            <a:off x="14782800" y="7200900"/>
            <a:ext cx="3276600" cy="430887"/>
          </a:xfrm>
          <a:prstGeom prst="rect">
            <a:avLst/>
          </a:prstGeom>
          <a:noFill/>
        </p:spPr>
        <p:txBody>
          <a:bodyPr wrap="square" rtlCol="0">
            <a:spAutoFit/>
          </a:bodyPr>
          <a:lstStyle/>
          <a:p>
            <a:r>
              <a:rPr lang="ko-KR" altLang="en-US" sz="2200" b="1" dirty="0" smtClean="0">
                <a:latin typeface="+mn-ea"/>
              </a:rPr>
              <a:t>천연가스，원자력　기반</a:t>
            </a:r>
            <a:endParaRPr lang="en-US" altLang="ko-KR" sz="2200" b="1" dirty="0">
              <a:latin typeface="+mn-ea"/>
            </a:endParaRPr>
          </a:p>
        </p:txBody>
      </p:sp>
      <p:sp>
        <p:nvSpPr>
          <p:cNvPr id="19" name="아래쪽 화살표 18"/>
          <p:cNvSpPr/>
          <p:nvPr/>
        </p:nvSpPr>
        <p:spPr>
          <a:xfrm>
            <a:off x="14325600" y="6896100"/>
            <a:ext cx="533400" cy="1600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TextBox 12"/>
          <p:cNvSpPr txBox="1"/>
          <p:nvPr/>
        </p:nvSpPr>
        <p:spPr>
          <a:xfrm>
            <a:off x="7391400" y="660400"/>
            <a:ext cx="3505200" cy="444500"/>
          </a:xfrm>
          <a:prstGeom prst="rect">
            <a:avLst/>
          </a:prstGeom>
        </p:spPr>
        <p:txBody>
          <a:bodyPr lIns="0" tIns="0" rIns="0" bIns="0" rtlCol="0" anchor="ctr"/>
          <a:lstStyle/>
          <a:p>
            <a:pPr lvl="0" algn="ctr">
              <a:lnSpc>
                <a:spcPct val="98770"/>
              </a:lnSpc>
            </a:pPr>
            <a:r>
              <a:rPr lang="en-US" sz="2500" b="0" i="0" u="none" strike="noStrike" dirty="0">
                <a:solidFill>
                  <a:srgbClr val="229BEE"/>
                </a:solidFill>
                <a:latin typeface="+mn-ea"/>
              </a:rPr>
              <a:t>CHAPTER </a:t>
            </a:r>
            <a:r>
              <a:rPr lang="en-US" sz="2500" b="0" i="0" u="none" strike="noStrike" dirty="0" smtClean="0">
                <a:solidFill>
                  <a:srgbClr val="229BEE"/>
                </a:solidFill>
                <a:latin typeface="+mn-ea"/>
              </a:rPr>
              <a:t>0</a:t>
            </a:r>
            <a:r>
              <a:rPr lang="en-US" sz="2500" dirty="0" smtClean="0">
                <a:solidFill>
                  <a:srgbClr val="229BEE"/>
                </a:solidFill>
                <a:latin typeface="+mn-ea"/>
              </a:rPr>
              <a:t>4</a:t>
            </a:r>
            <a:endParaRPr lang="en-US" sz="2500" b="0" i="0" u="none" strike="noStrike" dirty="0">
              <a:solidFill>
                <a:srgbClr val="229BEE"/>
              </a:solidFill>
              <a:latin typeface="+mn-ea"/>
            </a:endParaRPr>
          </a:p>
        </p:txBody>
      </p:sp>
      <p:sp>
        <p:nvSpPr>
          <p:cNvPr id="21" name="TextBox 11"/>
          <p:cNvSpPr txBox="1"/>
          <p:nvPr/>
        </p:nvSpPr>
        <p:spPr>
          <a:xfrm>
            <a:off x="2476500" y="876300"/>
            <a:ext cx="13335000" cy="1409700"/>
          </a:xfrm>
          <a:prstGeom prst="rect">
            <a:avLst/>
          </a:prstGeom>
        </p:spPr>
        <p:txBody>
          <a:bodyPr lIns="0" tIns="0" rIns="0" bIns="0" rtlCol="0" anchor="ctr"/>
          <a:lstStyle/>
          <a:p>
            <a:pPr lvl="0" algn="ctr">
              <a:lnSpc>
                <a:spcPct val="98770"/>
              </a:lnSpc>
            </a:pPr>
            <a:r>
              <a:rPr lang="ko-KR" altLang="en-US" sz="5400" dirty="0" smtClean="0">
                <a:solidFill>
                  <a:srgbClr val="4D4D4D"/>
                </a:solidFill>
                <a:latin typeface="Noto Sans KR Medium" pitchFamily="50" charset="-127"/>
                <a:ea typeface="Noto Sans KR Medium" pitchFamily="50" charset="-127"/>
              </a:rPr>
              <a:t>전체평균 데이터</a:t>
            </a:r>
            <a:endParaRPr lang="ko-KR" sz="5400" b="0" i="0" u="none" strike="noStrike" dirty="0">
              <a:solidFill>
                <a:srgbClr val="4D4D4D"/>
              </a:solidFill>
              <a:latin typeface="Noto Sans KR Medium" pitchFamily="50" charset="-127"/>
              <a:ea typeface="Noto Sans KR Medium" pitchFamily="50" charset="-127"/>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229BEE"/>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cstate="print"/>
          <a:stretch>
            <a:fillRect/>
          </a:stretch>
        </p:blipFill>
        <p:spPr>
          <a:xfrm>
            <a:off x="292100" y="292100"/>
            <a:ext cx="17716500" cy="9715500"/>
          </a:xfrm>
          <a:prstGeom prst="rect">
            <a:avLst/>
          </a:prstGeom>
        </p:spPr>
      </p:pic>
      <p:pic>
        <p:nvPicPr>
          <p:cNvPr id="3" name="Picture 3"/>
          <p:cNvPicPr>
            <a:picLocks noChangeAspect="1"/>
          </p:cNvPicPr>
          <p:nvPr/>
        </p:nvPicPr>
        <p:blipFill>
          <a:blip r:embed="rId4" cstate="print">
            <a:alphaModFix amt="30000"/>
          </a:blip>
          <a:stretch>
            <a:fillRect/>
          </a:stretch>
        </p:blipFill>
        <p:spPr>
          <a:xfrm>
            <a:off x="1498600" y="8331200"/>
            <a:ext cx="6045200" cy="25400"/>
          </a:xfrm>
          <a:prstGeom prst="rect">
            <a:avLst/>
          </a:prstGeom>
        </p:spPr>
      </p:pic>
      <p:pic>
        <p:nvPicPr>
          <p:cNvPr id="4" name="Picture 4"/>
          <p:cNvPicPr>
            <a:picLocks noChangeAspect="1"/>
          </p:cNvPicPr>
          <p:nvPr/>
        </p:nvPicPr>
        <p:blipFill>
          <a:blip r:embed="rId5" cstate="print"/>
          <a:stretch>
            <a:fillRect/>
          </a:stretch>
        </p:blipFill>
        <p:spPr>
          <a:xfrm>
            <a:off x="16611600" y="0"/>
            <a:ext cx="673100" cy="965200"/>
          </a:xfrm>
          <a:prstGeom prst="rect">
            <a:avLst/>
          </a:prstGeom>
        </p:spPr>
      </p:pic>
      <p:sp>
        <p:nvSpPr>
          <p:cNvPr id="5" name="TextBox 5"/>
          <p:cNvSpPr txBox="1"/>
          <p:nvPr/>
        </p:nvSpPr>
        <p:spPr>
          <a:xfrm>
            <a:off x="1333500" y="3708400"/>
            <a:ext cx="8293100" cy="3378200"/>
          </a:xfrm>
          <a:prstGeom prst="rect">
            <a:avLst/>
          </a:prstGeom>
        </p:spPr>
        <p:txBody>
          <a:bodyPr lIns="0" tIns="0" rIns="0" bIns="0" rtlCol="0" anchor="ctr"/>
          <a:lstStyle/>
          <a:p>
            <a:pPr lvl="0" algn="l">
              <a:lnSpc>
                <a:spcPct val="115287"/>
              </a:lnSpc>
            </a:pPr>
            <a:r>
              <a:rPr lang="en-US" sz="19000" b="0" i="0" u="none" strike="noStrike" dirty="0" smtClean="0">
                <a:solidFill>
                  <a:srgbClr val="229BEE"/>
                </a:solidFill>
                <a:latin typeface="+mn-ea"/>
              </a:rPr>
              <a:t>0</a:t>
            </a:r>
            <a:r>
              <a:rPr lang="ko-KR" altLang="en-US" sz="19000" b="0" i="0" u="none" strike="noStrike" dirty="0" smtClean="0">
                <a:solidFill>
                  <a:srgbClr val="229BEE"/>
                </a:solidFill>
                <a:latin typeface="+mn-ea"/>
              </a:rPr>
              <a:t>４</a:t>
            </a:r>
            <a:endParaRPr lang="en-US" sz="19000" b="0" i="0" u="none" strike="noStrike" dirty="0">
              <a:solidFill>
                <a:srgbClr val="229BEE"/>
              </a:solidFill>
              <a:latin typeface="+mn-ea"/>
            </a:endParaRPr>
          </a:p>
        </p:txBody>
      </p:sp>
      <p:sp>
        <p:nvSpPr>
          <p:cNvPr id="6" name="TextBox 6"/>
          <p:cNvSpPr txBox="1"/>
          <p:nvPr/>
        </p:nvSpPr>
        <p:spPr>
          <a:xfrm>
            <a:off x="1498600" y="6667500"/>
            <a:ext cx="9080500" cy="1498600"/>
          </a:xfrm>
          <a:prstGeom prst="rect">
            <a:avLst/>
          </a:prstGeom>
        </p:spPr>
        <p:txBody>
          <a:bodyPr lIns="0" tIns="0" rIns="0" bIns="0" rtlCol="0" anchor="ctr"/>
          <a:lstStyle/>
          <a:p>
            <a:pPr lvl="0" algn="l">
              <a:lnSpc>
                <a:spcPct val="115287"/>
              </a:lnSpc>
            </a:pPr>
            <a:r>
              <a:rPr lang="ko-KR" altLang="en-US" sz="8400" b="0" i="0" u="none" strike="noStrike" dirty="0" smtClean="0">
                <a:solidFill>
                  <a:srgbClr val="4D4D4D"/>
                </a:solidFill>
                <a:latin typeface="Noto Sans KR Medium" pitchFamily="50" charset="-127"/>
                <a:ea typeface="Noto Sans KR Medium" pitchFamily="50" charset="-127"/>
              </a:rPr>
              <a:t>군집분석</a:t>
            </a:r>
            <a:endParaRPr lang="ko-KR" sz="8400" b="0" i="0" u="none" strike="noStrike" dirty="0">
              <a:solidFill>
                <a:srgbClr val="4D4D4D"/>
              </a:solidFill>
              <a:latin typeface="Noto Sans KR Medium" pitchFamily="50" charset="-127"/>
              <a:ea typeface="Noto Sans KR Medium" pitchFamily="50" charset="-127"/>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229BEE"/>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cstate="print"/>
          <a:stretch>
            <a:fillRect/>
          </a:stretch>
        </p:blipFill>
        <p:spPr>
          <a:xfrm>
            <a:off x="292100" y="292100"/>
            <a:ext cx="17716500" cy="9715500"/>
          </a:xfrm>
          <a:prstGeom prst="rect">
            <a:avLst/>
          </a:prstGeom>
        </p:spPr>
      </p:pic>
      <p:pic>
        <p:nvPicPr>
          <p:cNvPr id="4" name="Picture 4"/>
          <p:cNvPicPr>
            <a:picLocks noChangeAspect="1"/>
          </p:cNvPicPr>
          <p:nvPr/>
        </p:nvPicPr>
        <p:blipFill>
          <a:blip r:embed="rId4" cstate="print"/>
          <a:stretch>
            <a:fillRect/>
          </a:stretch>
        </p:blipFill>
        <p:spPr>
          <a:xfrm>
            <a:off x="16611600" y="0"/>
            <a:ext cx="673100" cy="965200"/>
          </a:xfrm>
          <a:prstGeom prst="rect">
            <a:avLst/>
          </a:prstGeom>
        </p:spPr>
      </p:pic>
      <p:sp>
        <p:nvSpPr>
          <p:cNvPr id="8" name="TextBox 11"/>
          <p:cNvSpPr txBox="1"/>
          <p:nvPr/>
        </p:nvSpPr>
        <p:spPr>
          <a:xfrm>
            <a:off x="2476500" y="876300"/>
            <a:ext cx="13335000" cy="1409700"/>
          </a:xfrm>
          <a:prstGeom prst="rect">
            <a:avLst/>
          </a:prstGeom>
        </p:spPr>
        <p:txBody>
          <a:bodyPr lIns="0" tIns="0" rIns="0" bIns="0" rtlCol="0" anchor="ctr"/>
          <a:lstStyle/>
          <a:p>
            <a:pPr lvl="0" algn="ctr">
              <a:lnSpc>
                <a:spcPct val="98770"/>
              </a:lnSpc>
            </a:pPr>
            <a:r>
              <a:rPr lang="en-US" altLang="ko-KR" sz="5400" b="0" i="0" u="none" strike="noStrike" dirty="0" smtClean="0">
                <a:solidFill>
                  <a:srgbClr val="4D4D4D"/>
                </a:solidFill>
                <a:latin typeface="Noto Sans KR Medium" pitchFamily="50" charset="-127"/>
                <a:ea typeface="Noto Sans KR Medium" pitchFamily="50" charset="-127"/>
              </a:rPr>
              <a:t>1.</a:t>
            </a:r>
            <a:r>
              <a:rPr lang="ko-KR" altLang="en-US" sz="5400" b="0" i="0" u="none" strike="noStrike" dirty="0" smtClean="0">
                <a:solidFill>
                  <a:srgbClr val="4D4D4D"/>
                </a:solidFill>
                <a:latin typeface="Noto Sans KR Medium" pitchFamily="50" charset="-127"/>
                <a:ea typeface="Noto Sans KR Medium" pitchFamily="50" charset="-127"/>
              </a:rPr>
              <a:t>군집개수 선정</a:t>
            </a:r>
            <a:endParaRPr lang="ko-KR" sz="5400" b="0" i="0" u="none" strike="noStrike" dirty="0">
              <a:solidFill>
                <a:srgbClr val="4D4D4D"/>
              </a:solidFill>
              <a:latin typeface="Noto Sans KR Medium" pitchFamily="50" charset="-127"/>
              <a:ea typeface="Noto Sans KR Medium" pitchFamily="50" charset="-127"/>
            </a:endParaRPr>
          </a:p>
        </p:txBody>
      </p:sp>
      <p:pic>
        <p:nvPicPr>
          <p:cNvPr id="9" name="Picture 3"/>
          <p:cNvPicPr>
            <a:picLocks noChangeAspect="1"/>
          </p:cNvPicPr>
          <p:nvPr/>
        </p:nvPicPr>
        <p:blipFill>
          <a:blip r:embed="rId5" cstate="print"/>
          <a:stretch>
            <a:fillRect/>
          </a:stretch>
        </p:blipFill>
        <p:spPr>
          <a:xfrm>
            <a:off x="1003300" y="2171700"/>
            <a:ext cx="16281400" cy="25400"/>
          </a:xfrm>
          <a:prstGeom prst="rect">
            <a:avLst/>
          </a:prstGeom>
        </p:spPr>
      </p:pic>
      <p:sp>
        <p:nvSpPr>
          <p:cNvPr id="12" name="직사각형 11"/>
          <p:cNvSpPr/>
          <p:nvPr/>
        </p:nvSpPr>
        <p:spPr>
          <a:xfrm>
            <a:off x="990600" y="2628900"/>
            <a:ext cx="3023585" cy="461665"/>
          </a:xfrm>
          <a:prstGeom prst="rect">
            <a:avLst/>
          </a:prstGeom>
        </p:spPr>
        <p:txBody>
          <a:bodyPr wrap="none">
            <a:spAutoFit/>
          </a:bodyPr>
          <a:lstStyle/>
          <a:p>
            <a:r>
              <a:rPr lang="ko-KR" altLang="en-US" sz="2400" b="1" dirty="0" err="1" smtClean="0">
                <a:ea typeface="NanumBarunGothic Light" panose="020B0603020101020101" pitchFamily="34" charset="-127"/>
              </a:rPr>
              <a:t>변화량</a:t>
            </a:r>
            <a:r>
              <a:rPr lang="ko-KR" altLang="en-US" sz="2400" b="1" dirty="0" smtClean="0">
                <a:ea typeface="NanumBarunGothic Light" panose="020B0603020101020101" pitchFamily="34" charset="-127"/>
              </a:rPr>
              <a:t>　데이터 준비</a:t>
            </a:r>
            <a:endParaRPr lang="ko-KR" altLang="en-US" sz="2400" dirty="0"/>
          </a:p>
        </p:txBody>
      </p:sp>
      <p:pic>
        <p:nvPicPr>
          <p:cNvPr id="78850" name="Picture 2"/>
          <p:cNvPicPr>
            <a:picLocks noChangeAspect="1" noChangeArrowheads="1"/>
          </p:cNvPicPr>
          <p:nvPr/>
        </p:nvPicPr>
        <p:blipFill>
          <a:blip r:embed="rId6" cstate="print"/>
          <a:srcRect/>
          <a:stretch>
            <a:fillRect/>
          </a:stretch>
        </p:blipFill>
        <p:spPr bwMode="auto">
          <a:xfrm>
            <a:off x="990600" y="3238500"/>
            <a:ext cx="9677401" cy="762000"/>
          </a:xfrm>
          <a:prstGeom prst="rect">
            <a:avLst/>
          </a:prstGeom>
          <a:noFill/>
          <a:ln w="9525">
            <a:noFill/>
            <a:miter lim="800000"/>
            <a:headEnd/>
            <a:tailEnd/>
          </a:ln>
          <a:effectLst/>
        </p:spPr>
      </p:pic>
      <p:sp>
        <p:nvSpPr>
          <p:cNvPr id="10" name="직사각형 9"/>
          <p:cNvSpPr/>
          <p:nvPr/>
        </p:nvSpPr>
        <p:spPr>
          <a:xfrm>
            <a:off x="874221" y="4377035"/>
            <a:ext cx="8803179" cy="461665"/>
          </a:xfrm>
          <a:prstGeom prst="rect">
            <a:avLst/>
          </a:prstGeom>
        </p:spPr>
        <p:txBody>
          <a:bodyPr wrap="none">
            <a:spAutoFit/>
          </a:bodyPr>
          <a:lstStyle/>
          <a:p>
            <a:r>
              <a:rPr lang="en-US" altLang="ko-KR" sz="2400" b="1" dirty="0" err="1" smtClean="0"/>
              <a:t>clabel</a:t>
            </a:r>
            <a:r>
              <a:rPr lang="en-US" altLang="ko-KR" sz="2400" b="1" dirty="0" smtClean="0"/>
              <a:t> </a:t>
            </a:r>
            <a:r>
              <a:rPr lang="ko-KR" altLang="en-US" sz="2400" b="1" dirty="0" smtClean="0"/>
              <a:t>함수</a:t>
            </a:r>
            <a:r>
              <a:rPr lang="en-US" altLang="ko-KR" sz="2400" b="1" dirty="0" smtClean="0"/>
              <a:t>(</a:t>
            </a:r>
            <a:r>
              <a:rPr lang="ko-KR" altLang="en-US" sz="2400" b="1" dirty="0" smtClean="0"/>
              <a:t>군집 수 </a:t>
            </a:r>
            <a:r>
              <a:rPr lang="en-US" altLang="ko-KR" sz="2400" b="1" dirty="0" smtClean="0"/>
              <a:t>x</a:t>
            </a:r>
            <a:r>
              <a:rPr lang="ko-KR" altLang="en-US" sz="2400" b="1" dirty="0" smtClean="0"/>
              <a:t>일 때 </a:t>
            </a:r>
            <a:r>
              <a:rPr lang="en-US" altLang="ko-KR" sz="2400" b="1" dirty="0" err="1" smtClean="0"/>
              <a:t>kmeans</a:t>
            </a:r>
            <a:r>
              <a:rPr lang="en-US" altLang="ko-KR" sz="2400" b="1" dirty="0" smtClean="0"/>
              <a:t> </a:t>
            </a:r>
            <a:r>
              <a:rPr lang="ko-KR" altLang="en-US" sz="2400" b="1" dirty="0" smtClean="0"/>
              <a:t>수행 후 </a:t>
            </a:r>
            <a:r>
              <a:rPr lang="en-US" altLang="ko-KR" sz="2400" b="1" dirty="0" smtClean="0"/>
              <a:t>cluster </a:t>
            </a:r>
            <a:r>
              <a:rPr lang="ko-KR" altLang="en-US" sz="2400" b="1" dirty="0" smtClean="0"/>
              <a:t>결과 반환</a:t>
            </a:r>
            <a:r>
              <a:rPr lang="en-US" altLang="ko-KR" sz="2400" b="1" dirty="0" smtClean="0"/>
              <a:t>) </a:t>
            </a:r>
            <a:r>
              <a:rPr lang="ko-KR" altLang="en-US" sz="2400" b="1" dirty="0" smtClean="0"/>
              <a:t>생성</a:t>
            </a:r>
            <a:endParaRPr lang="ko-KR" altLang="en-US" sz="2400" b="1" dirty="0"/>
          </a:p>
        </p:txBody>
      </p:sp>
      <p:pic>
        <p:nvPicPr>
          <p:cNvPr id="78851" name="Picture 3"/>
          <p:cNvPicPr>
            <a:picLocks noChangeAspect="1" noChangeArrowheads="1"/>
          </p:cNvPicPr>
          <p:nvPr/>
        </p:nvPicPr>
        <p:blipFill>
          <a:blip r:embed="rId7" cstate="print"/>
          <a:srcRect/>
          <a:stretch>
            <a:fillRect/>
          </a:stretch>
        </p:blipFill>
        <p:spPr bwMode="auto">
          <a:xfrm>
            <a:off x="999393" y="4914900"/>
            <a:ext cx="10659207" cy="762000"/>
          </a:xfrm>
          <a:prstGeom prst="rect">
            <a:avLst/>
          </a:prstGeom>
          <a:noFill/>
          <a:ln w="9525">
            <a:noFill/>
            <a:miter lim="800000"/>
            <a:headEnd/>
            <a:tailEnd/>
          </a:ln>
          <a:effectLst/>
        </p:spPr>
      </p:pic>
      <p:pic>
        <p:nvPicPr>
          <p:cNvPr id="78852" name="Picture 4"/>
          <p:cNvPicPr>
            <a:picLocks noChangeAspect="1" noChangeArrowheads="1"/>
          </p:cNvPicPr>
          <p:nvPr/>
        </p:nvPicPr>
        <p:blipFill>
          <a:blip r:embed="rId8" cstate="print"/>
          <a:srcRect r="-2037" b="30435"/>
          <a:stretch>
            <a:fillRect/>
          </a:stretch>
        </p:blipFill>
        <p:spPr bwMode="auto">
          <a:xfrm>
            <a:off x="990600" y="6515100"/>
            <a:ext cx="9534525" cy="1676400"/>
          </a:xfrm>
          <a:prstGeom prst="rect">
            <a:avLst/>
          </a:prstGeom>
          <a:noFill/>
          <a:ln w="9525">
            <a:noFill/>
            <a:miter lim="800000"/>
            <a:headEnd/>
            <a:tailEnd/>
          </a:ln>
          <a:effectLst/>
        </p:spPr>
      </p:pic>
      <p:sp>
        <p:nvSpPr>
          <p:cNvPr id="13" name="직사각형 12"/>
          <p:cNvSpPr/>
          <p:nvPr/>
        </p:nvSpPr>
        <p:spPr>
          <a:xfrm>
            <a:off x="950171" y="5977235"/>
            <a:ext cx="1488229" cy="457946"/>
          </a:xfrm>
          <a:prstGeom prst="rect">
            <a:avLst/>
          </a:prstGeom>
        </p:spPr>
        <p:txBody>
          <a:bodyPr wrap="none">
            <a:spAutoFit/>
          </a:bodyPr>
          <a:lstStyle/>
          <a:p>
            <a:pPr lvl="0" algn="ctr">
              <a:lnSpc>
                <a:spcPct val="98770"/>
              </a:lnSpc>
            </a:pPr>
            <a:r>
              <a:rPr lang="en-US" altLang="ko-KR" sz="2400" b="1" dirty="0" err="1" smtClean="0">
                <a:solidFill>
                  <a:srgbClr val="4D4D4D"/>
                </a:solidFill>
                <a:ea typeface="Pretendard Medium"/>
              </a:rPr>
              <a:t>CNvalidity</a:t>
            </a:r>
            <a:endParaRPr lang="ko-KR" altLang="ko-KR" sz="2400" b="1" dirty="0">
              <a:solidFill>
                <a:srgbClr val="4D4D4D"/>
              </a:solidFill>
              <a:ea typeface="Pretendard Medium"/>
            </a:endParaRPr>
          </a:p>
        </p:txBody>
      </p:sp>
      <p:pic>
        <p:nvPicPr>
          <p:cNvPr id="78853" name="Picture 5"/>
          <p:cNvPicPr>
            <a:picLocks noChangeAspect="1" noChangeArrowheads="1"/>
          </p:cNvPicPr>
          <p:nvPr/>
        </p:nvPicPr>
        <p:blipFill>
          <a:blip r:embed="rId9" cstate="print"/>
          <a:srcRect/>
          <a:stretch>
            <a:fillRect/>
          </a:stretch>
        </p:blipFill>
        <p:spPr bwMode="auto">
          <a:xfrm>
            <a:off x="10668000" y="5829300"/>
            <a:ext cx="7162800" cy="4068536"/>
          </a:xfrm>
          <a:prstGeom prst="rect">
            <a:avLst/>
          </a:prstGeom>
          <a:noFill/>
          <a:ln w="9525">
            <a:noFill/>
            <a:miter lim="800000"/>
            <a:headEnd/>
            <a:tailEnd/>
          </a:ln>
          <a:effectLst/>
        </p:spPr>
      </p:pic>
      <p:sp>
        <p:nvSpPr>
          <p:cNvPr id="15" name="직사각형 14"/>
          <p:cNvSpPr/>
          <p:nvPr/>
        </p:nvSpPr>
        <p:spPr>
          <a:xfrm>
            <a:off x="12573000" y="8648700"/>
            <a:ext cx="5257800" cy="45720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직사각형 15"/>
          <p:cNvSpPr/>
          <p:nvPr/>
        </p:nvSpPr>
        <p:spPr>
          <a:xfrm>
            <a:off x="12573000" y="6972300"/>
            <a:ext cx="3962400" cy="45720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TextBox 17">
            <a:extLst>
              <a:ext uri="{FF2B5EF4-FFF2-40B4-BE49-F238E27FC236}">
                <a16:creationId xmlns="" xmlns:a16="http://schemas.microsoft.com/office/drawing/2014/main" id="{9868D4D3-D354-8A4A-E870-E4A7DA56A02E}"/>
              </a:ext>
            </a:extLst>
          </p:cNvPr>
          <p:cNvSpPr txBox="1"/>
          <p:nvPr/>
        </p:nvSpPr>
        <p:spPr>
          <a:xfrm>
            <a:off x="12801600" y="5215235"/>
            <a:ext cx="5029200" cy="461665"/>
          </a:xfrm>
          <a:prstGeom prst="rect">
            <a:avLst/>
          </a:prstGeom>
          <a:noFill/>
        </p:spPr>
        <p:txBody>
          <a:bodyPr wrap="square" rtlCol="0">
            <a:spAutoFit/>
          </a:bodyPr>
          <a:lstStyle/>
          <a:p>
            <a:r>
              <a:rPr lang="ko-KR" altLang="en-US" sz="2400" dirty="0" err="1" smtClean="0"/>
              <a:t>군집수</a:t>
            </a:r>
            <a:r>
              <a:rPr lang="ko-KR" altLang="en-US" sz="2400" dirty="0" smtClean="0"/>
              <a:t> </a:t>
            </a:r>
            <a:r>
              <a:rPr lang="en-US" altLang="ko-KR" sz="2400" dirty="0" smtClean="0"/>
              <a:t>2,3</a:t>
            </a:r>
            <a:r>
              <a:rPr lang="ko-KR" altLang="en-US" sz="2400" dirty="0" smtClean="0"/>
              <a:t>은 제외하고 본다고 할 때</a:t>
            </a:r>
            <a:endParaRPr lang="en-US" altLang="ko-KR" sz="2200" b="1" dirty="0">
              <a:latin typeface="+mn-ea"/>
            </a:endParaRPr>
          </a:p>
        </p:txBody>
      </p:sp>
      <p:sp>
        <p:nvSpPr>
          <p:cNvPr id="20" name="TextBox 12"/>
          <p:cNvSpPr txBox="1"/>
          <p:nvPr/>
        </p:nvSpPr>
        <p:spPr>
          <a:xfrm>
            <a:off x="7391400" y="660400"/>
            <a:ext cx="3505200" cy="444500"/>
          </a:xfrm>
          <a:prstGeom prst="rect">
            <a:avLst/>
          </a:prstGeom>
        </p:spPr>
        <p:txBody>
          <a:bodyPr lIns="0" tIns="0" rIns="0" bIns="0" rtlCol="0" anchor="ctr"/>
          <a:lstStyle/>
          <a:p>
            <a:pPr lvl="0" algn="ctr">
              <a:lnSpc>
                <a:spcPct val="98770"/>
              </a:lnSpc>
            </a:pPr>
            <a:r>
              <a:rPr lang="en-US" sz="2500" b="0" i="0" u="none" strike="noStrike" dirty="0">
                <a:solidFill>
                  <a:srgbClr val="229BEE"/>
                </a:solidFill>
                <a:latin typeface="+mn-ea"/>
              </a:rPr>
              <a:t>CHAPTER </a:t>
            </a:r>
            <a:r>
              <a:rPr lang="en-US" sz="2500" b="0" i="0" u="none" strike="noStrike" dirty="0" smtClean="0">
                <a:solidFill>
                  <a:srgbClr val="229BEE"/>
                </a:solidFill>
                <a:latin typeface="+mn-ea"/>
              </a:rPr>
              <a:t>0</a:t>
            </a:r>
            <a:r>
              <a:rPr lang="ko-KR" altLang="en-US" sz="2500" b="0" i="0" u="none" strike="noStrike" dirty="0" smtClean="0">
                <a:solidFill>
                  <a:srgbClr val="229BEE"/>
                </a:solidFill>
                <a:latin typeface="+mn-ea"/>
              </a:rPr>
              <a:t>４</a:t>
            </a:r>
            <a:endParaRPr lang="en-US" sz="2500" b="0" i="0" u="none" strike="noStrike" dirty="0">
              <a:solidFill>
                <a:srgbClr val="229BEE"/>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0" grpId="0"/>
      <p:bldP spid="13"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229BEE"/>
        </a:solidFill>
        <a:effectLst/>
      </p:bgPr>
    </p:bg>
    <p:spTree>
      <p:nvGrpSpPr>
        <p:cNvPr id="1" name=""/>
        <p:cNvGrpSpPr/>
        <p:nvPr/>
      </p:nvGrpSpPr>
      <p:grpSpPr>
        <a:xfrm>
          <a:off x="0" y="0"/>
          <a:ext cx="0" cy="0"/>
          <a:chOff x="0" y="0"/>
          <a:chExt cx="0" cy="0"/>
        </a:xfrm>
      </p:grpSpPr>
      <p:pic>
        <p:nvPicPr>
          <p:cNvPr id="19" name="Picture 2"/>
          <p:cNvPicPr>
            <a:picLocks noChangeAspect="1"/>
          </p:cNvPicPr>
          <p:nvPr/>
        </p:nvPicPr>
        <p:blipFill>
          <a:blip r:embed="rId2" cstate="print"/>
          <a:stretch>
            <a:fillRect/>
          </a:stretch>
        </p:blipFill>
        <p:spPr>
          <a:xfrm>
            <a:off x="292100" y="292100"/>
            <a:ext cx="17716500" cy="9715500"/>
          </a:xfrm>
          <a:prstGeom prst="rect">
            <a:avLst/>
          </a:prstGeom>
        </p:spPr>
      </p:pic>
      <p:pic>
        <p:nvPicPr>
          <p:cNvPr id="4" name="Picture 4"/>
          <p:cNvPicPr>
            <a:picLocks noChangeAspect="1"/>
          </p:cNvPicPr>
          <p:nvPr/>
        </p:nvPicPr>
        <p:blipFill>
          <a:blip r:embed="rId3" cstate="print"/>
          <a:stretch>
            <a:fillRect/>
          </a:stretch>
        </p:blipFill>
        <p:spPr>
          <a:xfrm>
            <a:off x="16611600" y="0"/>
            <a:ext cx="673100" cy="965200"/>
          </a:xfrm>
          <a:prstGeom prst="rect">
            <a:avLst/>
          </a:prstGeom>
        </p:spPr>
      </p:pic>
      <p:pic>
        <p:nvPicPr>
          <p:cNvPr id="7" name="Picture 7"/>
          <p:cNvPicPr>
            <a:picLocks noChangeAspect="1"/>
          </p:cNvPicPr>
          <p:nvPr/>
        </p:nvPicPr>
        <p:blipFill>
          <a:blip r:embed="rId4" cstate="print">
            <a:alphaModFix amt="30000"/>
          </a:blip>
          <a:stretch>
            <a:fillRect/>
          </a:stretch>
        </p:blipFill>
        <p:spPr>
          <a:xfrm rot="5400000">
            <a:off x="3327400" y="8699500"/>
            <a:ext cx="762000" cy="25400"/>
          </a:xfrm>
          <a:prstGeom prst="rect">
            <a:avLst/>
          </a:prstGeom>
        </p:spPr>
      </p:pic>
      <p:sp>
        <p:nvSpPr>
          <p:cNvPr id="14" name="TextBox 11"/>
          <p:cNvSpPr txBox="1"/>
          <p:nvPr/>
        </p:nvSpPr>
        <p:spPr>
          <a:xfrm>
            <a:off x="2476500" y="876300"/>
            <a:ext cx="13335000" cy="1409700"/>
          </a:xfrm>
          <a:prstGeom prst="rect">
            <a:avLst/>
          </a:prstGeom>
        </p:spPr>
        <p:txBody>
          <a:bodyPr lIns="0" tIns="0" rIns="0" bIns="0" rtlCol="0" anchor="ctr"/>
          <a:lstStyle/>
          <a:p>
            <a:pPr lvl="0" algn="ctr">
              <a:lnSpc>
                <a:spcPct val="98770"/>
              </a:lnSpc>
            </a:pPr>
            <a:r>
              <a:rPr lang="ko-KR" altLang="en-US" sz="5400" dirty="0" smtClean="0">
                <a:solidFill>
                  <a:srgbClr val="4D4D4D"/>
                </a:solidFill>
                <a:latin typeface="Noto Sans KR Medium" pitchFamily="50" charset="-127"/>
                <a:ea typeface="Noto Sans KR Medium" pitchFamily="50" charset="-127"/>
              </a:rPr>
              <a:t>실루엣 계수</a:t>
            </a:r>
            <a:r>
              <a:rPr lang="en-US" altLang="ko-KR" sz="5400" dirty="0" smtClean="0">
                <a:solidFill>
                  <a:srgbClr val="4D4D4D"/>
                </a:solidFill>
                <a:latin typeface="Noto Sans KR Medium" pitchFamily="50" charset="-127"/>
                <a:ea typeface="Noto Sans KR Medium" pitchFamily="50" charset="-127"/>
              </a:rPr>
              <a:t>(Silhouette Coefficient)</a:t>
            </a:r>
            <a:endParaRPr lang="ko-KR" sz="5400" b="0" i="0" u="none" strike="noStrike" dirty="0">
              <a:solidFill>
                <a:srgbClr val="4D4D4D"/>
              </a:solidFill>
              <a:latin typeface="Noto Sans KR Medium" pitchFamily="50" charset="-127"/>
              <a:ea typeface="Noto Sans KR Medium" pitchFamily="50" charset="-127"/>
            </a:endParaRPr>
          </a:p>
        </p:txBody>
      </p:sp>
      <p:pic>
        <p:nvPicPr>
          <p:cNvPr id="15" name="Picture 3"/>
          <p:cNvPicPr>
            <a:picLocks noChangeAspect="1"/>
          </p:cNvPicPr>
          <p:nvPr/>
        </p:nvPicPr>
        <p:blipFill>
          <a:blip r:embed="rId5" cstate="print"/>
          <a:stretch>
            <a:fillRect/>
          </a:stretch>
        </p:blipFill>
        <p:spPr>
          <a:xfrm>
            <a:off x="1003300" y="2171700"/>
            <a:ext cx="16281400" cy="25400"/>
          </a:xfrm>
          <a:prstGeom prst="rect">
            <a:avLst/>
          </a:prstGeom>
        </p:spPr>
      </p:pic>
      <p:sp>
        <p:nvSpPr>
          <p:cNvPr id="16" name="내용 개체 틀 2">
            <a:extLst>
              <a:ext uri="{FF2B5EF4-FFF2-40B4-BE49-F238E27FC236}">
                <a16:creationId xmlns="" xmlns:a16="http://schemas.microsoft.com/office/drawing/2014/main" id="{77660150-2224-4038-BA51-3D46BD66DCE6}"/>
              </a:ext>
            </a:extLst>
          </p:cNvPr>
          <p:cNvSpPr txBox="1">
            <a:spLocks/>
          </p:cNvSpPr>
          <p:nvPr/>
        </p:nvSpPr>
        <p:spPr>
          <a:xfrm>
            <a:off x="9982200" y="3390900"/>
            <a:ext cx="7010400" cy="5943600"/>
          </a:xfrm>
          <a:prstGeom prst="rect">
            <a:avLst/>
          </a:prstGeom>
        </p:spPr>
        <p:txBody>
          <a:bodyPr/>
          <a:lstStyle/>
          <a:p>
            <a:pPr algn="just" fontAlgn="base" latinLnBrk="1">
              <a:lnSpc>
                <a:spcPct val="160000"/>
              </a:lnSpc>
            </a:pPr>
            <a:r>
              <a:rPr lang="en-US" altLang="ko-KR" sz="2400" kern="0" dirty="0" smtClean="0">
                <a:solidFill>
                  <a:srgbClr val="000000"/>
                </a:solidFill>
                <a:latin typeface="+mn-ea"/>
              </a:rPr>
              <a:t>a: </a:t>
            </a:r>
            <a:r>
              <a:rPr lang="ko-KR" altLang="en-US" sz="2400" kern="0" dirty="0" smtClean="0">
                <a:solidFill>
                  <a:srgbClr val="000000"/>
                </a:solidFill>
                <a:latin typeface="+mn-ea"/>
              </a:rPr>
              <a:t>해당 점이 속한 자기 군집 내 평균 거리 </a:t>
            </a:r>
            <a:endParaRPr lang="en-US" altLang="ko-KR" sz="2400" kern="0" dirty="0" smtClean="0">
              <a:solidFill>
                <a:srgbClr val="000000"/>
              </a:solidFill>
              <a:latin typeface="+mn-ea"/>
            </a:endParaRPr>
          </a:p>
          <a:p>
            <a:pPr algn="just" fontAlgn="base" latinLnBrk="1">
              <a:lnSpc>
                <a:spcPct val="160000"/>
              </a:lnSpc>
            </a:pPr>
            <a:r>
              <a:rPr lang="en-US" altLang="ko-KR" sz="2400" kern="0" dirty="0" smtClean="0">
                <a:solidFill>
                  <a:srgbClr val="000000"/>
                </a:solidFill>
                <a:latin typeface="+mn-ea"/>
              </a:rPr>
              <a:t>    (</a:t>
            </a:r>
            <a:r>
              <a:rPr lang="ko-KR" altLang="en-US" sz="2400" kern="0" dirty="0" smtClean="0">
                <a:solidFill>
                  <a:srgbClr val="000000"/>
                </a:solidFill>
                <a:latin typeface="+mn-ea"/>
              </a:rPr>
              <a:t>군집 내 응집도</a:t>
            </a:r>
            <a:r>
              <a:rPr lang="en-US" altLang="ko-KR" sz="2400" kern="0" dirty="0" smtClean="0">
                <a:solidFill>
                  <a:srgbClr val="000000"/>
                </a:solidFill>
                <a:latin typeface="+mn-ea"/>
              </a:rPr>
              <a:t>, </a:t>
            </a:r>
            <a:r>
              <a:rPr lang="ko-KR" altLang="en-US" sz="2400" kern="0" dirty="0" smtClean="0">
                <a:solidFill>
                  <a:srgbClr val="000000"/>
                </a:solidFill>
                <a:latin typeface="+mn-ea"/>
              </a:rPr>
              <a:t>작을수록 좋음</a:t>
            </a:r>
            <a:r>
              <a:rPr lang="en-US" altLang="ko-KR" sz="2400" kern="0" dirty="0" smtClean="0">
                <a:solidFill>
                  <a:srgbClr val="000000"/>
                </a:solidFill>
                <a:latin typeface="+mn-ea"/>
              </a:rPr>
              <a:t>)</a:t>
            </a:r>
            <a:endParaRPr lang="ko-KR" altLang="en-US" sz="2400" kern="0" dirty="0" smtClean="0">
              <a:solidFill>
                <a:srgbClr val="000000"/>
              </a:solidFill>
              <a:latin typeface="+mn-ea"/>
            </a:endParaRPr>
          </a:p>
          <a:p>
            <a:pPr algn="just" fontAlgn="base" latinLnBrk="1">
              <a:lnSpc>
                <a:spcPct val="160000"/>
              </a:lnSpc>
            </a:pPr>
            <a:r>
              <a:rPr lang="en-US" altLang="ko-KR" sz="2400" kern="0" dirty="0" smtClean="0">
                <a:solidFill>
                  <a:srgbClr val="000000"/>
                </a:solidFill>
                <a:latin typeface="+mn-ea"/>
              </a:rPr>
              <a:t>b: </a:t>
            </a:r>
            <a:r>
              <a:rPr lang="ko-KR" altLang="en-US" sz="2400" kern="0" dirty="0" smtClean="0">
                <a:solidFill>
                  <a:srgbClr val="000000"/>
                </a:solidFill>
                <a:latin typeface="+mn-ea"/>
              </a:rPr>
              <a:t>가장 가까운 다른 군집과의 평균 거리 </a:t>
            </a:r>
            <a:endParaRPr lang="en-US" altLang="ko-KR" sz="2400" kern="0" dirty="0" smtClean="0">
              <a:solidFill>
                <a:srgbClr val="000000"/>
              </a:solidFill>
              <a:latin typeface="+mn-ea"/>
            </a:endParaRPr>
          </a:p>
          <a:p>
            <a:pPr algn="just" fontAlgn="base" latinLnBrk="1">
              <a:lnSpc>
                <a:spcPct val="160000"/>
              </a:lnSpc>
            </a:pPr>
            <a:r>
              <a:rPr lang="en-US" altLang="ko-KR" sz="2400" kern="0" dirty="0" smtClean="0">
                <a:solidFill>
                  <a:srgbClr val="000000"/>
                </a:solidFill>
                <a:latin typeface="+mn-ea"/>
              </a:rPr>
              <a:t>    (</a:t>
            </a:r>
            <a:r>
              <a:rPr lang="ko-KR" altLang="en-US" sz="2400" kern="0" dirty="0" smtClean="0">
                <a:solidFill>
                  <a:srgbClr val="000000"/>
                </a:solidFill>
                <a:latin typeface="+mn-ea"/>
              </a:rPr>
              <a:t>군집 간 분리도</a:t>
            </a:r>
            <a:r>
              <a:rPr lang="en-US" altLang="ko-KR" sz="2400" kern="0" dirty="0" smtClean="0">
                <a:solidFill>
                  <a:srgbClr val="000000"/>
                </a:solidFill>
                <a:latin typeface="+mn-ea"/>
              </a:rPr>
              <a:t>, </a:t>
            </a:r>
            <a:r>
              <a:rPr lang="ko-KR" altLang="en-US" sz="2400" kern="0" dirty="0" smtClean="0">
                <a:solidFill>
                  <a:srgbClr val="000000"/>
                </a:solidFill>
                <a:latin typeface="+mn-ea"/>
              </a:rPr>
              <a:t>클수록 좋음</a:t>
            </a:r>
            <a:r>
              <a:rPr lang="en-US" altLang="ko-KR" sz="2400" kern="0" dirty="0" smtClean="0">
                <a:solidFill>
                  <a:srgbClr val="000000"/>
                </a:solidFill>
                <a:latin typeface="+mn-ea"/>
              </a:rPr>
              <a:t>)</a:t>
            </a:r>
          </a:p>
          <a:p>
            <a:pPr algn="just" fontAlgn="base" latinLnBrk="1">
              <a:lnSpc>
                <a:spcPct val="160000"/>
              </a:lnSpc>
            </a:pPr>
            <a:endParaRPr lang="en-US" altLang="ko-KR" sz="2400" kern="0" dirty="0" smtClean="0">
              <a:solidFill>
                <a:srgbClr val="000000"/>
              </a:solidFill>
              <a:latin typeface="+mn-ea"/>
            </a:endParaRPr>
          </a:p>
          <a:p>
            <a:pPr algn="just" fontAlgn="base" latinLnBrk="1">
              <a:lnSpc>
                <a:spcPct val="160000"/>
              </a:lnSpc>
            </a:pPr>
            <a:r>
              <a:rPr lang="ko-KR" altLang="en-US" sz="2400" kern="0" dirty="0" smtClean="0">
                <a:solidFill>
                  <a:srgbClr val="000000"/>
                </a:solidFill>
                <a:latin typeface="+mn-ea"/>
              </a:rPr>
              <a:t>값의 범위</a:t>
            </a:r>
            <a:r>
              <a:rPr lang="en-US" altLang="ko-KR" sz="2400" kern="0" dirty="0" smtClean="0">
                <a:solidFill>
                  <a:srgbClr val="000000"/>
                </a:solidFill>
                <a:latin typeface="+mn-ea"/>
              </a:rPr>
              <a:t>: -1 ~ 1</a:t>
            </a:r>
            <a:endParaRPr lang="ko-KR" altLang="en-US" sz="2400" kern="0" dirty="0" smtClean="0">
              <a:solidFill>
                <a:srgbClr val="000000"/>
              </a:solidFill>
              <a:latin typeface="+mn-ea"/>
            </a:endParaRPr>
          </a:p>
          <a:p>
            <a:pPr algn="just" fontAlgn="base" latinLnBrk="1">
              <a:lnSpc>
                <a:spcPct val="160000"/>
              </a:lnSpc>
            </a:pPr>
            <a:r>
              <a:rPr lang="en-US" altLang="ko-KR" sz="2400" kern="0" dirty="0" smtClean="0">
                <a:solidFill>
                  <a:srgbClr val="000000"/>
                </a:solidFill>
                <a:latin typeface="+mn-ea"/>
              </a:rPr>
              <a:t>1</a:t>
            </a:r>
            <a:r>
              <a:rPr lang="ko-KR" altLang="en-US" sz="2400" kern="0" dirty="0" smtClean="0">
                <a:solidFill>
                  <a:srgbClr val="000000"/>
                </a:solidFill>
                <a:latin typeface="+mn-ea"/>
              </a:rPr>
              <a:t>에 가까울수록 → 군집이 잘 형성됨</a:t>
            </a:r>
          </a:p>
          <a:p>
            <a:pPr algn="just" fontAlgn="base" latinLnBrk="1">
              <a:lnSpc>
                <a:spcPct val="160000"/>
              </a:lnSpc>
            </a:pPr>
            <a:endParaRPr lang="en-US" altLang="ko-KR" sz="2400" kern="0" dirty="0" smtClean="0">
              <a:solidFill>
                <a:srgbClr val="000000"/>
              </a:solidFill>
              <a:latin typeface="+mn-ea"/>
            </a:endParaRPr>
          </a:p>
          <a:p>
            <a:pPr algn="just" fontAlgn="base" latinLnBrk="1">
              <a:lnSpc>
                <a:spcPct val="160000"/>
              </a:lnSpc>
            </a:pPr>
            <a:r>
              <a:rPr lang="ko-KR" altLang="en-US" sz="2400" kern="0" dirty="0" smtClean="0">
                <a:solidFill>
                  <a:srgbClr val="000000"/>
                </a:solidFill>
                <a:latin typeface="+mn-ea"/>
              </a:rPr>
              <a:t>전체 데이터에 대해 평균 실루엣 계수를 계산</a:t>
            </a:r>
          </a:p>
          <a:p>
            <a:pPr algn="just" fontAlgn="base" latinLnBrk="1">
              <a:lnSpc>
                <a:spcPct val="160000"/>
              </a:lnSpc>
            </a:pPr>
            <a:r>
              <a:rPr lang="ko-KR" altLang="en-US" sz="2400" kern="0" dirty="0" smtClean="0">
                <a:solidFill>
                  <a:srgbClr val="000000"/>
                </a:solidFill>
                <a:latin typeface="+mn-ea"/>
              </a:rPr>
              <a:t>→ 가장 높은 값을 가지는 </a:t>
            </a:r>
            <a:r>
              <a:rPr lang="ko-KR" altLang="en-US" sz="2400" kern="0" dirty="0" err="1" smtClean="0">
                <a:solidFill>
                  <a:srgbClr val="000000"/>
                </a:solidFill>
                <a:latin typeface="+mn-ea"/>
              </a:rPr>
              <a:t>군집수를</a:t>
            </a:r>
            <a:r>
              <a:rPr lang="ko-KR" altLang="en-US" sz="2400" kern="0" dirty="0" smtClean="0">
                <a:solidFill>
                  <a:srgbClr val="000000"/>
                </a:solidFill>
                <a:latin typeface="+mn-ea"/>
              </a:rPr>
              <a:t> 선택</a:t>
            </a:r>
          </a:p>
          <a:p>
            <a:pPr algn="just" fontAlgn="base" latinLnBrk="1">
              <a:lnSpc>
                <a:spcPct val="160000"/>
              </a:lnSpc>
            </a:pPr>
            <a:endParaRPr lang="ko-KR" altLang="en-US" sz="2400" kern="0" dirty="0" smtClean="0">
              <a:solidFill>
                <a:srgbClr val="000000"/>
              </a:solidFill>
              <a:latin typeface="함초롬바탕" panose="02030604000101010101" pitchFamily="18" charset="-127"/>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ko-KR" altLang="en-US" sz="3200" b="0" i="0" u="none" strike="noStrike" kern="1200" cap="none" spc="0" normalizeH="0" baseline="0" noProof="0" dirty="0">
              <a:ln>
                <a:noFill/>
              </a:ln>
              <a:solidFill>
                <a:schemeClr val="tx1"/>
              </a:solidFill>
              <a:effectLst/>
              <a:uLnTx/>
              <a:uFillTx/>
              <a:latin typeface="+mn-lt"/>
              <a:ea typeface="+mn-ea"/>
              <a:cs typeface="+mn-cs"/>
            </a:endParaRPr>
          </a:p>
        </p:txBody>
      </p:sp>
      <p:pic>
        <p:nvPicPr>
          <p:cNvPr id="10" name="Picture 7">
            <a:extLst>
              <a:ext uri="{FF2B5EF4-FFF2-40B4-BE49-F238E27FC236}">
                <a16:creationId xmlns="" xmlns:a16="http://schemas.microsoft.com/office/drawing/2014/main" id="{B2FBF587-5432-4024-82C7-F260C5C5CEF3}"/>
              </a:ext>
            </a:extLst>
          </p:cNvPr>
          <p:cNvPicPr>
            <a:picLocks noChangeAspect="1"/>
          </p:cNvPicPr>
          <p:nvPr/>
        </p:nvPicPr>
        <p:blipFill>
          <a:blip r:embed="rId6" cstate="print"/>
          <a:stretch>
            <a:fillRect/>
          </a:stretch>
        </p:blipFill>
        <p:spPr>
          <a:xfrm>
            <a:off x="2514600" y="2933700"/>
            <a:ext cx="4267200" cy="1319582"/>
          </a:xfrm>
          <a:prstGeom prst="rect">
            <a:avLst/>
          </a:prstGeom>
          <a:noFill/>
          <a:ln>
            <a:noFill/>
          </a:ln>
          <a:effectLst/>
        </p:spPr>
      </p:pic>
      <p:pic>
        <p:nvPicPr>
          <p:cNvPr id="11" name="Picture 9">
            <a:extLst>
              <a:ext uri="{FF2B5EF4-FFF2-40B4-BE49-F238E27FC236}">
                <a16:creationId xmlns="" xmlns:a16="http://schemas.microsoft.com/office/drawing/2014/main" id="{286D9548-53A1-4DFB-8A46-9D8425C70F48}"/>
              </a:ext>
            </a:extLst>
          </p:cNvPr>
          <p:cNvPicPr>
            <a:picLocks noChangeAspect="1"/>
          </p:cNvPicPr>
          <p:nvPr/>
        </p:nvPicPr>
        <p:blipFill>
          <a:blip r:embed="rId7" cstate="print"/>
          <a:stretch>
            <a:fillRect/>
          </a:stretch>
        </p:blipFill>
        <p:spPr>
          <a:xfrm>
            <a:off x="1290880" y="4305300"/>
            <a:ext cx="8005520" cy="5233522"/>
          </a:xfrm>
          <a:prstGeom prst="rect">
            <a:avLst/>
          </a:prstGeom>
          <a:noFill/>
          <a:ln>
            <a:noFill/>
          </a:ln>
          <a:effectLst/>
        </p:spPr>
      </p:pic>
      <p:sp>
        <p:nvSpPr>
          <p:cNvPr id="17" name="TextBox 16">
            <a:extLst>
              <a:ext uri="{FF2B5EF4-FFF2-40B4-BE49-F238E27FC236}">
                <a16:creationId xmlns="" xmlns:a16="http://schemas.microsoft.com/office/drawing/2014/main" id="{9868D4D3-D354-8A4A-E870-E4A7DA56A02E}"/>
              </a:ext>
            </a:extLst>
          </p:cNvPr>
          <p:cNvSpPr txBox="1"/>
          <p:nvPr/>
        </p:nvSpPr>
        <p:spPr>
          <a:xfrm>
            <a:off x="990600" y="2476500"/>
            <a:ext cx="14173200" cy="461665"/>
          </a:xfrm>
          <a:prstGeom prst="rect">
            <a:avLst/>
          </a:prstGeom>
          <a:noFill/>
        </p:spPr>
        <p:txBody>
          <a:bodyPr wrap="square" rtlCol="0">
            <a:spAutoFit/>
          </a:bodyPr>
          <a:lstStyle/>
          <a:p>
            <a:r>
              <a:rPr lang="ko-KR" altLang="en-US" sz="2400" kern="0" dirty="0" smtClean="0">
                <a:solidFill>
                  <a:srgbClr val="000000"/>
                </a:solidFill>
                <a:latin typeface="+mn-ea"/>
              </a:rPr>
              <a:t>하나의 데이터가 자기 군집 안에 잘 속해 있고</a:t>
            </a:r>
            <a:r>
              <a:rPr lang="en-US" altLang="ko-KR" sz="2400" kern="0" dirty="0" smtClean="0">
                <a:solidFill>
                  <a:srgbClr val="000000"/>
                </a:solidFill>
                <a:latin typeface="+mn-ea"/>
              </a:rPr>
              <a:t>, </a:t>
            </a:r>
            <a:r>
              <a:rPr lang="ko-KR" altLang="en-US" sz="2400" kern="0" dirty="0" smtClean="0">
                <a:solidFill>
                  <a:srgbClr val="000000"/>
                </a:solidFill>
                <a:latin typeface="+mn-ea"/>
              </a:rPr>
              <a:t>다른 군집과는 잘 분리되어 있는지를 측정하는 값</a:t>
            </a:r>
            <a:endParaRPr lang="en-US" altLang="ko-KR" sz="2200" b="1" dirty="0">
              <a:latin typeface="+mn-ea"/>
            </a:endParaRPr>
          </a:p>
        </p:txBody>
      </p:sp>
      <p:sp>
        <p:nvSpPr>
          <p:cNvPr id="12" name="TextBox 12"/>
          <p:cNvSpPr txBox="1"/>
          <p:nvPr/>
        </p:nvSpPr>
        <p:spPr>
          <a:xfrm>
            <a:off x="7391400" y="660400"/>
            <a:ext cx="3505200" cy="444500"/>
          </a:xfrm>
          <a:prstGeom prst="rect">
            <a:avLst/>
          </a:prstGeom>
        </p:spPr>
        <p:txBody>
          <a:bodyPr lIns="0" tIns="0" rIns="0" bIns="0" rtlCol="0" anchor="ctr"/>
          <a:lstStyle/>
          <a:p>
            <a:pPr lvl="0" algn="ctr">
              <a:lnSpc>
                <a:spcPct val="98770"/>
              </a:lnSpc>
            </a:pPr>
            <a:r>
              <a:rPr lang="en-US" sz="2500" b="0" i="0" u="none" strike="noStrike" dirty="0">
                <a:solidFill>
                  <a:srgbClr val="229BEE"/>
                </a:solidFill>
                <a:latin typeface="+mn-ea"/>
              </a:rPr>
              <a:t>CHAPTER </a:t>
            </a:r>
            <a:r>
              <a:rPr lang="en-US" sz="2500" b="0" i="0" u="none" strike="noStrike" dirty="0" smtClean="0">
                <a:solidFill>
                  <a:srgbClr val="229BEE"/>
                </a:solidFill>
                <a:latin typeface="+mn-ea"/>
              </a:rPr>
              <a:t>0</a:t>
            </a:r>
            <a:r>
              <a:rPr lang="ko-KR" altLang="en-US" sz="2500" b="0" i="0" u="none" strike="noStrike" dirty="0" smtClean="0">
                <a:solidFill>
                  <a:srgbClr val="229BEE"/>
                </a:solidFill>
                <a:latin typeface="+mn-ea"/>
              </a:rPr>
              <a:t>４</a:t>
            </a:r>
            <a:endParaRPr lang="en-US" sz="2500" b="0" i="0" u="none" strike="noStrike" dirty="0">
              <a:solidFill>
                <a:srgbClr val="229BEE"/>
              </a:solidFill>
              <a:latin typeface="+mn-ea"/>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229BEE"/>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cstate="print"/>
          <a:stretch>
            <a:fillRect/>
          </a:stretch>
        </p:blipFill>
        <p:spPr>
          <a:xfrm>
            <a:off x="292100" y="292100"/>
            <a:ext cx="17716500" cy="9715500"/>
          </a:xfrm>
          <a:prstGeom prst="rect">
            <a:avLst/>
          </a:prstGeom>
        </p:spPr>
      </p:pic>
      <p:pic>
        <p:nvPicPr>
          <p:cNvPr id="4" name="Picture 4"/>
          <p:cNvPicPr>
            <a:picLocks noChangeAspect="1"/>
          </p:cNvPicPr>
          <p:nvPr/>
        </p:nvPicPr>
        <p:blipFill>
          <a:blip r:embed="rId4" cstate="print"/>
          <a:stretch>
            <a:fillRect/>
          </a:stretch>
        </p:blipFill>
        <p:spPr>
          <a:xfrm>
            <a:off x="16611600" y="0"/>
            <a:ext cx="673100" cy="965200"/>
          </a:xfrm>
          <a:prstGeom prst="rect">
            <a:avLst/>
          </a:prstGeom>
        </p:spPr>
      </p:pic>
      <p:pic>
        <p:nvPicPr>
          <p:cNvPr id="9" name="Picture 3"/>
          <p:cNvPicPr>
            <a:picLocks noChangeAspect="1"/>
          </p:cNvPicPr>
          <p:nvPr/>
        </p:nvPicPr>
        <p:blipFill>
          <a:blip r:embed="rId5" cstate="print"/>
          <a:stretch>
            <a:fillRect/>
          </a:stretch>
        </p:blipFill>
        <p:spPr>
          <a:xfrm>
            <a:off x="1003300" y="2171700"/>
            <a:ext cx="16281400" cy="25400"/>
          </a:xfrm>
          <a:prstGeom prst="rect">
            <a:avLst/>
          </a:prstGeom>
        </p:spPr>
      </p:pic>
      <p:sp>
        <p:nvSpPr>
          <p:cNvPr id="80901" name="AutoShape 5" descr="http://127.0.0.1:33853/graphics/99f46ea2-467f-46b7-b885-a67a5fbada85.png"/>
          <p:cNvSpPr>
            <a:spLocks noChangeAspect="1" noChangeArrowheads="1"/>
          </p:cNvSpPr>
          <p:nvPr/>
        </p:nvSpPr>
        <p:spPr bwMode="auto">
          <a:xfrm>
            <a:off x="1682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ko-KR" altLang="en-US"/>
          </a:p>
        </p:txBody>
      </p:sp>
      <p:pic>
        <p:nvPicPr>
          <p:cNvPr id="80902" name="Picture 6"/>
          <p:cNvPicPr>
            <a:picLocks noChangeAspect="1" noChangeArrowheads="1"/>
          </p:cNvPicPr>
          <p:nvPr/>
        </p:nvPicPr>
        <p:blipFill>
          <a:blip r:embed="rId6" cstate="print"/>
          <a:srcRect/>
          <a:stretch>
            <a:fillRect/>
          </a:stretch>
        </p:blipFill>
        <p:spPr bwMode="auto">
          <a:xfrm>
            <a:off x="304800" y="2324100"/>
            <a:ext cx="17602200" cy="7620000"/>
          </a:xfrm>
          <a:prstGeom prst="rect">
            <a:avLst/>
          </a:prstGeom>
          <a:noFill/>
          <a:ln w="9525">
            <a:noFill/>
            <a:miter lim="800000"/>
            <a:headEnd/>
            <a:tailEnd/>
          </a:ln>
          <a:effectLst/>
        </p:spPr>
      </p:pic>
      <p:sp>
        <p:nvSpPr>
          <p:cNvPr id="17" name="직사각형 16"/>
          <p:cNvSpPr/>
          <p:nvPr/>
        </p:nvSpPr>
        <p:spPr>
          <a:xfrm>
            <a:off x="4572000" y="4305300"/>
            <a:ext cx="914400" cy="556260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직사각형 17"/>
          <p:cNvSpPr/>
          <p:nvPr/>
        </p:nvSpPr>
        <p:spPr>
          <a:xfrm>
            <a:off x="10896600" y="6362700"/>
            <a:ext cx="914400" cy="350520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직사각형 18"/>
          <p:cNvSpPr/>
          <p:nvPr/>
        </p:nvSpPr>
        <p:spPr>
          <a:xfrm>
            <a:off x="5562600" y="4229100"/>
            <a:ext cx="4285147" cy="523220"/>
          </a:xfrm>
          <a:prstGeom prst="rect">
            <a:avLst/>
          </a:prstGeom>
        </p:spPr>
        <p:txBody>
          <a:bodyPr wrap="none">
            <a:spAutoFit/>
          </a:bodyPr>
          <a:lstStyle/>
          <a:p>
            <a:r>
              <a:rPr lang="en-US" altLang="ko-KR" sz="2800" b="1" dirty="0" smtClean="0"/>
              <a:t>=&gt;</a:t>
            </a:r>
            <a:r>
              <a:rPr lang="ko-KR" altLang="en-US" sz="2800" b="1" dirty="0" err="1" smtClean="0"/>
              <a:t>군집수</a:t>
            </a:r>
            <a:r>
              <a:rPr lang="ko-KR" altLang="en-US" sz="2800" b="1" dirty="0" smtClean="0"/>
              <a:t> </a:t>
            </a:r>
            <a:r>
              <a:rPr lang="en-US" altLang="ko-KR" sz="2800" b="1" dirty="0" smtClean="0"/>
              <a:t> 4</a:t>
            </a:r>
            <a:r>
              <a:rPr lang="ko-KR" altLang="en-US" sz="2800" b="1" dirty="0" smtClean="0"/>
              <a:t>인 경우만 진행</a:t>
            </a:r>
            <a:endParaRPr lang="ko-KR" altLang="en-US" sz="2800" b="1" dirty="0"/>
          </a:p>
        </p:txBody>
      </p:sp>
      <p:sp>
        <p:nvSpPr>
          <p:cNvPr id="12" name="직사각형 11"/>
          <p:cNvSpPr/>
          <p:nvPr/>
        </p:nvSpPr>
        <p:spPr>
          <a:xfrm>
            <a:off x="13639800" y="2324100"/>
            <a:ext cx="3603872" cy="461665"/>
          </a:xfrm>
          <a:prstGeom prst="rect">
            <a:avLst/>
          </a:prstGeom>
        </p:spPr>
        <p:txBody>
          <a:bodyPr wrap="none">
            <a:spAutoFit/>
          </a:bodyPr>
          <a:lstStyle/>
          <a:p>
            <a:r>
              <a:rPr lang="ko-KR" altLang="en-US" sz="2400" b="1" smtClean="0"/>
              <a:t>실루엣 계수와 </a:t>
            </a:r>
            <a:r>
              <a:rPr lang="en-US" altLang="ko-KR" sz="2400" b="1" dirty="0" smtClean="0"/>
              <a:t>SSE </a:t>
            </a:r>
            <a:r>
              <a:rPr lang="ko-KR" altLang="en-US" sz="2400" b="1" dirty="0" smtClean="0"/>
              <a:t>시각화</a:t>
            </a:r>
            <a:endParaRPr lang="ko-KR" altLang="en-US" sz="2400" b="1" dirty="0"/>
          </a:p>
        </p:txBody>
      </p:sp>
      <p:sp>
        <p:nvSpPr>
          <p:cNvPr id="21" name="TextBox 11"/>
          <p:cNvSpPr txBox="1"/>
          <p:nvPr/>
        </p:nvSpPr>
        <p:spPr>
          <a:xfrm>
            <a:off x="2476500" y="876300"/>
            <a:ext cx="13335000" cy="1409700"/>
          </a:xfrm>
          <a:prstGeom prst="rect">
            <a:avLst/>
          </a:prstGeom>
        </p:spPr>
        <p:txBody>
          <a:bodyPr lIns="0" tIns="0" rIns="0" bIns="0" rtlCol="0" anchor="ctr"/>
          <a:lstStyle/>
          <a:p>
            <a:pPr lvl="0" algn="ctr">
              <a:lnSpc>
                <a:spcPct val="98770"/>
              </a:lnSpc>
            </a:pPr>
            <a:r>
              <a:rPr lang="en-US" altLang="ko-KR" sz="5400" b="0" i="0" u="none" strike="noStrike" dirty="0" smtClean="0">
                <a:solidFill>
                  <a:srgbClr val="4D4D4D"/>
                </a:solidFill>
                <a:latin typeface="Noto Sans KR Medium" pitchFamily="50" charset="-127"/>
                <a:ea typeface="Noto Sans KR Medium" pitchFamily="50" charset="-127"/>
              </a:rPr>
              <a:t>1.</a:t>
            </a:r>
            <a:r>
              <a:rPr lang="ko-KR" altLang="en-US" sz="5400" b="0" i="0" u="none" strike="noStrike" dirty="0" smtClean="0">
                <a:solidFill>
                  <a:srgbClr val="4D4D4D"/>
                </a:solidFill>
                <a:latin typeface="Noto Sans KR Medium" pitchFamily="50" charset="-127"/>
                <a:ea typeface="Noto Sans KR Medium" pitchFamily="50" charset="-127"/>
              </a:rPr>
              <a:t>군집개수 선정</a:t>
            </a:r>
            <a:endParaRPr lang="ko-KR" sz="5400" b="0" i="0" u="none" strike="noStrike" dirty="0">
              <a:solidFill>
                <a:srgbClr val="4D4D4D"/>
              </a:solidFill>
              <a:latin typeface="Noto Sans KR Medium" pitchFamily="50" charset="-127"/>
              <a:ea typeface="Noto Sans KR Medium" pitchFamily="50" charset="-127"/>
            </a:endParaRPr>
          </a:p>
        </p:txBody>
      </p:sp>
      <p:sp>
        <p:nvSpPr>
          <p:cNvPr id="14" name="TextBox 12"/>
          <p:cNvSpPr txBox="1"/>
          <p:nvPr/>
        </p:nvSpPr>
        <p:spPr>
          <a:xfrm>
            <a:off x="7391400" y="660400"/>
            <a:ext cx="3505200" cy="444500"/>
          </a:xfrm>
          <a:prstGeom prst="rect">
            <a:avLst/>
          </a:prstGeom>
        </p:spPr>
        <p:txBody>
          <a:bodyPr lIns="0" tIns="0" rIns="0" bIns="0" rtlCol="0" anchor="ctr"/>
          <a:lstStyle/>
          <a:p>
            <a:pPr lvl="0" algn="ctr">
              <a:lnSpc>
                <a:spcPct val="98770"/>
              </a:lnSpc>
            </a:pPr>
            <a:r>
              <a:rPr lang="en-US" sz="2500" b="0" i="0" u="none" strike="noStrike" dirty="0">
                <a:solidFill>
                  <a:srgbClr val="229BEE"/>
                </a:solidFill>
                <a:latin typeface="+mn-ea"/>
              </a:rPr>
              <a:t>CHAPTER </a:t>
            </a:r>
            <a:r>
              <a:rPr lang="en-US" sz="2500" b="0" i="0" u="none" strike="noStrike" dirty="0" smtClean="0">
                <a:solidFill>
                  <a:srgbClr val="229BEE"/>
                </a:solidFill>
                <a:latin typeface="+mn-ea"/>
              </a:rPr>
              <a:t>0</a:t>
            </a:r>
            <a:r>
              <a:rPr lang="ko-KR" altLang="en-US" sz="2500" b="0" i="0" u="none" strike="noStrike" dirty="0" smtClean="0">
                <a:solidFill>
                  <a:srgbClr val="229BEE"/>
                </a:solidFill>
                <a:latin typeface="+mn-ea"/>
              </a:rPr>
              <a:t>４</a:t>
            </a:r>
            <a:endParaRPr lang="en-US" sz="2500" b="0" i="0" u="none" strike="noStrike" dirty="0">
              <a:solidFill>
                <a:srgbClr val="229BEE"/>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229BEE"/>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cstate="print"/>
          <a:stretch>
            <a:fillRect/>
          </a:stretch>
        </p:blipFill>
        <p:spPr>
          <a:xfrm>
            <a:off x="292100" y="292100"/>
            <a:ext cx="17716500" cy="9715500"/>
          </a:xfrm>
          <a:prstGeom prst="rect">
            <a:avLst/>
          </a:prstGeom>
        </p:spPr>
      </p:pic>
      <p:pic>
        <p:nvPicPr>
          <p:cNvPr id="4" name="Picture 4"/>
          <p:cNvPicPr>
            <a:picLocks noChangeAspect="1"/>
          </p:cNvPicPr>
          <p:nvPr/>
        </p:nvPicPr>
        <p:blipFill>
          <a:blip r:embed="rId3" cstate="print"/>
          <a:stretch>
            <a:fillRect/>
          </a:stretch>
        </p:blipFill>
        <p:spPr>
          <a:xfrm>
            <a:off x="16611600" y="0"/>
            <a:ext cx="673100" cy="965200"/>
          </a:xfrm>
          <a:prstGeom prst="rect">
            <a:avLst/>
          </a:prstGeom>
        </p:spPr>
      </p:pic>
      <p:sp>
        <p:nvSpPr>
          <p:cNvPr id="8" name="TextBox 11"/>
          <p:cNvSpPr txBox="1"/>
          <p:nvPr/>
        </p:nvSpPr>
        <p:spPr>
          <a:xfrm>
            <a:off x="2476500" y="876300"/>
            <a:ext cx="13335000" cy="1409700"/>
          </a:xfrm>
          <a:prstGeom prst="rect">
            <a:avLst/>
          </a:prstGeom>
        </p:spPr>
        <p:txBody>
          <a:bodyPr lIns="0" tIns="0" rIns="0" bIns="0" rtlCol="0" anchor="ctr"/>
          <a:lstStyle/>
          <a:p>
            <a:pPr lvl="0" algn="ctr">
              <a:lnSpc>
                <a:spcPct val="98770"/>
              </a:lnSpc>
            </a:pPr>
            <a:r>
              <a:rPr lang="en-US" altLang="ko-KR" sz="5400" dirty="0" smtClean="0">
                <a:solidFill>
                  <a:srgbClr val="4D4D4D"/>
                </a:solidFill>
                <a:latin typeface="Noto Sans KR Medium" pitchFamily="50" charset="-127"/>
                <a:ea typeface="Noto Sans KR Medium" pitchFamily="50" charset="-127"/>
              </a:rPr>
              <a:t>2.Kmeans</a:t>
            </a:r>
            <a:endParaRPr lang="ko-KR" sz="5400" b="0" i="0" u="none" strike="noStrike" dirty="0">
              <a:solidFill>
                <a:srgbClr val="4D4D4D"/>
              </a:solidFill>
              <a:latin typeface="Noto Sans KR Medium" pitchFamily="50" charset="-127"/>
              <a:ea typeface="Noto Sans KR Medium" pitchFamily="50" charset="-127"/>
            </a:endParaRPr>
          </a:p>
        </p:txBody>
      </p:sp>
      <p:pic>
        <p:nvPicPr>
          <p:cNvPr id="9" name="Picture 3"/>
          <p:cNvPicPr>
            <a:picLocks noChangeAspect="1"/>
          </p:cNvPicPr>
          <p:nvPr/>
        </p:nvPicPr>
        <p:blipFill>
          <a:blip r:embed="rId4" cstate="print"/>
          <a:stretch>
            <a:fillRect/>
          </a:stretch>
        </p:blipFill>
        <p:spPr>
          <a:xfrm>
            <a:off x="1003300" y="2171700"/>
            <a:ext cx="16281400" cy="25400"/>
          </a:xfrm>
          <a:prstGeom prst="rect">
            <a:avLst/>
          </a:prstGeom>
        </p:spPr>
      </p:pic>
      <p:sp>
        <p:nvSpPr>
          <p:cNvPr id="12" name="직사각형 11"/>
          <p:cNvSpPr/>
          <p:nvPr/>
        </p:nvSpPr>
        <p:spPr>
          <a:xfrm>
            <a:off x="990600" y="2552700"/>
            <a:ext cx="4354077" cy="461665"/>
          </a:xfrm>
          <a:prstGeom prst="rect">
            <a:avLst/>
          </a:prstGeom>
        </p:spPr>
        <p:txBody>
          <a:bodyPr wrap="none">
            <a:spAutoFit/>
          </a:bodyPr>
          <a:lstStyle/>
          <a:p>
            <a:r>
              <a:rPr lang="ko-KR" altLang="en-US" sz="2400" b="1" dirty="0" smtClean="0"/>
              <a:t>군집수가 </a:t>
            </a:r>
            <a:r>
              <a:rPr lang="en-US" altLang="ko-KR" sz="2400" b="1" dirty="0" smtClean="0"/>
              <a:t>4</a:t>
            </a:r>
            <a:r>
              <a:rPr lang="ko-KR" altLang="en-US" sz="2400" b="1" dirty="0" smtClean="0"/>
              <a:t>인 경우 </a:t>
            </a:r>
            <a:r>
              <a:rPr lang="en-US" altLang="ko-KR" sz="2400" b="1" dirty="0" err="1" smtClean="0"/>
              <a:t>kmeans</a:t>
            </a:r>
            <a:r>
              <a:rPr lang="en-US" altLang="ko-KR" sz="2400" b="1" dirty="0" smtClean="0"/>
              <a:t> </a:t>
            </a:r>
            <a:r>
              <a:rPr lang="ko-KR" altLang="en-US" sz="2400" b="1" dirty="0" smtClean="0"/>
              <a:t>결과</a:t>
            </a:r>
            <a:endParaRPr lang="ko-KR" altLang="en-US" sz="2400" b="1" dirty="0"/>
          </a:p>
        </p:txBody>
      </p:sp>
      <p:pic>
        <p:nvPicPr>
          <p:cNvPr id="81921" name="Picture 1"/>
          <p:cNvPicPr>
            <a:picLocks noChangeAspect="1" noChangeArrowheads="1"/>
          </p:cNvPicPr>
          <p:nvPr/>
        </p:nvPicPr>
        <p:blipFill>
          <a:blip r:embed="rId5" cstate="print"/>
          <a:srcRect/>
          <a:stretch>
            <a:fillRect/>
          </a:stretch>
        </p:blipFill>
        <p:spPr bwMode="auto">
          <a:xfrm>
            <a:off x="381000" y="4152900"/>
            <a:ext cx="17526000" cy="5791200"/>
          </a:xfrm>
          <a:prstGeom prst="rect">
            <a:avLst/>
          </a:prstGeom>
          <a:noFill/>
          <a:ln w="9525">
            <a:noFill/>
            <a:miter lim="800000"/>
            <a:headEnd/>
            <a:tailEnd/>
          </a:ln>
          <a:effectLst/>
        </p:spPr>
      </p:pic>
      <p:pic>
        <p:nvPicPr>
          <p:cNvPr id="81922" name="Picture 2"/>
          <p:cNvPicPr>
            <a:picLocks noChangeAspect="1" noChangeArrowheads="1"/>
          </p:cNvPicPr>
          <p:nvPr/>
        </p:nvPicPr>
        <p:blipFill>
          <a:blip r:embed="rId6" cstate="print"/>
          <a:srcRect/>
          <a:stretch>
            <a:fillRect/>
          </a:stretch>
        </p:blipFill>
        <p:spPr bwMode="auto">
          <a:xfrm>
            <a:off x="1066800" y="3086100"/>
            <a:ext cx="6123214" cy="914400"/>
          </a:xfrm>
          <a:prstGeom prst="rect">
            <a:avLst/>
          </a:prstGeom>
          <a:noFill/>
          <a:ln w="9525">
            <a:noFill/>
            <a:miter lim="800000"/>
            <a:headEnd/>
            <a:tailEnd/>
          </a:ln>
          <a:effectLst/>
        </p:spPr>
      </p:pic>
      <p:sp>
        <p:nvSpPr>
          <p:cNvPr id="14" name="직사각형 13"/>
          <p:cNvSpPr/>
          <p:nvPr/>
        </p:nvSpPr>
        <p:spPr>
          <a:xfrm>
            <a:off x="2743200" y="4076700"/>
            <a:ext cx="914400" cy="45720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TextBox 14">
            <a:extLst>
              <a:ext uri="{FF2B5EF4-FFF2-40B4-BE49-F238E27FC236}">
                <a16:creationId xmlns="" xmlns:a16="http://schemas.microsoft.com/office/drawing/2014/main" id="{9868D4D3-D354-8A4A-E870-E4A7DA56A02E}"/>
              </a:ext>
            </a:extLst>
          </p:cNvPr>
          <p:cNvSpPr txBox="1"/>
          <p:nvPr/>
        </p:nvSpPr>
        <p:spPr>
          <a:xfrm>
            <a:off x="4114800" y="4305300"/>
            <a:ext cx="8458200" cy="461665"/>
          </a:xfrm>
          <a:prstGeom prst="rect">
            <a:avLst/>
          </a:prstGeom>
          <a:ln w="38100"/>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ko-KR" sz="2400" kern="0" dirty="0" smtClean="0">
                <a:solidFill>
                  <a:srgbClr val="000000"/>
                </a:solidFill>
                <a:latin typeface="+mn-ea"/>
              </a:rPr>
              <a:t>1</a:t>
            </a:r>
            <a:r>
              <a:rPr lang="ko-KR" altLang="en-US" sz="2400" kern="0" dirty="0" smtClean="0">
                <a:solidFill>
                  <a:srgbClr val="000000"/>
                </a:solidFill>
                <a:latin typeface="+mn-ea"/>
              </a:rPr>
              <a:t>번 군집</a:t>
            </a:r>
            <a:r>
              <a:rPr lang="en-US" altLang="ko-KR" sz="2400" kern="0" dirty="0" smtClean="0">
                <a:solidFill>
                  <a:srgbClr val="000000"/>
                </a:solidFill>
                <a:latin typeface="+mn-ea"/>
              </a:rPr>
              <a:t>: 1</a:t>
            </a:r>
            <a:r>
              <a:rPr lang="ko-KR" altLang="en-US" sz="2400" kern="0" dirty="0" smtClean="0">
                <a:solidFill>
                  <a:srgbClr val="000000"/>
                </a:solidFill>
                <a:latin typeface="+mn-ea"/>
              </a:rPr>
              <a:t>개</a:t>
            </a:r>
            <a:r>
              <a:rPr lang="en-US" altLang="ko-KR" sz="2400" kern="0" dirty="0" smtClean="0">
                <a:solidFill>
                  <a:srgbClr val="000000"/>
                </a:solidFill>
                <a:latin typeface="+mn-ea"/>
              </a:rPr>
              <a:t>, 2</a:t>
            </a:r>
            <a:r>
              <a:rPr lang="ko-KR" altLang="en-US" sz="2400" kern="0" dirty="0" smtClean="0">
                <a:solidFill>
                  <a:srgbClr val="000000"/>
                </a:solidFill>
                <a:latin typeface="+mn-ea"/>
              </a:rPr>
              <a:t>번 군집</a:t>
            </a:r>
            <a:r>
              <a:rPr lang="en-US" altLang="ko-KR" sz="2400" kern="0" dirty="0" smtClean="0">
                <a:solidFill>
                  <a:srgbClr val="000000"/>
                </a:solidFill>
                <a:latin typeface="+mn-ea"/>
              </a:rPr>
              <a:t>: 199</a:t>
            </a:r>
            <a:r>
              <a:rPr lang="ko-KR" altLang="en-US" sz="2400" kern="0" dirty="0" smtClean="0">
                <a:solidFill>
                  <a:srgbClr val="000000"/>
                </a:solidFill>
                <a:latin typeface="+mn-ea"/>
              </a:rPr>
              <a:t>개</a:t>
            </a:r>
            <a:r>
              <a:rPr lang="en-US" altLang="ko-KR" sz="2400" kern="0" dirty="0" smtClean="0">
                <a:solidFill>
                  <a:srgbClr val="000000"/>
                </a:solidFill>
                <a:latin typeface="+mn-ea"/>
              </a:rPr>
              <a:t>,3</a:t>
            </a:r>
            <a:r>
              <a:rPr lang="ko-KR" altLang="en-US" sz="2400" kern="0" dirty="0" smtClean="0">
                <a:solidFill>
                  <a:srgbClr val="000000"/>
                </a:solidFill>
                <a:latin typeface="+mn-ea"/>
              </a:rPr>
              <a:t>번 군집</a:t>
            </a:r>
            <a:r>
              <a:rPr lang="en-US" altLang="ko-KR" sz="2400" kern="0" dirty="0" smtClean="0">
                <a:solidFill>
                  <a:srgbClr val="000000"/>
                </a:solidFill>
                <a:latin typeface="+mn-ea"/>
              </a:rPr>
              <a:t>:10</a:t>
            </a:r>
            <a:r>
              <a:rPr lang="ko-KR" altLang="en-US" sz="2400" kern="0" dirty="0" smtClean="0">
                <a:solidFill>
                  <a:srgbClr val="000000"/>
                </a:solidFill>
                <a:latin typeface="+mn-ea"/>
              </a:rPr>
              <a:t>개</a:t>
            </a:r>
            <a:r>
              <a:rPr lang="en-US" altLang="ko-KR" sz="2400" kern="0" dirty="0" smtClean="0">
                <a:solidFill>
                  <a:srgbClr val="000000"/>
                </a:solidFill>
                <a:latin typeface="+mn-ea"/>
              </a:rPr>
              <a:t>,4</a:t>
            </a:r>
            <a:r>
              <a:rPr lang="ko-KR" altLang="en-US" sz="2400" kern="0" dirty="0" smtClean="0">
                <a:solidFill>
                  <a:srgbClr val="000000"/>
                </a:solidFill>
                <a:latin typeface="+mn-ea"/>
              </a:rPr>
              <a:t>번 군집</a:t>
            </a:r>
            <a:r>
              <a:rPr lang="en-US" altLang="ko-KR" sz="2400" kern="0" dirty="0" smtClean="0">
                <a:solidFill>
                  <a:srgbClr val="000000"/>
                </a:solidFill>
                <a:latin typeface="+mn-ea"/>
              </a:rPr>
              <a:t>: 1</a:t>
            </a:r>
            <a:r>
              <a:rPr lang="ko-KR" altLang="en-US" sz="2400" kern="0" dirty="0" smtClean="0">
                <a:solidFill>
                  <a:srgbClr val="000000"/>
                </a:solidFill>
                <a:latin typeface="+mn-ea"/>
              </a:rPr>
              <a:t>개</a:t>
            </a:r>
            <a:endParaRPr lang="en-US" altLang="ko-KR" sz="2200" b="1" dirty="0">
              <a:latin typeface="+mn-ea"/>
            </a:endParaRPr>
          </a:p>
        </p:txBody>
      </p:sp>
      <p:sp>
        <p:nvSpPr>
          <p:cNvPr id="19" name="TextBox 18">
            <a:extLst>
              <a:ext uri="{FF2B5EF4-FFF2-40B4-BE49-F238E27FC236}">
                <a16:creationId xmlns="" xmlns:a16="http://schemas.microsoft.com/office/drawing/2014/main" id="{9868D4D3-D354-8A4A-E870-E4A7DA56A02E}"/>
              </a:ext>
            </a:extLst>
          </p:cNvPr>
          <p:cNvSpPr txBox="1"/>
          <p:nvPr/>
        </p:nvSpPr>
        <p:spPr>
          <a:xfrm>
            <a:off x="2895600" y="9486900"/>
            <a:ext cx="3505200" cy="461665"/>
          </a:xfrm>
          <a:prstGeom prst="rect">
            <a:avLst/>
          </a:prstGeom>
          <a:ln w="38100"/>
        </p:spPr>
        <p:style>
          <a:lnRef idx="2">
            <a:schemeClr val="dk1"/>
          </a:lnRef>
          <a:fillRef idx="1">
            <a:schemeClr val="lt1"/>
          </a:fillRef>
          <a:effectRef idx="0">
            <a:schemeClr val="dk1"/>
          </a:effectRef>
          <a:fontRef idx="minor">
            <a:schemeClr val="dk1"/>
          </a:fontRef>
        </p:style>
        <p:txBody>
          <a:bodyPr wrap="square" rtlCol="0">
            <a:spAutoFit/>
          </a:bodyPr>
          <a:lstStyle/>
          <a:p>
            <a:r>
              <a:rPr lang="ko-KR" altLang="en-US" sz="2400" dirty="0" smtClean="0"/>
              <a:t>군집간 분산비율</a:t>
            </a:r>
            <a:r>
              <a:rPr lang="en-US" altLang="ko-KR" sz="2400" dirty="0" smtClean="0"/>
              <a:t>-&gt; 71.6%</a:t>
            </a:r>
            <a:endParaRPr lang="en-US" altLang="ko-KR" sz="2200" b="1" dirty="0">
              <a:latin typeface="+mn-ea"/>
            </a:endParaRPr>
          </a:p>
        </p:txBody>
      </p:sp>
      <p:sp>
        <p:nvSpPr>
          <p:cNvPr id="20" name="TextBox 12"/>
          <p:cNvSpPr txBox="1"/>
          <p:nvPr/>
        </p:nvSpPr>
        <p:spPr>
          <a:xfrm>
            <a:off x="7391400" y="660400"/>
            <a:ext cx="3505200" cy="444500"/>
          </a:xfrm>
          <a:prstGeom prst="rect">
            <a:avLst/>
          </a:prstGeom>
        </p:spPr>
        <p:txBody>
          <a:bodyPr lIns="0" tIns="0" rIns="0" bIns="0" rtlCol="0" anchor="ctr"/>
          <a:lstStyle/>
          <a:p>
            <a:pPr lvl="0" algn="ctr">
              <a:lnSpc>
                <a:spcPct val="98770"/>
              </a:lnSpc>
            </a:pPr>
            <a:r>
              <a:rPr lang="en-US" sz="2500" b="0" i="0" u="none" strike="noStrike" dirty="0">
                <a:solidFill>
                  <a:srgbClr val="229BEE"/>
                </a:solidFill>
                <a:latin typeface="+mn-ea"/>
              </a:rPr>
              <a:t>CHAPTER </a:t>
            </a:r>
            <a:r>
              <a:rPr lang="en-US" sz="2500" b="0" i="0" u="none" strike="noStrike" dirty="0" smtClean="0">
                <a:solidFill>
                  <a:srgbClr val="229BEE"/>
                </a:solidFill>
                <a:latin typeface="+mn-ea"/>
              </a:rPr>
              <a:t>0</a:t>
            </a:r>
            <a:r>
              <a:rPr lang="ko-KR" altLang="en-US" sz="2500" b="0" i="0" u="none" strike="noStrike" dirty="0" smtClean="0">
                <a:solidFill>
                  <a:srgbClr val="229BEE"/>
                </a:solidFill>
                <a:latin typeface="+mn-ea"/>
              </a:rPr>
              <a:t>４</a:t>
            </a:r>
            <a:endParaRPr lang="en-US" sz="2500" b="0" i="0" u="none" strike="noStrike" dirty="0">
              <a:solidFill>
                <a:srgbClr val="229BEE"/>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229BEE"/>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cstate="print"/>
          <a:stretch>
            <a:fillRect/>
          </a:stretch>
        </p:blipFill>
        <p:spPr>
          <a:xfrm>
            <a:off x="292100" y="292100"/>
            <a:ext cx="17716500" cy="9715500"/>
          </a:xfrm>
          <a:prstGeom prst="rect">
            <a:avLst/>
          </a:prstGeom>
        </p:spPr>
      </p:pic>
      <p:pic>
        <p:nvPicPr>
          <p:cNvPr id="4" name="Picture 4"/>
          <p:cNvPicPr>
            <a:picLocks noChangeAspect="1"/>
          </p:cNvPicPr>
          <p:nvPr/>
        </p:nvPicPr>
        <p:blipFill>
          <a:blip r:embed="rId4" cstate="print"/>
          <a:stretch>
            <a:fillRect/>
          </a:stretch>
        </p:blipFill>
        <p:spPr>
          <a:xfrm>
            <a:off x="16611600" y="0"/>
            <a:ext cx="673100" cy="965200"/>
          </a:xfrm>
          <a:prstGeom prst="rect">
            <a:avLst/>
          </a:prstGeom>
        </p:spPr>
      </p:pic>
      <p:sp>
        <p:nvSpPr>
          <p:cNvPr id="8" name="TextBox 11"/>
          <p:cNvSpPr txBox="1"/>
          <p:nvPr/>
        </p:nvSpPr>
        <p:spPr>
          <a:xfrm>
            <a:off x="2476500" y="876300"/>
            <a:ext cx="13335000" cy="1409700"/>
          </a:xfrm>
          <a:prstGeom prst="rect">
            <a:avLst/>
          </a:prstGeom>
        </p:spPr>
        <p:txBody>
          <a:bodyPr lIns="0" tIns="0" rIns="0" bIns="0" rtlCol="0" anchor="ctr"/>
          <a:lstStyle/>
          <a:p>
            <a:pPr lvl="0" algn="ctr">
              <a:lnSpc>
                <a:spcPct val="98770"/>
              </a:lnSpc>
            </a:pPr>
            <a:r>
              <a:rPr lang="en-US" altLang="ko-KR" sz="5400" dirty="0" smtClean="0">
                <a:solidFill>
                  <a:srgbClr val="4D4D4D"/>
                </a:solidFill>
                <a:latin typeface="Noto Sans KR Medium" pitchFamily="50" charset="-127"/>
                <a:ea typeface="Noto Sans KR Medium" pitchFamily="50" charset="-127"/>
              </a:rPr>
              <a:t>3.</a:t>
            </a:r>
            <a:r>
              <a:rPr lang="ko-KR" altLang="en-US" sz="5400" dirty="0" err="1" smtClean="0">
                <a:solidFill>
                  <a:srgbClr val="4D4D4D"/>
                </a:solidFill>
                <a:latin typeface="Noto Sans KR Medium" pitchFamily="50" charset="-127"/>
                <a:ea typeface="Noto Sans KR Medium" pitchFamily="50" charset="-127"/>
              </a:rPr>
              <a:t>클러스터링</a:t>
            </a:r>
            <a:r>
              <a:rPr lang="ko-KR" altLang="en-US" sz="5400" dirty="0" smtClean="0">
                <a:solidFill>
                  <a:srgbClr val="4D4D4D"/>
                </a:solidFill>
                <a:latin typeface="Noto Sans KR Medium" pitchFamily="50" charset="-127"/>
                <a:ea typeface="Noto Sans KR Medium" pitchFamily="50" charset="-127"/>
              </a:rPr>
              <a:t> 결과 요약표 생성</a:t>
            </a:r>
            <a:endParaRPr lang="ko-KR" sz="5400" b="0" i="0" u="none" strike="noStrike" dirty="0">
              <a:solidFill>
                <a:srgbClr val="4D4D4D"/>
              </a:solidFill>
              <a:latin typeface="Noto Sans KR Medium" pitchFamily="50" charset="-127"/>
              <a:ea typeface="Noto Sans KR Medium" pitchFamily="50" charset="-127"/>
            </a:endParaRPr>
          </a:p>
        </p:txBody>
      </p:sp>
      <p:pic>
        <p:nvPicPr>
          <p:cNvPr id="9" name="Picture 3"/>
          <p:cNvPicPr>
            <a:picLocks noChangeAspect="1"/>
          </p:cNvPicPr>
          <p:nvPr/>
        </p:nvPicPr>
        <p:blipFill>
          <a:blip r:embed="rId5" cstate="print"/>
          <a:stretch>
            <a:fillRect/>
          </a:stretch>
        </p:blipFill>
        <p:spPr>
          <a:xfrm>
            <a:off x="1003300" y="2171700"/>
            <a:ext cx="16281400" cy="25400"/>
          </a:xfrm>
          <a:prstGeom prst="rect">
            <a:avLst/>
          </a:prstGeom>
        </p:spPr>
      </p:pic>
      <p:sp>
        <p:nvSpPr>
          <p:cNvPr id="13" name="TextBox 12">
            <a:extLst>
              <a:ext uri="{FF2B5EF4-FFF2-40B4-BE49-F238E27FC236}">
                <a16:creationId xmlns="" xmlns:a16="http://schemas.microsoft.com/office/drawing/2014/main" id="{DCC5CC8F-9236-20EA-AC75-81CB8AC0164A}"/>
              </a:ext>
            </a:extLst>
          </p:cNvPr>
          <p:cNvSpPr txBox="1"/>
          <p:nvPr/>
        </p:nvSpPr>
        <p:spPr>
          <a:xfrm>
            <a:off x="1066800" y="2410480"/>
            <a:ext cx="11049000" cy="523220"/>
          </a:xfrm>
          <a:prstGeom prst="rect">
            <a:avLst/>
          </a:prstGeom>
          <a:noFill/>
        </p:spPr>
        <p:txBody>
          <a:bodyPr wrap="square" rtlCol="0">
            <a:spAutoFit/>
          </a:bodyPr>
          <a:lstStyle/>
          <a:p>
            <a:r>
              <a:rPr lang="en-US" altLang="ko-KR" sz="2800" dirty="0">
                <a:latin typeface="NanumBarunGothic Light" panose="020B0603020101020101" pitchFamily="34" charset="-127"/>
                <a:ea typeface="NanumBarunGothic Light" panose="020B0603020101020101" pitchFamily="34" charset="-127"/>
              </a:rPr>
              <a:t>(1) PCA </a:t>
            </a:r>
            <a:r>
              <a:rPr lang="ko-KR" altLang="en-US" sz="2800" dirty="0">
                <a:latin typeface="NanumBarunGothic Light" panose="020B0603020101020101" pitchFamily="34" charset="-127"/>
                <a:ea typeface="NanumBarunGothic Light" panose="020B0603020101020101" pitchFamily="34" charset="-127"/>
              </a:rPr>
              <a:t>점수와 </a:t>
            </a:r>
            <a:r>
              <a:rPr lang="en-US" altLang="ko-KR" sz="2800" dirty="0">
                <a:latin typeface="NanumBarunGothic Light" panose="020B0603020101020101" pitchFamily="34" charset="-127"/>
                <a:ea typeface="NanumBarunGothic Light" panose="020B0603020101020101" pitchFamily="34" charset="-127"/>
              </a:rPr>
              <a:t>Cluster </a:t>
            </a:r>
            <a:r>
              <a:rPr lang="ko-KR" altLang="en-US" sz="2800" dirty="0">
                <a:latin typeface="NanumBarunGothic Light" panose="020B0603020101020101" pitchFamily="34" charset="-127"/>
                <a:ea typeface="NanumBarunGothic Light" panose="020B0603020101020101" pitchFamily="34" charset="-127"/>
              </a:rPr>
              <a:t>결과 </a:t>
            </a:r>
            <a:r>
              <a:rPr lang="ko-KR" altLang="en-US" sz="2800" dirty="0" smtClean="0">
                <a:latin typeface="NanumBarunGothic Light" panose="020B0603020101020101" pitchFamily="34" charset="-127"/>
                <a:ea typeface="NanumBarunGothic Light" panose="020B0603020101020101" pitchFamily="34" charset="-127"/>
              </a:rPr>
              <a:t>병합</a:t>
            </a:r>
            <a:endParaRPr lang="en-US" altLang="ko-KR" sz="2800" dirty="0">
              <a:latin typeface="NanumBarunGothic Light" panose="020B0603020101020101" pitchFamily="34" charset="-127"/>
              <a:ea typeface="NanumBarunGothic Light" panose="020B0603020101020101" pitchFamily="34" charset="-127"/>
            </a:endParaRPr>
          </a:p>
        </p:txBody>
      </p:sp>
      <p:sp>
        <p:nvSpPr>
          <p:cNvPr id="14" name="TextBox 13">
            <a:extLst>
              <a:ext uri="{FF2B5EF4-FFF2-40B4-BE49-F238E27FC236}">
                <a16:creationId xmlns="" xmlns:a16="http://schemas.microsoft.com/office/drawing/2014/main" id="{6B6347B5-3E2E-502E-1BED-35445B94ECD0}"/>
              </a:ext>
            </a:extLst>
          </p:cNvPr>
          <p:cNvSpPr txBox="1"/>
          <p:nvPr/>
        </p:nvSpPr>
        <p:spPr>
          <a:xfrm>
            <a:off x="6705600" y="9334500"/>
            <a:ext cx="5103282" cy="461665"/>
          </a:xfrm>
          <a:prstGeom prst="rect">
            <a:avLst/>
          </a:prstGeom>
          <a:noFill/>
        </p:spPr>
        <p:txBody>
          <a:bodyPr wrap="square">
            <a:spAutoFit/>
          </a:bodyPr>
          <a:lstStyle/>
          <a:p>
            <a:pPr algn="r"/>
            <a:r>
              <a:rPr lang="en-US" altLang="ko-KR" sz="2400" dirty="0" smtClean="0">
                <a:latin typeface="NanumBarunGothic Light" panose="020B0603020101020101" pitchFamily="34" charset="-127"/>
                <a:ea typeface="NanumBarunGothic Light" panose="020B0603020101020101" pitchFamily="34" charset="-127"/>
              </a:rPr>
              <a:t>211</a:t>
            </a:r>
            <a:r>
              <a:rPr lang="en-US" altLang="ko-KR" sz="2400" dirty="0" smtClean="0">
                <a:effectLst/>
                <a:latin typeface="NanumBarunGothic Light" panose="020B0603020101020101" pitchFamily="34" charset="-127"/>
                <a:ea typeface="NanumBarunGothic Light" panose="020B0603020101020101" pitchFamily="34" charset="-127"/>
              </a:rPr>
              <a:t> </a:t>
            </a:r>
            <a:r>
              <a:rPr lang="en-US" altLang="ko-KR" sz="2400" dirty="0">
                <a:effectLst/>
                <a:latin typeface="NanumBarunGothic Light" panose="020B0603020101020101" pitchFamily="34" charset="-127"/>
                <a:ea typeface="NanumBarunGothic Light" panose="020B0603020101020101" pitchFamily="34" charset="-127"/>
              </a:rPr>
              <a:t>rows × </a:t>
            </a:r>
            <a:r>
              <a:rPr lang="en-US" altLang="ko-KR" sz="2400" dirty="0" smtClean="0">
                <a:latin typeface="NanumBarunGothic Light" panose="020B0603020101020101" pitchFamily="34" charset="-127"/>
                <a:ea typeface="NanumBarunGothic Light" panose="020B0603020101020101" pitchFamily="34" charset="-127"/>
              </a:rPr>
              <a:t>5</a:t>
            </a:r>
            <a:r>
              <a:rPr lang="en-US" altLang="ko-KR" sz="2400" dirty="0" smtClean="0">
                <a:effectLst/>
                <a:latin typeface="NanumBarunGothic Light" panose="020B0603020101020101" pitchFamily="34" charset="-127"/>
                <a:ea typeface="NanumBarunGothic Light" panose="020B0603020101020101" pitchFamily="34" charset="-127"/>
              </a:rPr>
              <a:t> </a:t>
            </a:r>
            <a:r>
              <a:rPr lang="en-US" altLang="ko-KR" sz="2400" dirty="0">
                <a:effectLst/>
                <a:latin typeface="NanumBarunGothic Light" panose="020B0603020101020101" pitchFamily="34" charset="-127"/>
                <a:ea typeface="NanumBarunGothic Light" panose="020B0603020101020101" pitchFamily="34" charset="-127"/>
              </a:rPr>
              <a:t>columns</a:t>
            </a:r>
            <a:endParaRPr lang="ko-KR" altLang="en-US" sz="2400" dirty="0">
              <a:latin typeface="NanumBarunGothic Light" panose="020B0603020101020101" pitchFamily="34" charset="-127"/>
              <a:ea typeface="NanumBarunGothic Light" panose="020B0603020101020101" pitchFamily="34" charset="-127"/>
            </a:endParaRPr>
          </a:p>
        </p:txBody>
      </p:sp>
      <p:pic>
        <p:nvPicPr>
          <p:cNvPr id="89093" name="Picture 5"/>
          <p:cNvPicPr>
            <a:picLocks noChangeAspect="1" noChangeArrowheads="1"/>
          </p:cNvPicPr>
          <p:nvPr/>
        </p:nvPicPr>
        <p:blipFill>
          <a:blip r:embed="rId6" cstate="print"/>
          <a:srcRect t="15780"/>
          <a:stretch>
            <a:fillRect/>
          </a:stretch>
        </p:blipFill>
        <p:spPr bwMode="auto">
          <a:xfrm>
            <a:off x="990600" y="3086100"/>
            <a:ext cx="10287000" cy="2362200"/>
          </a:xfrm>
          <a:prstGeom prst="rect">
            <a:avLst/>
          </a:prstGeom>
          <a:noFill/>
          <a:ln w="9525">
            <a:noFill/>
            <a:miter lim="800000"/>
            <a:headEnd/>
            <a:tailEnd/>
          </a:ln>
          <a:effectLst/>
        </p:spPr>
      </p:pic>
      <p:pic>
        <p:nvPicPr>
          <p:cNvPr id="89094" name="Picture 6"/>
          <p:cNvPicPr>
            <a:picLocks noChangeAspect="1" noChangeArrowheads="1"/>
          </p:cNvPicPr>
          <p:nvPr/>
        </p:nvPicPr>
        <p:blipFill>
          <a:blip r:embed="rId7" cstate="print"/>
          <a:srcRect/>
          <a:stretch>
            <a:fillRect/>
          </a:stretch>
        </p:blipFill>
        <p:spPr bwMode="auto">
          <a:xfrm>
            <a:off x="11887200" y="2247900"/>
            <a:ext cx="5486400" cy="7696200"/>
          </a:xfrm>
          <a:prstGeom prst="rect">
            <a:avLst/>
          </a:prstGeom>
          <a:noFill/>
          <a:ln w="9525">
            <a:noFill/>
            <a:miter lim="800000"/>
            <a:headEnd/>
            <a:tailEnd/>
          </a:ln>
          <a:effectLst/>
        </p:spPr>
      </p:pic>
      <p:sp>
        <p:nvSpPr>
          <p:cNvPr id="16" name="TextBox 15">
            <a:extLst>
              <a:ext uri="{FF2B5EF4-FFF2-40B4-BE49-F238E27FC236}">
                <a16:creationId xmlns="" xmlns:a16="http://schemas.microsoft.com/office/drawing/2014/main" id="{DCC5CC8F-9236-20EA-AC75-81CB8AC0164A}"/>
              </a:ext>
            </a:extLst>
          </p:cNvPr>
          <p:cNvSpPr txBox="1"/>
          <p:nvPr/>
        </p:nvSpPr>
        <p:spPr>
          <a:xfrm>
            <a:off x="1066800" y="5905500"/>
            <a:ext cx="9448800" cy="523220"/>
          </a:xfrm>
          <a:prstGeom prst="rect">
            <a:avLst/>
          </a:prstGeom>
          <a:noFill/>
        </p:spPr>
        <p:txBody>
          <a:bodyPr wrap="square" rtlCol="0">
            <a:spAutoFit/>
          </a:bodyPr>
          <a:lstStyle/>
          <a:p>
            <a:r>
              <a:rPr lang="en-US" altLang="ko-KR" sz="2800" dirty="0" smtClean="0">
                <a:latin typeface="NanumBarunGothic Light" panose="020B0603020101020101" pitchFamily="34" charset="-127"/>
                <a:ea typeface="NanumBarunGothic Light" panose="020B0603020101020101" pitchFamily="34" charset="-127"/>
              </a:rPr>
              <a:t>(</a:t>
            </a:r>
            <a:r>
              <a:rPr lang="en-US" altLang="ko-KR" sz="2800" dirty="0">
                <a:latin typeface="NanumBarunGothic Light" panose="020B0603020101020101" pitchFamily="34" charset="-127"/>
                <a:ea typeface="NanumBarunGothic Light" panose="020B0603020101020101" pitchFamily="34" charset="-127"/>
              </a:rPr>
              <a:t>2) Cluster</a:t>
            </a:r>
            <a:r>
              <a:rPr lang="ko-KR" altLang="en-US" sz="2800" dirty="0">
                <a:latin typeface="NanumBarunGothic Light" panose="020B0603020101020101" pitchFamily="34" charset="-127"/>
                <a:ea typeface="NanumBarunGothic Light" panose="020B0603020101020101" pitchFamily="34" charset="-127"/>
              </a:rPr>
              <a:t>별 주성분 점수 평균</a:t>
            </a:r>
            <a:r>
              <a:rPr lang="en-US" altLang="ko-KR" sz="2800" dirty="0">
                <a:latin typeface="NanumBarunGothic Light" panose="020B0603020101020101" pitchFamily="34" charset="-127"/>
                <a:ea typeface="NanumBarunGothic Light" panose="020B0603020101020101" pitchFamily="34" charset="-127"/>
              </a:rPr>
              <a:t>,</a:t>
            </a:r>
            <a:r>
              <a:rPr lang="ko-KR" altLang="en-US" sz="2800" dirty="0">
                <a:latin typeface="NanumBarunGothic Light" panose="020B0603020101020101" pitchFamily="34" charset="-127"/>
                <a:ea typeface="NanumBarunGothic Light" panose="020B0603020101020101" pitchFamily="34" charset="-127"/>
              </a:rPr>
              <a:t> 국가 목록 등 </a:t>
            </a:r>
            <a:r>
              <a:rPr lang="ko-KR" altLang="en-US" sz="2800" dirty="0" smtClean="0">
                <a:latin typeface="NanumBarunGothic Light" panose="020B0603020101020101" pitchFamily="34" charset="-127"/>
                <a:ea typeface="NanumBarunGothic Light" panose="020B0603020101020101" pitchFamily="34" charset="-127"/>
              </a:rPr>
              <a:t>요약표</a:t>
            </a:r>
            <a:r>
              <a:rPr lang="en-US" altLang="ko-KR" sz="2800" dirty="0" smtClean="0">
                <a:latin typeface="NanumBarunGothic Light" panose="020B0603020101020101" pitchFamily="34" charset="-127"/>
                <a:ea typeface="NanumBarunGothic Light" panose="020B0603020101020101" pitchFamily="34" charset="-127"/>
              </a:rPr>
              <a:t> </a:t>
            </a:r>
            <a:r>
              <a:rPr lang="ko-KR" altLang="en-US" sz="2800" dirty="0">
                <a:latin typeface="NanumBarunGothic Light" panose="020B0603020101020101" pitchFamily="34" charset="-127"/>
                <a:ea typeface="NanumBarunGothic Light" panose="020B0603020101020101" pitchFamily="34" charset="-127"/>
              </a:rPr>
              <a:t>생성</a:t>
            </a:r>
            <a:endParaRPr lang="en-US" altLang="ko-KR" sz="2800" dirty="0">
              <a:latin typeface="NanumBarunGothic Light" panose="020B0603020101020101" pitchFamily="34" charset="-127"/>
              <a:ea typeface="NanumBarunGothic Light" panose="020B0603020101020101" pitchFamily="34" charset="-127"/>
            </a:endParaRPr>
          </a:p>
        </p:txBody>
      </p:sp>
      <p:pic>
        <p:nvPicPr>
          <p:cNvPr id="17" name="Picture 5"/>
          <p:cNvPicPr>
            <a:picLocks noChangeAspect="1" noChangeArrowheads="1"/>
          </p:cNvPicPr>
          <p:nvPr/>
        </p:nvPicPr>
        <p:blipFill>
          <a:blip r:embed="rId8" cstate="print"/>
          <a:srcRect r="-214" b="14286"/>
          <a:stretch>
            <a:fillRect/>
          </a:stretch>
        </p:blipFill>
        <p:spPr bwMode="auto">
          <a:xfrm>
            <a:off x="1143000" y="6667500"/>
            <a:ext cx="8534400" cy="1828800"/>
          </a:xfrm>
          <a:prstGeom prst="rect">
            <a:avLst/>
          </a:prstGeom>
          <a:noFill/>
          <a:ln w="9525">
            <a:noFill/>
            <a:miter lim="800000"/>
            <a:headEnd/>
            <a:tailEnd/>
          </a:ln>
          <a:effectLst/>
        </p:spPr>
      </p:pic>
      <p:sp>
        <p:nvSpPr>
          <p:cNvPr id="15" name="TextBox 12"/>
          <p:cNvSpPr txBox="1"/>
          <p:nvPr/>
        </p:nvSpPr>
        <p:spPr>
          <a:xfrm>
            <a:off x="7391400" y="660400"/>
            <a:ext cx="3505200" cy="444500"/>
          </a:xfrm>
          <a:prstGeom prst="rect">
            <a:avLst/>
          </a:prstGeom>
        </p:spPr>
        <p:txBody>
          <a:bodyPr lIns="0" tIns="0" rIns="0" bIns="0" rtlCol="0" anchor="ctr"/>
          <a:lstStyle/>
          <a:p>
            <a:pPr lvl="0" algn="ctr">
              <a:lnSpc>
                <a:spcPct val="98770"/>
              </a:lnSpc>
            </a:pPr>
            <a:r>
              <a:rPr lang="en-US" sz="2500" b="0" i="0" u="none" strike="noStrike" dirty="0">
                <a:solidFill>
                  <a:srgbClr val="229BEE"/>
                </a:solidFill>
                <a:latin typeface="+mn-ea"/>
              </a:rPr>
              <a:t>CHAPTER </a:t>
            </a:r>
            <a:r>
              <a:rPr lang="en-US" sz="2500" b="0" i="0" u="none" strike="noStrike" dirty="0" smtClean="0">
                <a:solidFill>
                  <a:srgbClr val="229BEE"/>
                </a:solidFill>
                <a:latin typeface="+mn-ea"/>
              </a:rPr>
              <a:t>0</a:t>
            </a:r>
            <a:r>
              <a:rPr lang="ko-KR" altLang="en-US" sz="2500" b="0" i="0" u="none" strike="noStrike" dirty="0" smtClean="0">
                <a:solidFill>
                  <a:srgbClr val="229BEE"/>
                </a:solidFill>
                <a:latin typeface="+mn-ea"/>
              </a:rPr>
              <a:t>４</a:t>
            </a:r>
            <a:endParaRPr lang="en-US" sz="2500" b="0" i="0" u="none" strike="noStrike" dirty="0">
              <a:solidFill>
                <a:srgbClr val="229BEE"/>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229BEE"/>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cstate="print"/>
          <a:stretch>
            <a:fillRect/>
          </a:stretch>
        </p:blipFill>
        <p:spPr>
          <a:xfrm>
            <a:off x="292100" y="292100"/>
            <a:ext cx="17716500" cy="9715500"/>
          </a:xfrm>
          <a:prstGeom prst="rect">
            <a:avLst/>
          </a:prstGeom>
        </p:spPr>
      </p:pic>
      <p:pic>
        <p:nvPicPr>
          <p:cNvPr id="3" name="Picture 3"/>
          <p:cNvPicPr>
            <a:picLocks noChangeAspect="1"/>
          </p:cNvPicPr>
          <p:nvPr/>
        </p:nvPicPr>
        <p:blipFill>
          <a:blip r:embed="rId3" cstate="print">
            <a:alphaModFix amt="30000"/>
          </a:blip>
          <a:stretch>
            <a:fillRect/>
          </a:stretch>
        </p:blipFill>
        <p:spPr>
          <a:xfrm>
            <a:off x="1498600" y="8331200"/>
            <a:ext cx="6045200" cy="25400"/>
          </a:xfrm>
          <a:prstGeom prst="rect">
            <a:avLst/>
          </a:prstGeom>
        </p:spPr>
      </p:pic>
      <p:pic>
        <p:nvPicPr>
          <p:cNvPr id="4" name="Picture 4"/>
          <p:cNvPicPr>
            <a:picLocks noChangeAspect="1"/>
          </p:cNvPicPr>
          <p:nvPr/>
        </p:nvPicPr>
        <p:blipFill>
          <a:blip r:embed="rId4" cstate="print"/>
          <a:stretch>
            <a:fillRect/>
          </a:stretch>
        </p:blipFill>
        <p:spPr>
          <a:xfrm>
            <a:off x="16611600" y="0"/>
            <a:ext cx="673100" cy="965200"/>
          </a:xfrm>
          <a:prstGeom prst="rect">
            <a:avLst/>
          </a:prstGeom>
        </p:spPr>
      </p:pic>
      <p:sp>
        <p:nvSpPr>
          <p:cNvPr id="5" name="TextBox 5"/>
          <p:cNvSpPr txBox="1"/>
          <p:nvPr/>
        </p:nvSpPr>
        <p:spPr>
          <a:xfrm>
            <a:off x="1333500" y="3708400"/>
            <a:ext cx="8293100" cy="3378200"/>
          </a:xfrm>
          <a:prstGeom prst="rect">
            <a:avLst/>
          </a:prstGeom>
        </p:spPr>
        <p:txBody>
          <a:bodyPr lIns="0" tIns="0" rIns="0" bIns="0" rtlCol="0" anchor="ctr"/>
          <a:lstStyle/>
          <a:p>
            <a:pPr lvl="0" algn="l">
              <a:lnSpc>
                <a:spcPct val="115287"/>
              </a:lnSpc>
            </a:pPr>
            <a:r>
              <a:rPr lang="en-US" sz="19000" b="0" i="0" u="none" strike="noStrike" dirty="0" smtClean="0">
                <a:solidFill>
                  <a:srgbClr val="229BEE"/>
                </a:solidFill>
                <a:latin typeface="+mn-ea"/>
              </a:rPr>
              <a:t>0</a:t>
            </a:r>
            <a:r>
              <a:rPr lang="ko-KR" altLang="en-US" sz="19000" dirty="0" smtClean="0">
                <a:solidFill>
                  <a:srgbClr val="229BEE"/>
                </a:solidFill>
                <a:latin typeface="+mn-ea"/>
              </a:rPr>
              <a:t>５</a:t>
            </a:r>
            <a:endParaRPr lang="en-US" sz="19000" b="0" i="0" u="none" strike="noStrike" dirty="0">
              <a:solidFill>
                <a:srgbClr val="229BEE"/>
              </a:solidFill>
              <a:latin typeface="+mn-ea"/>
            </a:endParaRPr>
          </a:p>
        </p:txBody>
      </p:sp>
      <p:sp>
        <p:nvSpPr>
          <p:cNvPr id="6" name="TextBox 6"/>
          <p:cNvSpPr txBox="1"/>
          <p:nvPr/>
        </p:nvSpPr>
        <p:spPr>
          <a:xfrm>
            <a:off x="1498600" y="6667500"/>
            <a:ext cx="9080500" cy="1498600"/>
          </a:xfrm>
          <a:prstGeom prst="rect">
            <a:avLst/>
          </a:prstGeom>
        </p:spPr>
        <p:txBody>
          <a:bodyPr lIns="0" tIns="0" rIns="0" bIns="0" rtlCol="0" anchor="ctr"/>
          <a:lstStyle/>
          <a:p>
            <a:pPr lvl="0" algn="l">
              <a:lnSpc>
                <a:spcPct val="115287"/>
              </a:lnSpc>
            </a:pPr>
            <a:r>
              <a:rPr lang="ko-KR" altLang="en-US" sz="8400" b="0" i="0" u="none" strike="noStrike" dirty="0" smtClean="0">
                <a:solidFill>
                  <a:srgbClr val="4D4D4D"/>
                </a:solidFill>
                <a:latin typeface="Noto Sans KR Medium" pitchFamily="50" charset="-127"/>
                <a:ea typeface="Noto Sans KR Medium" pitchFamily="50" charset="-127"/>
              </a:rPr>
              <a:t>결과</a:t>
            </a:r>
            <a:endParaRPr lang="ko-KR" sz="8400" b="0" i="0" u="none" strike="noStrike" dirty="0">
              <a:solidFill>
                <a:srgbClr val="4D4D4D"/>
              </a:solidFill>
              <a:latin typeface="Noto Sans KR Medium" pitchFamily="50" charset="-127"/>
              <a:ea typeface="Noto Sans KR Medium" pitchFamily="50" charset="-127"/>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229BEE"/>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cstate="print"/>
          <a:stretch>
            <a:fillRect/>
          </a:stretch>
        </p:blipFill>
        <p:spPr>
          <a:xfrm>
            <a:off x="292100" y="292100"/>
            <a:ext cx="17716500" cy="9715500"/>
          </a:xfrm>
          <a:prstGeom prst="rect">
            <a:avLst/>
          </a:prstGeom>
        </p:spPr>
      </p:pic>
      <p:pic>
        <p:nvPicPr>
          <p:cNvPr id="4" name="Picture 4"/>
          <p:cNvPicPr>
            <a:picLocks noChangeAspect="1"/>
          </p:cNvPicPr>
          <p:nvPr/>
        </p:nvPicPr>
        <p:blipFill>
          <a:blip r:embed="rId4" cstate="print"/>
          <a:stretch>
            <a:fillRect/>
          </a:stretch>
        </p:blipFill>
        <p:spPr>
          <a:xfrm>
            <a:off x="16611600" y="0"/>
            <a:ext cx="673100" cy="965200"/>
          </a:xfrm>
          <a:prstGeom prst="rect">
            <a:avLst/>
          </a:prstGeom>
        </p:spPr>
      </p:pic>
      <p:graphicFrame>
        <p:nvGraphicFramePr>
          <p:cNvPr id="10" name="표 9"/>
          <p:cNvGraphicFramePr>
            <a:graphicFrameLocks noGrp="1"/>
          </p:cNvGraphicFramePr>
          <p:nvPr/>
        </p:nvGraphicFramePr>
        <p:xfrm>
          <a:off x="381000" y="342900"/>
          <a:ext cx="17602201" cy="9557412"/>
        </p:xfrm>
        <a:graphic>
          <a:graphicData uri="http://schemas.openxmlformats.org/drawingml/2006/table">
            <a:tbl>
              <a:tblPr firstRow="1" bandRow="1">
                <a:tableStyleId>{5C22544A-7EE6-4342-B048-85BDC9FD1C3A}</a:tableStyleId>
              </a:tblPr>
              <a:tblGrid>
                <a:gridCol w="700973"/>
                <a:gridCol w="934630"/>
                <a:gridCol w="1479831"/>
                <a:gridCol w="1557717"/>
                <a:gridCol w="1324060"/>
                <a:gridCol w="11604990"/>
              </a:tblGrid>
              <a:tr h="304800">
                <a:tc>
                  <a:txBody>
                    <a:bodyPr/>
                    <a:lstStyle/>
                    <a:p>
                      <a:pPr algn="ctr" latinLnBrk="1"/>
                      <a:r>
                        <a:rPr lang="en-US" altLang="ko-KR" sz="1800" dirty="0" smtClean="0"/>
                        <a:t>/</a:t>
                      </a:r>
                      <a:endParaRPr lang="ko-KR" altLang="en-US" sz="1800" dirty="0"/>
                    </a:p>
                  </a:txBody>
                  <a:tcPr/>
                </a:tc>
                <a:tc>
                  <a:txBody>
                    <a:bodyPr/>
                    <a:lstStyle/>
                    <a:p>
                      <a:pPr algn="ctr" fontAlgn="ctr"/>
                      <a:r>
                        <a:rPr lang="en-US" sz="1800" b="1" i="0" u="none" strike="noStrike" dirty="0">
                          <a:solidFill>
                            <a:srgbClr val="FFFFFF"/>
                          </a:solidFill>
                          <a:latin typeface="Segoe UI"/>
                        </a:rPr>
                        <a:t>Cluster</a:t>
                      </a:r>
                    </a:p>
                  </a:txBody>
                  <a:tcPr marL="9525" marR="9525" marT="9525" marB="0" anchor="ctr"/>
                </a:tc>
                <a:tc>
                  <a:txBody>
                    <a:bodyPr/>
                    <a:lstStyle/>
                    <a:p>
                      <a:pPr algn="ctr" fontAlgn="ctr"/>
                      <a:endParaRPr lang="en-US" sz="1800" b="1" i="0" u="none" strike="noStrike" dirty="0">
                        <a:solidFill>
                          <a:srgbClr val="FFFFFF"/>
                        </a:solidFill>
                        <a:latin typeface="Segoe UI"/>
                      </a:endParaRPr>
                    </a:p>
                    <a:p>
                      <a:pPr algn="ctr" fontAlgn="ctr"/>
                      <a:r>
                        <a:rPr lang="en-US" sz="1800" b="1" i="0" u="none" strike="noStrike" dirty="0">
                          <a:solidFill>
                            <a:srgbClr val="FFFFFF"/>
                          </a:solidFill>
                          <a:latin typeface="Segoe UI"/>
                        </a:rPr>
                        <a:t>mean_PC1</a:t>
                      </a:r>
                    </a:p>
                  </a:txBody>
                  <a:tcPr marL="9525" marR="9525" marT="9525" marB="0" anchor="ctr"/>
                </a:tc>
                <a:tc>
                  <a:txBody>
                    <a:bodyPr/>
                    <a:lstStyle/>
                    <a:p>
                      <a:pPr algn="ctr" fontAlgn="ctr"/>
                      <a:endParaRPr lang="en-US" sz="1800" b="1" i="0" u="none" strike="noStrike" dirty="0">
                        <a:solidFill>
                          <a:srgbClr val="FFFFFF"/>
                        </a:solidFill>
                        <a:latin typeface="Segoe UI"/>
                      </a:endParaRPr>
                    </a:p>
                    <a:p>
                      <a:pPr algn="ctr" fontAlgn="ctr"/>
                      <a:r>
                        <a:rPr lang="en-US" sz="1800" b="1" i="0" u="none" strike="noStrike" dirty="0">
                          <a:solidFill>
                            <a:srgbClr val="FFFFFF"/>
                          </a:solidFill>
                          <a:latin typeface="Segoe UI"/>
                        </a:rPr>
                        <a:t>mean_PC2</a:t>
                      </a:r>
                    </a:p>
                  </a:txBody>
                  <a:tcPr marL="9525" marR="9525" marT="9525" marB="0" anchor="ctr"/>
                </a:tc>
                <a:tc>
                  <a:txBody>
                    <a:bodyPr/>
                    <a:lstStyle/>
                    <a:p>
                      <a:pPr algn="ctr" fontAlgn="ctr"/>
                      <a:endParaRPr lang="en-US" sz="1800" b="1" i="0" u="none" strike="noStrike" dirty="0">
                        <a:solidFill>
                          <a:srgbClr val="FFFFFF"/>
                        </a:solidFill>
                        <a:latin typeface="Segoe UI"/>
                      </a:endParaRPr>
                    </a:p>
                    <a:p>
                      <a:pPr algn="ctr" fontAlgn="ctr"/>
                      <a:r>
                        <a:rPr lang="en-US" sz="1800" b="1" i="0" u="none" strike="noStrike" dirty="0">
                          <a:solidFill>
                            <a:srgbClr val="FFFFFF"/>
                          </a:solidFill>
                          <a:latin typeface="Segoe UI"/>
                        </a:rPr>
                        <a:t>mean_PC3</a:t>
                      </a:r>
                    </a:p>
                  </a:txBody>
                  <a:tcPr marL="9525" marR="9525" marT="9525" marB="0" anchor="ctr"/>
                </a:tc>
                <a:tc>
                  <a:txBody>
                    <a:bodyPr/>
                    <a:lstStyle/>
                    <a:p>
                      <a:pPr algn="ctr" fontAlgn="ctr"/>
                      <a:endParaRPr lang="en-US" sz="1800" b="1" i="0" u="none" strike="noStrike" dirty="0">
                        <a:solidFill>
                          <a:srgbClr val="FFFFFF"/>
                        </a:solidFill>
                        <a:latin typeface="Segoe UI"/>
                      </a:endParaRPr>
                    </a:p>
                    <a:p>
                      <a:pPr algn="ctr" fontAlgn="ctr"/>
                      <a:r>
                        <a:rPr lang="en-US" sz="1800" b="1" i="0" u="none" strike="noStrike" dirty="0">
                          <a:solidFill>
                            <a:srgbClr val="FFFFFF"/>
                          </a:solidFill>
                          <a:latin typeface="Segoe UI"/>
                        </a:rPr>
                        <a:t>Countries </a:t>
                      </a:r>
                    </a:p>
                  </a:txBody>
                  <a:tcPr marL="9525" marR="9525" marT="9525" marB="0" anchor="ctr"/>
                </a:tc>
              </a:tr>
              <a:tr h="523875">
                <a:tc>
                  <a:txBody>
                    <a:bodyPr/>
                    <a:lstStyle/>
                    <a:p>
                      <a:pPr algn="ctr" fontAlgn="ctr"/>
                      <a:r>
                        <a:rPr lang="en-US" altLang="ko-KR" sz="1800" b="0" i="0" u="none" strike="noStrike" dirty="0">
                          <a:solidFill>
                            <a:schemeClr val="tx1"/>
                          </a:solidFill>
                          <a:latin typeface="Segoe UI"/>
                        </a:rPr>
                        <a:t>1</a:t>
                      </a:r>
                    </a:p>
                  </a:txBody>
                  <a:tcPr marL="9525" marR="9525" marT="9525" marB="0" anchor="ctr"/>
                </a:tc>
                <a:tc>
                  <a:txBody>
                    <a:bodyPr/>
                    <a:lstStyle/>
                    <a:p>
                      <a:pPr algn="ctr" fontAlgn="ctr"/>
                      <a:r>
                        <a:rPr lang="en-US" altLang="ko-KR" sz="1800" b="0" i="0" u="none" strike="noStrike" dirty="0">
                          <a:solidFill>
                            <a:schemeClr val="tx1"/>
                          </a:solidFill>
                          <a:latin typeface="Segoe UI"/>
                        </a:rPr>
                        <a:t>1</a:t>
                      </a:r>
                    </a:p>
                  </a:txBody>
                  <a:tcPr marL="9525" marR="9525" marT="9525" marB="0" anchor="ctr"/>
                </a:tc>
                <a:tc>
                  <a:txBody>
                    <a:bodyPr/>
                    <a:lstStyle/>
                    <a:p>
                      <a:pPr algn="ctr" fontAlgn="ctr"/>
                      <a:r>
                        <a:rPr lang="en-US" altLang="ko-KR" sz="1800" b="0" i="0" u="none" strike="noStrike">
                          <a:solidFill>
                            <a:schemeClr val="tx1"/>
                          </a:solidFill>
                          <a:latin typeface="Segoe UI"/>
                        </a:rPr>
                        <a:t>41.4501732</a:t>
                      </a:r>
                    </a:p>
                  </a:txBody>
                  <a:tcPr marL="9525" marR="9525" marT="9525" marB="0" anchor="ctr"/>
                </a:tc>
                <a:tc>
                  <a:txBody>
                    <a:bodyPr/>
                    <a:lstStyle/>
                    <a:p>
                      <a:pPr algn="ctr" fontAlgn="ctr"/>
                      <a:r>
                        <a:rPr lang="en-US" altLang="ko-KR" sz="1800" b="0" i="0" u="none" strike="noStrike">
                          <a:solidFill>
                            <a:schemeClr val="tx1"/>
                          </a:solidFill>
                          <a:latin typeface="Segoe UI"/>
                        </a:rPr>
                        <a:t>5.280145</a:t>
                      </a:r>
                    </a:p>
                  </a:txBody>
                  <a:tcPr marL="9525" marR="9525" marT="9525" marB="0" anchor="ctr"/>
                </a:tc>
                <a:tc>
                  <a:txBody>
                    <a:bodyPr/>
                    <a:lstStyle/>
                    <a:p>
                      <a:pPr algn="ctr" fontAlgn="ctr"/>
                      <a:r>
                        <a:rPr lang="en-US" altLang="ko-KR" sz="1800" b="0" i="0" u="none" strike="noStrike">
                          <a:solidFill>
                            <a:schemeClr val="tx1"/>
                          </a:solidFill>
                          <a:latin typeface="Segoe UI"/>
                        </a:rPr>
                        <a:t>1.89190904</a:t>
                      </a:r>
                    </a:p>
                  </a:txBody>
                  <a:tcPr marL="9525" marR="9525" marT="9525" marB="0" anchor="ctr"/>
                </a:tc>
                <a:tc>
                  <a:txBody>
                    <a:bodyPr/>
                    <a:lstStyle/>
                    <a:p>
                      <a:pPr algn="ctr" fontAlgn="ctr"/>
                      <a:r>
                        <a:rPr lang="en-US" sz="1800" b="0" i="0" u="none" strike="noStrike" dirty="0">
                          <a:solidFill>
                            <a:schemeClr val="tx1"/>
                          </a:solidFill>
                          <a:latin typeface="Segoe UI"/>
                        </a:rPr>
                        <a:t>China</a:t>
                      </a:r>
                    </a:p>
                  </a:txBody>
                  <a:tcPr marL="9525" marR="9525" marT="9525" marB="0" anchor="ctr"/>
                </a:tc>
              </a:tr>
              <a:tr h="7319694">
                <a:tc>
                  <a:txBody>
                    <a:bodyPr/>
                    <a:lstStyle/>
                    <a:p>
                      <a:pPr algn="ctr" fontAlgn="ctr"/>
                      <a:r>
                        <a:rPr lang="en-US" altLang="ko-KR" sz="1800" b="0" i="0" u="none" strike="noStrike" dirty="0">
                          <a:solidFill>
                            <a:schemeClr val="tx1"/>
                          </a:solidFill>
                          <a:latin typeface="Segoe UI"/>
                        </a:rPr>
                        <a:t>2</a:t>
                      </a:r>
                    </a:p>
                  </a:txBody>
                  <a:tcPr marL="9525" marR="9525" marT="9525" marB="0" anchor="ctr"/>
                </a:tc>
                <a:tc>
                  <a:txBody>
                    <a:bodyPr/>
                    <a:lstStyle/>
                    <a:p>
                      <a:pPr algn="ctr" fontAlgn="ctr"/>
                      <a:r>
                        <a:rPr lang="en-US" altLang="ko-KR" sz="1800" b="0" i="0" u="none" strike="noStrike" dirty="0">
                          <a:solidFill>
                            <a:schemeClr val="tx1"/>
                          </a:solidFill>
                          <a:latin typeface="Segoe UI"/>
                        </a:rPr>
                        <a:t>2</a:t>
                      </a:r>
                    </a:p>
                  </a:txBody>
                  <a:tcPr marL="9525" marR="9525" marT="9525" marB="0" anchor="ctr"/>
                </a:tc>
                <a:tc>
                  <a:txBody>
                    <a:bodyPr/>
                    <a:lstStyle/>
                    <a:p>
                      <a:pPr algn="ctr" fontAlgn="ctr"/>
                      <a:r>
                        <a:rPr lang="en-US" altLang="ko-KR" sz="1800" b="0" i="0" u="none" strike="noStrike" dirty="0">
                          <a:solidFill>
                            <a:schemeClr val="tx1"/>
                          </a:solidFill>
                          <a:latin typeface="Segoe UI"/>
                        </a:rPr>
                        <a:t>-0.4008889</a:t>
                      </a:r>
                    </a:p>
                  </a:txBody>
                  <a:tcPr marL="9525" marR="9525" marT="9525" marB="0" anchor="ctr"/>
                </a:tc>
                <a:tc>
                  <a:txBody>
                    <a:bodyPr/>
                    <a:lstStyle/>
                    <a:p>
                      <a:pPr algn="ctr" fontAlgn="ctr"/>
                      <a:r>
                        <a:rPr lang="en-US" altLang="ko-KR" sz="1800" b="0" i="0" u="none" strike="noStrike" dirty="0">
                          <a:solidFill>
                            <a:schemeClr val="tx1"/>
                          </a:solidFill>
                          <a:latin typeface="Segoe UI"/>
                        </a:rPr>
                        <a:t>0.1848534</a:t>
                      </a:r>
                    </a:p>
                  </a:txBody>
                  <a:tcPr marL="9525" marR="9525" marT="9525" marB="0" anchor="ctr"/>
                </a:tc>
                <a:tc>
                  <a:txBody>
                    <a:bodyPr/>
                    <a:lstStyle/>
                    <a:p>
                      <a:pPr algn="ctr" fontAlgn="ctr"/>
                      <a:r>
                        <a:rPr lang="en-US" altLang="ko-KR" sz="1800" b="0" i="0" u="none" strike="noStrike" dirty="0">
                          <a:solidFill>
                            <a:schemeClr val="tx1"/>
                          </a:solidFill>
                          <a:latin typeface="Segoe UI"/>
                        </a:rPr>
                        <a:t>0.07785679</a:t>
                      </a:r>
                    </a:p>
                  </a:txBody>
                  <a:tcPr marL="9525" marR="9525" marT="9525" marB="0" anchor="ctr"/>
                </a:tc>
                <a:tc>
                  <a:txBody>
                    <a:bodyPr/>
                    <a:lstStyle/>
                    <a:p>
                      <a:pPr algn="ctr" fontAlgn="ctr"/>
                      <a:r>
                        <a:rPr lang="en-US" sz="1800" b="0" i="0" u="none" strike="noStrike" dirty="0">
                          <a:solidFill>
                            <a:schemeClr val="tx1"/>
                          </a:solidFill>
                          <a:latin typeface="Segoe UI"/>
                        </a:rPr>
                        <a:t>Afghanistan, Albania, Algeria, Angola, Antarctica, Antigua and Barbuda, Argentina, Armenia, Aruba, Australia, Austria, Azerbaijan, Bahamas, Bahrain, Bangladesh, Barbados, Belarus, Belgium, Belize, Benin, Bermuda, Bhutan, Bolivia, Bosnia and Herzegovina, Botswana, British Virgin Islands, Brunei, Bulgaria, Burkina Faso, Burundi, </a:t>
                      </a:r>
                      <a:r>
                        <a:rPr lang="en-US" sz="1800" b="0" i="0" u="none" strike="noStrike" dirty="0" err="1">
                          <a:solidFill>
                            <a:schemeClr val="tx1"/>
                          </a:solidFill>
                          <a:latin typeface="Segoe UI"/>
                        </a:rPr>
                        <a:t>Cabo</a:t>
                      </a:r>
                      <a:r>
                        <a:rPr lang="en-US" sz="1800" b="0" i="0" u="none" strike="noStrike" dirty="0">
                          <a:solidFill>
                            <a:schemeClr val="tx1"/>
                          </a:solidFill>
                          <a:latin typeface="Segoe UI"/>
                        </a:rPr>
                        <a:t> Verde, Cambodia, Cameroon, Central African Republic, Chad, Chile, Colombia, Comoros, Congo, Cook Islands, Costa Rica, Côte d'Ivoire, Croatia, Cuba, Cyprus, </a:t>
                      </a:r>
                      <a:r>
                        <a:rPr lang="en-US" sz="1800" b="0" i="0" u="none" strike="noStrike" dirty="0" err="1">
                          <a:solidFill>
                            <a:schemeClr val="tx1"/>
                          </a:solidFill>
                          <a:latin typeface="Segoe UI"/>
                        </a:rPr>
                        <a:t>Czechia</a:t>
                      </a:r>
                      <a:r>
                        <a:rPr lang="en-US" sz="1800" b="0" i="0" u="none" strike="noStrike" dirty="0">
                          <a:solidFill>
                            <a:schemeClr val="tx1"/>
                          </a:solidFill>
                          <a:latin typeface="Segoe UI"/>
                        </a:rPr>
                        <a:t>, Democratic Republic of the Congo, Denmark, Djibouti, Dominica, Dominican Republic, Ecuador, Egypt, El Salvador, Equatorial Guinea, Eritrea, Estonia, </a:t>
                      </a:r>
                      <a:r>
                        <a:rPr lang="en-US" sz="1800" b="0" i="0" u="none" strike="noStrike" dirty="0" err="1">
                          <a:solidFill>
                            <a:schemeClr val="tx1"/>
                          </a:solidFill>
                          <a:latin typeface="Segoe UI"/>
                        </a:rPr>
                        <a:t>Eswatini</a:t>
                      </a:r>
                      <a:r>
                        <a:rPr lang="en-US" sz="1800" b="0" i="0" u="none" strike="noStrike" dirty="0">
                          <a:solidFill>
                            <a:schemeClr val="tx1"/>
                          </a:solidFill>
                          <a:latin typeface="Segoe UI"/>
                        </a:rPr>
                        <a:t>, Ethiopia, Faroe Islands, Fiji, Finland, France, French Guiana, French Polynesia, Gabon, Gambia, Georgia, Germany, Ghana, Greece, Greenland, Grenada, Guadeloupe, Guatemala, Guinea, Guinea-Bissau, Guyana, Haiti, Honduras, Hong Kong, Hungary, Iceland, Indonesia, Ireland, Israel, Italy, Jamaica, Japan, Jordan, Kenya, Kiribati, Kosovo, Kuwait, Kyrgyzstan, Laos, Latvia, Lebanon, Lesotho, Liberia, Libya, Lithuania, Luxembourg, Macao, Madagascar, Malawi, Malaysia, Maldives, Mali, Malta, Martinique, Mauritania, Mauritius, Mexico, Micronesia, Moldova, Mongolia, Montenegro, Montserrat, Morocco, Mozambique, Myanmar, Namibia, Nauru, Nepal, Netherlands, New Caledonia, New Zealand, Nicaragua, Niger, Niue, North Korea, North Macedonia, Norway, Oman, Pakistan, Palestinian Territories, Panama, Papua New Guinea, Paraguay, Peru, Philippines, Poland, Portugal, Puerto Rico, </a:t>
                      </a:r>
                      <a:r>
                        <a:rPr lang="en-US" sz="1800" b="0" i="0" u="none" strike="noStrike" dirty="0" err="1">
                          <a:solidFill>
                            <a:schemeClr val="tx1"/>
                          </a:solidFill>
                          <a:latin typeface="Segoe UI"/>
                        </a:rPr>
                        <a:t>Réunion</a:t>
                      </a:r>
                      <a:r>
                        <a:rPr lang="en-US" sz="1800" b="0" i="0" u="none" strike="noStrike" dirty="0">
                          <a:solidFill>
                            <a:schemeClr val="tx1"/>
                          </a:solidFill>
                          <a:latin typeface="Segoe UI"/>
                        </a:rPr>
                        <a:t>, Romania, Russia, Rwanda, Saint Helena, Saint Kitts and Nevis, Saint Lucia, Saint Pierre and Miquelon, Saint Vincent and the Grenadines, Samoa, Sao Tome and Principe, Senegal, Serbia, Seychelles, Sierra Leone, Singapore, Slovakia, Slovenia, Solomon Islands, Somalia, South Africa, South Korea, South Sudan, Spain, Sri Lanka, Sudan, Suriname, Sweden, Switzerland, Syria, Taiwan, Tajikistan, Tanzania, Thailand, Timor-Leste, Togo, Tonga, Trinidad and Tobago, Tunisia, Turkey, Turkmenistan, Turks and Caicos Islands, Tuvalu, Uganda, Ukraine, United Kingdom, Uruguay, Uzbekistan, Vanuatu, Venezuela, Vietnam, Yemen, Zambia, Zimbabwe</a:t>
                      </a:r>
                    </a:p>
                  </a:txBody>
                  <a:tcPr marL="9525" marR="9525" marT="9525" marB="0" anchor="ctr"/>
                </a:tc>
              </a:tr>
              <a:tr h="452706">
                <a:tc>
                  <a:txBody>
                    <a:bodyPr/>
                    <a:lstStyle/>
                    <a:p>
                      <a:pPr algn="ctr" fontAlgn="ctr"/>
                      <a:r>
                        <a:rPr lang="en-US" altLang="ko-KR" sz="1800" b="0" i="0" u="none" strike="noStrike" dirty="0">
                          <a:solidFill>
                            <a:schemeClr val="tx1"/>
                          </a:solidFill>
                          <a:latin typeface="Segoe UI"/>
                        </a:rPr>
                        <a:t>3</a:t>
                      </a:r>
                    </a:p>
                  </a:txBody>
                  <a:tcPr marL="9525" marR="9525" marT="9525" marB="0" anchor="ctr"/>
                </a:tc>
                <a:tc>
                  <a:txBody>
                    <a:bodyPr/>
                    <a:lstStyle/>
                    <a:p>
                      <a:pPr algn="ctr" fontAlgn="ctr"/>
                      <a:r>
                        <a:rPr lang="en-US" altLang="ko-KR" sz="1800" b="0" i="0" u="none" strike="noStrike">
                          <a:solidFill>
                            <a:schemeClr val="tx1"/>
                          </a:solidFill>
                          <a:latin typeface="Segoe UI"/>
                        </a:rPr>
                        <a:t>3</a:t>
                      </a:r>
                    </a:p>
                  </a:txBody>
                  <a:tcPr marL="9525" marR="9525" marT="9525" marB="0" anchor="ctr"/>
                </a:tc>
                <a:tc>
                  <a:txBody>
                    <a:bodyPr/>
                    <a:lstStyle/>
                    <a:p>
                      <a:pPr algn="ctr" fontAlgn="ctr"/>
                      <a:r>
                        <a:rPr lang="en-US" altLang="ko-KR" sz="1800" b="0" i="0" u="none" strike="noStrike">
                          <a:solidFill>
                            <a:schemeClr val="tx1"/>
                          </a:solidFill>
                          <a:latin typeface="Segoe UI"/>
                        </a:rPr>
                        <a:t>2.9898245</a:t>
                      </a:r>
                    </a:p>
                  </a:txBody>
                  <a:tcPr marL="9525" marR="9525" marT="9525" marB="0" anchor="ctr"/>
                </a:tc>
                <a:tc>
                  <a:txBody>
                    <a:bodyPr/>
                    <a:lstStyle/>
                    <a:p>
                      <a:pPr algn="ctr" fontAlgn="ctr"/>
                      <a:r>
                        <a:rPr lang="en-US" altLang="ko-KR" sz="1800" b="0" i="0" u="none" strike="noStrike">
                          <a:solidFill>
                            <a:schemeClr val="tx1"/>
                          </a:solidFill>
                          <a:latin typeface="Segoe UI"/>
                        </a:rPr>
                        <a:t>-2.6505407</a:t>
                      </a:r>
                    </a:p>
                  </a:txBody>
                  <a:tcPr marL="9525" marR="9525" marT="9525" marB="0" anchor="ctr"/>
                </a:tc>
                <a:tc>
                  <a:txBody>
                    <a:bodyPr/>
                    <a:lstStyle/>
                    <a:p>
                      <a:pPr algn="ctr" fontAlgn="ctr"/>
                      <a:r>
                        <a:rPr lang="en-US" altLang="ko-KR" sz="1800" b="0" i="0" u="none" strike="noStrike" dirty="0" smtClean="0">
                          <a:solidFill>
                            <a:schemeClr val="tx1"/>
                          </a:solidFill>
                          <a:latin typeface="Segoe UI"/>
                        </a:rPr>
                        <a:t>-2.17616415</a:t>
                      </a:r>
                      <a:endParaRPr lang="en-US" altLang="ko-KR" sz="1800" b="0" i="0" u="none" strike="noStrike" dirty="0">
                        <a:solidFill>
                          <a:schemeClr val="tx1"/>
                        </a:solidFill>
                        <a:latin typeface="Segoe UI"/>
                      </a:endParaRPr>
                    </a:p>
                  </a:txBody>
                  <a:tcPr marL="9525" marR="9525" marT="9525" marB="0" anchor="ctr"/>
                </a:tc>
                <a:tc>
                  <a:txBody>
                    <a:bodyPr/>
                    <a:lstStyle/>
                    <a:p>
                      <a:pPr algn="ctr" fontAlgn="ctr"/>
                      <a:r>
                        <a:rPr lang="en-US" sz="1800" b="0" i="0" u="none" strike="noStrike" dirty="0">
                          <a:solidFill>
                            <a:schemeClr val="tx1"/>
                          </a:solidFill>
                          <a:latin typeface="Segoe UI"/>
                        </a:rPr>
                        <a:t>Brazil, Canada, India, Iran, Iraq, Kazakhstan, Nigeria, Qatar, Saudi Arabia, United Arab Emirates</a:t>
                      </a:r>
                    </a:p>
                  </a:txBody>
                  <a:tcPr marL="9525" marR="9525" marT="9525" marB="0" anchor="ctr"/>
                </a:tc>
              </a:tr>
              <a:tr h="702972">
                <a:tc>
                  <a:txBody>
                    <a:bodyPr/>
                    <a:lstStyle/>
                    <a:p>
                      <a:pPr algn="ctr" fontAlgn="ctr"/>
                      <a:r>
                        <a:rPr lang="en-US" altLang="ko-KR" sz="1800" b="0" i="0" u="none" strike="noStrike" dirty="0">
                          <a:solidFill>
                            <a:schemeClr val="tx1"/>
                          </a:solidFill>
                          <a:latin typeface="Segoe UI"/>
                        </a:rPr>
                        <a:t>4</a:t>
                      </a:r>
                    </a:p>
                  </a:txBody>
                  <a:tcPr marL="9525" marR="9525" marT="9525" marB="0" anchor="ctr"/>
                </a:tc>
                <a:tc>
                  <a:txBody>
                    <a:bodyPr/>
                    <a:lstStyle/>
                    <a:p>
                      <a:pPr algn="ctr" fontAlgn="ctr"/>
                      <a:r>
                        <a:rPr lang="en-US" altLang="ko-KR" sz="1800" b="0" i="0" u="none" strike="noStrike">
                          <a:solidFill>
                            <a:schemeClr val="tx1"/>
                          </a:solidFill>
                          <a:latin typeface="Segoe UI"/>
                        </a:rPr>
                        <a:t>4</a:t>
                      </a:r>
                    </a:p>
                  </a:txBody>
                  <a:tcPr marL="9525" marR="9525" marT="9525" marB="0" anchor="ctr"/>
                </a:tc>
                <a:tc>
                  <a:txBody>
                    <a:bodyPr/>
                    <a:lstStyle/>
                    <a:p>
                      <a:pPr algn="ctr" fontAlgn="ctr"/>
                      <a:r>
                        <a:rPr lang="en-US" altLang="ko-KR" sz="1800" b="0" i="0" u="none" strike="noStrike">
                          <a:solidFill>
                            <a:schemeClr val="tx1"/>
                          </a:solidFill>
                          <a:latin typeface="Segoe UI"/>
                        </a:rPr>
                        <a:t>8.4284743</a:t>
                      </a:r>
                    </a:p>
                  </a:txBody>
                  <a:tcPr marL="9525" marR="9525" marT="9525" marB="0" anchor="ctr"/>
                </a:tc>
                <a:tc>
                  <a:txBody>
                    <a:bodyPr/>
                    <a:lstStyle/>
                    <a:p>
                      <a:pPr algn="ctr" fontAlgn="ctr"/>
                      <a:r>
                        <a:rPr lang="en-US" altLang="ko-KR" sz="1800" b="0" i="0" u="none" strike="noStrike">
                          <a:solidFill>
                            <a:schemeClr val="tx1"/>
                          </a:solidFill>
                          <a:latin typeface="Segoe UI"/>
                        </a:rPr>
                        <a:t>-15.5605676</a:t>
                      </a:r>
                    </a:p>
                  </a:txBody>
                  <a:tcPr marL="9525" marR="9525" marT="9525" marB="0" anchor="ctr"/>
                </a:tc>
                <a:tc>
                  <a:txBody>
                    <a:bodyPr/>
                    <a:lstStyle/>
                    <a:p>
                      <a:pPr algn="ctr" fontAlgn="ctr"/>
                      <a:r>
                        <a:rPr lang="en-US" altLang="ko-KR" sz="1800" b="0" i="0" u="none" strike="noStrike">
                          <a:solidFill>
                            <a:schemeClr val="tx1"/>
                          </a:solidFill>
                          <a:latin typeface="Segoe UI"/>
                        </a:rPr>
                        <a:t>4.3762311</a:t>
                      </a:r>
                    </a:p>
                  </a:txBody>
                  <a:tcPr marL="9525" marR="9525" marT="9525" marB="0" anchor="ctr"/>
                </a:tc>
                <a:tc>
                  <a:txBody>
                    <a:bodyPr/>
                    <a:lstStyle/>
                    <a:p>
                      <a:pPr algn="ctr" fontAlgn="ctr"/>
                      <a:r>
                        <a:rPr lang="en-US" sz="1800" b="0" i="0" u="none" strike="noStrike" dirty="0">
                          <a:solidFill>
                            <a:schemeClr val="tx1"/>
                          </a:solidFill>
                          <a:latin typeface="Segoe UI"/>
                        </a:rPr>
                        <a:t>United States</a:t>
                      </a:r>
                    </a:p>
                  </a:txBody>
                  <a:tcPr marL="9525" marR="9525" marT="9525" marB="0" anchor="ctr"/>
                </a:tc>
              </a:tr>
            </a:tbl>
          </a:graphicData>
        </a:graphic>
      </p:graphicFrame>
      <p:sp>
        <p:nvSpPr>
          <p:cNvPr id="11" name="TextBox 10"/>
          <p:cNvSpPr txBox="1"/>
          <p:nvPr/>
        </p:nvSpPr>
        <p:spPr>
          <a:xfrm>
            <a:off x="304800" y="1485900"/>
            <a:ext cx="6096000" cy="29238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ko-KR" sz="2300" b="1" dirty="0" smtClean="0"/>
              <a:t>PC1 </a:t>
            </a:r>
            <a:r>
              <a:rPr lang="ko-KR" altLang="en-US" sz="2300" b="1" dirty="0" smtClean="0"/>
              <a:t>의미</a:t>
            </a:r>
          </a:p>
          <a:p>
            <a:r>
              <a:rPr lang="ko-KR" altLang="en-US" sz="2300" dirty="0" smtClean="0"/>
              <a:t>➡ 에너지 소비 </a:t>
            </a:r>
            <a:r>
              <a:rPr lang="en-US" altLang="ko-KR" sz="2300" dirty="0" smtClean="0"/>
              <a:t>+ </a:t>
            </a:r>
            <a:r>
              <a:rPr lang="ko-KR" altLang="en-US" sz="2300" dirty="0" smtClean="0"/>
              <a:t>온실가스 배출 </a:t>
            </a:r>
            <a:r>
              <a:rPr lang="ko-KR" altLang="en-US" sz="2300" dirty="0" err="1" smtClean="0"/>
              <a:t>변화량</a:t>
            </a:r>
            <a:r>
              <a:rPr lang="ko-KR" altLang="en-US" sz="2300" dirty="0" smtClean="0"/>
              <a:t> </a:t>
            </a:r>
            <a:r>
              <a:rPr lang="en-US" altLang="ko-KR" sz="2300" dirty="0" smtClean="0"/>
              <a:t>(</a:t>
            </a:r>
            <a:r>
              <a:rPr lang="ko-KR" altLang="en-US" sz="2300" dirty="0" smtClean="0"/>
              <a:t>많이 증가한 국가 </a:t>
            </a:r>
            <a:r>
              <a:rPr lang="en-US" altLang="ko-KR" sz="2300" dirty="0" smtClean="0"/>
              <a:t>= PC1↑)</a:t>
            </a:r>
          </a:p>
          <a:p>
            <a:r>
              <a:rPr lang="en-US" altLang="ko-KR" sz="2300" b="1" dirty="0" smtClean="0"/>
              <a:t>PC2 </a:t>
            </a:r>
            <a:r>
              <a:rPr lang="ko-KR" altLang="en-US" sz="2300" b="1" dirty="0" smtClean="0"/>
              <a:t>의미</a:t>
            </a:r>
          </a:p>
          <a:p>
            <a:r>
              <a:rPr lang="ko-KR" altLang="en-US" sz="2300" dirty="0" smtClean="0"/>
              <a:t>➡에너지원 구성 변화 </a:t>
            </a:r>
            <a:r>
              <a:rPr lang="en-US" altLang="ko-KR" sz="2300" dirty="0" smtClean="0"/>
              <a:t>(</a:t>
            </a:r>
            <a:r>
              <a:rPr lang="ko-KR" altLang="en-US" sz="2300" dirty="0" smtClean="0"/>
              <a:t>석탄 ↑ </a:t>
            </a:r>
            <a:r>
              <a:rPr lang="en-US" altLang="ko-KR" sz="2300" dirty="0" smtClean="0"/>
              <a:t>= PC2↑ / </a:t>
            </a:r>
            <a:r>
              <a:rPr lang="ko-KR" altLang="en-US" sz="2300" dirty="0" smtClean="0"/>
              <a:t>석유</a:t>
            </a:r>
            <a:r>
              <a:rPr lang="en-US" altLang="ko-KR" sz="2300" dirty="0" smtClean="0"/>
              <a:t>·</a:t>
            </a:r>
            <a:r>
              <a:rPr lang="ko-KR" altLang="en-US" sz="2300" dirty="0" smtClean="0"/>
              <a:t>가스</a:t>
            </a:r>
            <a:r>
              <a:rPr lang="en-US" altLang="ko-KR" sz="2300" dirty="0" smtClean="0"/>
              <a:t>·</a:t>
            </a:r>
            <a:r>
              <a:rPr lang="ko-KR" altLang="en-US" sz="2300" dirty="0" smtClean="0"/>
              <a:t>원자력 ↑ </a:t>
            </a:r>
            <a:r>
              <a:rPr lang="en-US" altLang="ko-KR" sz="2300" dirty="0" smtClean="0"/>
              <a:t>= PC2↓)</a:t>
            </a:r>
          </a:p>
          <a:p>
            <a:r>
              <a:rPr lang="en-US" altLang="ko-KR" sz="2300" b="1" dirty="0" smtClean="0"/>
              <a:t>PC3 </a:t>
            </a:r>
            <a:r>
              <a:rPr lang="ko-KR" altLang="en-US" sz="2300" b="1" dirty="0" smtClean="0"/>
              <a:t>의미</a:t>
            </a:r>
          </a:p>
          <a:p>
            <a:r>
              <a:rPr lang="ko-KR" altLang="en-US" sz="2300" dirty="0" smtClean="0"/>
              <a:t>➡클수록 </a:t>
            </a:r>
            <a:r>
              <a:rPr lang="en-US" altLang="ko-KR" sz="2300" dirty="0" smtClean="0"/>
              <a:t>1</a:t>
            </a:r>
            <a:r>
              <a:rPr lang="ko-KR" altLang="en-US" sz="2300" dirty="0" smtClean="0"/>
              <a:t>인당 온실가스 배출 변화 적음</a:t>
            </a:r>
            <a:endParaRPr lang="ko-KR" altLang="en-US" sz="2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229BEE"/>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cstate="print"/>
          <a:stretch>
            <a:fillRect/>
          </a:stretch>
        </p:blipFill>
        <p:spPr>
          <a:xfrm>
            <a:off x="292100" y="292100"/>
            <a:ext cx="17716500" cy="9715500"/>
          </a:xfrm>
          <a:prstGeom prst="rect">
            <a:avLst/>
          </a:prstGeom>
        </p:spPr>
      </p:pic>
      <p:pic>
        <p:nvPicPr>
          <p:cNvPr id="4" name="Picture 4"/>
          <p:cNvPicPr>
            <a:picLocks noChangeAspect="1"/>
          </p:cNvPicPr>
          <p:nvPr/>
        </p:nvPicPr>
        <p:blipFill>
          <a:blip r:embed="rId3" cstate="print"/>
          <a:stretch>
            <a:fillRect/>
          </a:stretch>
        </p:blipFill>
        <p:spPr>
          <a:xfrm>
            <a:off x="16611600" y="0"/>
            <a:ext cx="673100" cy="965200"/>
          </a:xfrm>
          <a:prstGeom prst="rect">
            <a:avLst/>
          </a:prstGeom>
        </p:spPr>
      </p:pic>
      <p:sp>
        <p:nvSpPr>
          <p:cNvPr id="99330" name="AutoShape 2" descr="http://127.0.0.1:33853/graphics/8aceb19c-4afd-45fd-889b-3bfd97605abc.png"/>
          <p:cNvSpPr>
            <a:spLocks noChangeAspect="1" noChangeArrowheads="1"/>
          </p:cNvSpPr>
          <p:nvPr/>
        </p:nvSpPr>
        <p:spPr bwMode="auto">
          <a:xfrm>
            <a:off x="1682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ko-KR" altLang="en-US"/>
          </a:p>
        </p:txBody>
      </p:sp>
      <p:pic>
        <p:nvPicPr>
          <p:cNvPr id="99331" name="Picture 3"/>
          <p:cNvPicPr>
            <a:picLocks noChangeAspect="1" noChangeArrowheads="1"/>
          </p:cNvPicPr>
          <p:nvPr/>
        </p:nvPicPr>
        <p:blipFill>
          <a:blip r:embed="rId4" cstate="print"/>
          <a:srcRect/>
          <a:stretch>
            <a:fillRect/>
          </a:stretch>
        </p:blipFill>
        <p:spPr bwMode="auto">
          <a:xfrm>
            <a:off x="304800" y="266700"/>
            <a:ext cx="17678400" cy="9677400"/>
          </a:xfrm>
          <a:prstGeom prst="rect">
            <a:avLst/>
          </a:prstGeom>
          <a:noFill/>
          <a:ln w="9525">
            <a:noFill/>
            <a:miter lim="800000"/>
            <a:headEnd/>
            <a:tailEnd/>
          </a:ln>
          <a:effectLst/>
        </p:spPr>
      </p:pic>
      <p:sp>
        <p:nvSpPr>
          <p:cNvPr id="6" name="TextBox 5"/>
          <p:cNvSpPr txBox="1"/>
          <p:nvPr/>
        </p:nvSpPr>
        <p:spPr>
          <a:xfrm>
            <a:off x="6934200" y="419100"/>
            <a:ext cx="4343400" cy="461665"/>
          </a:xfrm>
          <a:prstGeom prst="rect">
            <a:avLst/>
          </a:prstGeom>
          <a:noFill/>
        </p:spPr>
        <p:txBody>
          <a:bodyPr wrap="square" rtlCol="0">
            <a:spAutoFit/>
          </a:bodyPr>
          <a:lstStyle/>
          <a:p>
            <a:r>
              <a:rPr lang="ko-KR" altLang="en-US" sz="2400" b="1" dirty="0" smtClean="0">
                <a:latin typeface="+mj-ea"/>
                <a:ea typeface="+mj-ea"/>
              </a:rPr>
              <a:t>Ｃｌｕｓｔｅｒ별　국가들</a:t>
            </a:r>
            <a:endParaRPr lang="ko-KR" altLang="en-US" sz="2400" b="1" dirty="0">
              <a:latin typeface="+mj-ea"/>
              <a:ea typeface="+mj-ea"/>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229BEE"/>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cstate="print"/>
          <a:stretch>
            <a:fillRect/>
          </a:stretch>
        </p:blipFill>
        <p:spPr>
          <a:xfrm>
            <a:off x="292100" y="292100"/>
            <a:ext cx="17716500" cy="9715500"/>
          </a:xfrm>
          <a:prstGeom prst="rect">
            <a:avLst/>
          </a:prstGeom>
        </p:spPr>
      </p:pic>
      <p:pic>
        <p:nvPicPr>
          <p:cNvPr id="4" name="Picture 4"/>
          <p:cNvPicPr>
            <a:picLocks noChangeAspect="1"/>
          </p:cNvPicPr>
          <p:nvPr/>
        </p:nvPicPr>
        <p:blipFill>
          <a:blip r:embed="rId4" cstate="print"/>
          <a:stretch>
            <a:fillRect/>
          </a:stretch>
        </p:blipFill>
        <p:spPr>
          <a:xfrm>
            <a:off x="16611600" y="0"/>
            <a:ext cx="673100" cy="965200"/>
          </a:xfrm>
          <a:prstGeom prst="rect">
            <a:avLst/>
          </a:prstGeom>
        </p:spPr>
      </p:pic>
      <p:pic>
        <p:nvPicPr>
          <p:cNvPr id="92162" name="Picture 2"/>
          <p:cNvPicPr>
            <a:picLocks noChangeAspect="1" noChangeArrowheads="1"/>
          </p:cNvPicPr>
          <p:nvPr/>
        </p:nvPicPr>
        <p:blipFill>
          <a:blip r:embed="rId5" cstate="print"/>
          <a:srcRect t="3970" r="9333" b="-1243"/>
          <a:stretch>
            <a:fillRect/>
          </a:stretch>
        </p:blipFill>
        <p:spPr bwMode="auto">
          <a:xfrm>
            <a:off x="228600" y="1485900"/>
            <a:ext cx="5562600" cy="7467600"/>
          </a:xfrm>
          <a:prstGeom prst="rect">
            <a:avLst/>
          </a:prstGeom>
          <a:noFill/>
          <a:ln w="9525">
            <a:noFill/>
            <a:miter lim="800000"/>
            <a:headEnd/>
            <a:tailEnd/>
          </a:ln>
          <a:effectLst/>
        </p:spPr>
      </p:pic>
      <p:sp>
        <p:nvSpPr>
          <p:cNvPr id="11" name="TextBox 10"/>
          <p:cNvSpPr txBox="1"/>
          <p:nvPr/>
        </p:nvSpPr>
        <p:spPr>
          <a:xfrm>
            <a:off x="6400800" y="9526369"/>
            <a:ext cx="7620000" cy="800219"/>
          </a:xfrm>
          <a:prstGeom prst="rect">
            <a:avLst/>
          </a:prstGeom>
          <a:noFill/>
        </p:spPr>
        <p:txBody>
          <a:bodyPr wrap="square" rtlCol="0">
            <a:spAutoFit/>
          </a:bodyPr>
          <a:lstStyle/>
          <a:p>
            <a:pPr lvl="0"/>
            <a:r>
              <a:rPr lang="ko-KR" altLang="en-US" sz="2800" dirty="0" err="1" smtClean="0">
                <a:solidFill>
                  <a:srgbClr val="4D4D4D"/>
                </a:solidFill>
                <a:latin typeface="Noto Sans KR Medium" pitchFamily="50" charset="-127"/>
                <a:ea typeface="Noto Sans KR Medium" pitchFamily="50" charset="-127"/>
              </a:rPr>
              <a:t>군집별</a:t>
            </a:r>
            <a:r>
              <a:rPr lang="ko-KR" altLang="en-US" sz="2800" dirty="0" smtClean="0">
                <a:solidFill>
                  <a:srgbClr val="4D4D4D"/>
                </a:solidFill>
                <a:latin typeface="Noto Sans KR Medium" pitchFamily="50" charset="-127"/>
                <a:ea typeface="Noto Sans KR Medium" pitchFamily="50" charset="-127"/>
              </a:rPr>
              <a:t> ＰＣ에 따른 박스플롯 </a:t>
            </a:r>
            <a:endParaRPr lang="ko-KR" altLang="ko-KR" sz="2800" dirty="0" smtClean="0">
              <a:solidFill>
                <a:srgbClr val="4D4D4D"/>
              </a:solidFill>
              <a:latin typeface="Noto Sans KR Medium" pitchFamily="50" charset="-127"/>
              <a:ea typeface="Noto Sans KR Medium" pitchFamily="50" charset="-127"/>
            </a:endParaRPr>
          </a:p>
          <a:p>
            <a:endParaRPr lang="ko-KR" altLang="en-US" dirty="0"/>
          </a:p>
        </p:txBody>
      </p:sp>
      <p:pic>
        <p:nvPicPr>
          <p:cNvPr id="12" name="Picture 2"/>
          <p:cNvPicPr>
            <a:picLocks noChangeAspect="1" noChangeArrowheads="1"/>
          </p:cNvPicPr>
          <p:nvPr/>
        </p:nvPicPr>
        <p:blipFill>
          <a:blip r:embed="rId6" cstate="print"/>
          <a:srcRect t="4776" r="8603" b="-2211"/>
          <a:stretch>
            <a:fillRect/>
          </a:stretch>
        </p:blipFill>
        <p:spPr bwMode="auto">
          <a:xfrm>
            <a:off x="5715000" y="1409700"/>
            <a:ext cx="6477000" cy="7772400"/>
          </a:xfrm>
          <a:prstGeom prst="rect">
            <a:avLst/>
          </a:prstGeom>
          <a:noFill/>
          <a:ln w="9525">
            <a:noFill/>
            <a:miter lim="800000"/>
            <a:headEnd/>
            <a:tailEnd/>
          </a:ln>
          <a:effectLst/>
        </p:spPr>
      </p:pic>
      <p:pic>
        <p:nvPicPr>
          <p:cNvPr id="13" name="Picture 2"/>
          <p:cNvPicPr>
            <a:picLocks noChangeAspect="1" noChangeArrowheads="1"/>
          </p:cNvPicPr>
          <p:nvPr/>
        </p:nvPicPr>
        <p:blipFill>
          <a:blip r:embed="rId7" cstate="print"/>
          <a:srcRect l="1171" t="3883" r="8642"/>
          <a:stretch>
            <a:fillRect/>
          </a:stretch>
        </p:blipFill>
        <p:spPr bwMode="auto">
          <a:xfrm>
            <a:off x="12192000" y="1485900"/>
            <a:ext cx="5867400" cy="7543800"/>
          </a:xfrm>
          <a:prstGeom prst="rect">
            <a:avLst/>
          </a:prstGeom>
          <a:noFill/>
          <a:ln w="9525">
            <a:noFill/>
            <a:miter lim="800000"/>
            <a:headEnd/>
            <a:tailEnd/>
          </a:ln>
          <a:effectLst/>
        </p:spPr>
      </p:pic>
      <p:sp>
        <p:nvSpPr>
          <p:cNvPr id="16" name="직사각형 15"/>
          <p:cNvSpPr/>
          <p:nvPr/>
        </p:nvSpPr>
        <p:spPr>
          <a:xfrm>
            <a:off x="609600" y="1638300"/>
            <a:ext cx="1295400" cy="45720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p:cNvSpPr/>
          <p:nvPr/>
        </p:nvSpPr>
        <p:spPr>
          <a:xfrm>
            <a:off x="10820400" y="7886700"/>
            <a:ext cx="1371600" cy="45720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직사각형 17"/>
          <p:cNvSpPr/>
          <p:nvPr/>
        </p:nvSpPr>
        <p:spPr>
          <a:xfrm>
            <a:off x="16764000" y="1638300"/>
            <a:ext cx="1295400" cy="45720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TextBox 19">
            <a:extLst>
              <a:ext uri="{FF2B5EF4-FFF2-40B4-BE49-F238E27FC236}">
                <a16:creationId xmlns="" xmlns:a16="http://schemas.microsoft.com/office/drawing/2014/main" id="{9868D4D3-D354-8A4A-E870-E4A7DA56A02E}"/>
              </a:ext>
            </a:extLst>
          </p:cNvPr>
          <p:cNvSpPr txBox="1"/>
          <p:nvPr/>
        </p:nvSpPr>
        <p:spPr>
          <a:xfrm>
            <a:off x="685800" y="8724900"/>
            <a:ext cx="1219200" cy="523220"/>
          </a:xfrm>
          <a:prstGeom prst="rect">
            <a:avLst/>
          </a:prstGeom>
          <a:noFill/>
        </p:spPr>
        <p:txBody>
          <a:bodyPr wrap="square" rtlCol="0">
            <a:spAutoFit/>
          </a:bodyPr>
          <a:lstStyle/>
          <a:p>
            <a:r>
              <a:rPr lang="ko-KR" altLang="en-US" sz="2800" b="1" dirty="0" smtClean="0">
                <a:solidFill>
                  <a:srgbClr val="FF0000"/>
                </a:solidFill>
                <a:latin typeface="+mn-ea"/>
              </a:rPr>
              <a:t>중국</a:t>
            </a:r>
            <a:r>
              <a:rPr lang="ko-KR" altLang="en-US" sz="2400" dirty="0" smtClean="0"/>
              <a:t> </a:t>
            </a:r>
            <a:endParaRPr lang="en-US" altLang="ko-KR" sz="2200" b="1" dirty="0">
              <a:latin typeface="+mn-ea"/>
            </a:endParaRPr>
          </a:p>
        </p:txBody>
      </p:sp>
      <p:sp>
        <p:nvSpPr>
          <p:cNvPr id="22" name="TextBox 21">
            <a:extLst>
              <a:ext uri="{FF2B5EF4-FFF2-40B4-BE49-F238E27FC236}">
                <a16:creationId xmlns="" xmlns:a16="http://schemas.microsoft.com/office/drawing/2014/main" id="{9868D4D3-D354-8A4A-E870-E4A7DA56A02E}"/>
              </a:ext>
            </a:extLst>
          </p:cNvPr>
          <p:cNvSpPr txBox="1"/>
          <p:nvPr/>
        </p:nvSpPr>
        <p:spPr>
          <a:xfrm>
            <a:off x="11049000" y="8811280"/>
            <a:ext cx="1219200" cy="523220"/>
          </a:xfrm>
          <a:prstGeom prst="rect">
            <a:avLst/>
          </a:prstGeom>
          <a:noFill/>
        </p:spPr>
        <p:txBody>
          <a:bodyPr wrap="square" rtlCol="0">
            <a:spAutoFit/>
          </a:bodyPr>
          <a:lstStyle/>
          <a:p>
            <a:r>
              <a:rPr lang="ko-KR" altLang="en-US" sz="2800" b="1" smtClean="0">
                <a:solidFill>
                  <a:srgbClr val="FF0000"/>
                </a:solidFill>
                <a:latin typeface="+mn-ea"/>
              </a:rPr>
              <a:t>미국</a:t>
            </a:r>
            <a:r>
              <a:rPr lang="ko-KR" altLang="en-US" sz="2400" smtClean="0"/>
              <a:t> </a:t>
            </a:r>
            <a:endParaRPr lang="en-US" altLang="ko-KR" sz="2200" b="1" dirty="0">
              <a:latin typeface="+mn-ea"/>
            </a:endParaRPr>
          </a:p>
        </p:txBody>
      </p:sp>
      <p:sp>
        <p:nvSpPr>
          <p:cNvPr id="23" name="TextBox 22">
            <a:extLst>
              <a:ext uri="{FF2B5EF4-FFF2-40B4-BE49-F238E27FC236}">
                <a16:creationId xmlns="" xmlns:a16="http://schemas.microsoft.com/office/drawing/2014/main" id="{9868D4D3-D354-8A4A-E870-E4A7DA56A02E}"/>
              </a:ext>
            </a:extLst>
          </p:cNvPr>
          <p:cNvSpPr txBox="1"/>
          <p:nvPr/>
        </p:nvSpPr>
        <p:spPr>
          <a:xfrm>
            <a:off x="16992600" y="8811280"/>
            <a:ext cx="1219200" cy="523220"/>
          </a:xfrm>
          <a:prstGeom prst="rect">
            <a:avLst/>
          </a:prstGeom>
          <a:noFill/>
        </p:spPr>
        <p:txBody>
          <a:bodyPr wrap="square" rtlCol="0">
            <a:spAutoFit/>
          </a:bodyPr>
          <a:lstStyle/>
          <a:p>
            <a:r>
              <a:rPr lang="ko-KR" altLang="en-US" sz="2800" b="1" dirty="0" smtClean="0">
                <a:solidFill>
                  <a:srgbClr val="FF0000"/>
                </a:solidFill>
                <a:latin typeface="+mn-ea"/>
              </a:rPr>
              <a:t>미국</a:t>
            </a:r>
            <a:r>
              <a:rPr lang="ko-KR" altLang="en-US" sz="2400" dirty="0" smtClean="0"/>
              <a:t> </a:t>
            </a:r>
            <a:endParaRPr lang="en-US" altLang="ko-KR" sz="2200" b="1" dirty="0">
              <a:latin typeface="+mn-ea"/>
            </a:endParaRPr>
          </a:p>
        </p:txBody>
      </p:sp>
      <p:sp>
        <p:nvSpPr>
          <p:cNvPr id="14" name="TextBox 13"/>
          <p:cNvSpPr txBox="1"/>
          <p:nvPr/>
        </p:nvSpPr>
        <p:spPr>
          <a:xfrm>
            <a:off x="2133600" y="952500"/>
            <a:ext cx="1828800" cy="461665"/>
          </a:xfrm>
          <a:prstGeom prst="rect">
            <a:avLst/>
          </a:prstGeom>
          <a:noFill/>
        </p:spPr>
        <p:txBody>
          <a:bodyPr wrap="square" rtlCol="0">
            <a:spAutoFit/>
          </a:bodyPr>
          <a:lstStyle/>
          <a:p>
            <a:r>
              <a:rPr lang="ko-KR" altLang="en-US" sz="2400" b="1" dirty="0" smtClean="0">
                <a:latin typeface="+mj-ea"/>
                <a:ea typeface="+mj-ea"/>
              </a:rPr>
              <a:t>＜ＰＣ１＞</a:t>
            </a:r>
            <a:endParaRPr lang="ko-KR" altLang="en-US" sz="2400" b="1" dirty="0">
              <a:latin typeface="+mj-ea"/>
              <a:ea typeface="+mj-ea"/>
            </a:endParaRPr>
          </a:p>
        </p:txBody>
      </p:sp>
      <p:sp>
        <p:nvSpPr>
          <p:cNvPr id="15" name="TextBox 14"/>
          <p:cNvSpPr txBox="1"/>
          <p:nvPr/>
        </p:nvSpPr>
        <p:spPr>
          <a:xfrm>
            <a:off x="8229600" y="1028700"/>
            <a:ext cx="1828800" cy="461665"/>
          </a:xfrm>
          <a:prstGeom prst="rect">
            <a:avLst/>
          </a:prstGeom>
          <a:noFill/>
        </p:spPr>
        <p:txBody>
          <a:bodyPr wrap="square" rtlCol="0">
            <a:spAutoFit/>
          </a:bodyPr>
          <a:lstStyle/>
          <a:p>
            <a:r>
              <a:rPr lang="ko-KR" altLang="en-US" sz="2400" b="1" dirty="0" smtClean="0">
                <a:latin typeface="+mj-ea"/>
                <a:ea typeface="+mj-ea"/>
              </a:rPr>
              <a:t>＜ＰＣ２＞</a:t>
            </a:r>
            <a:endParaRPr lang="ko-KR" altLang="en-US" sz="2400" b="1" dirty="0">
              <a:latin typeface="+mj-ea"/>
              <a:ea typeface="+mj-ea"/>
            </a:endParaRPr>
          </a:p>
        </p:txBody>
      </p:sp>
      <p:sp>
        <p:nvSpPr>
          <p:cNvPr id="19" name="TextBox 18"/>
          <p:cNvSpPr txBox="1"/>
          <p:nvPr/>
        </p:nvSpPr>
        <p:spPr>
          <a:xfrm>
            <a:off x="14554200" y="1024235"/>
            <a:ext cx="1828800" cy="461665"/>
          </a:xfrm>
          <a:prstGeom prst="rect">
            <a:avLst/>
          </a:prstGeom>
          <a:noFill/>
        </p:spPr>
        <p:txBody>
          <a:bodyPr wrap="square" rtlCol="0">
            <a:spAutoFit/>
          </a:bodyPr>
          <a:lstStyle/>
          <a:p>
            <a:r>
              <a:rPr lang="ko-KR" altLang="en-US" sz="2400" b="1" dirty="0" smtClean="0">
                <a:latin typeface="+mj-ea"/>
                <a:ea typeface="+mj-ea"/>
              </a:rPr>
              <a:t>＜ＰＣ３＞</a:t>
            </a:r>
            <a:endParaRPr lang="ko-KR" altLang="en-US" sz="2400" b="1" dirty="0">
              <a:latin typeface="+mj-ea"/>
              <a:ea typeface="+mj-ea"/>
            </a:endParaRPr>
          </a:p>
        </p:txBody>
      </p:sp>
      <p:cxnSp>
        <p:nvCxnSpPr>
          <p:cNvPr id="24" name="직선 연결선 23"/>
          <p:cNvCxnSpPr/>
          <p:nvPr/>
        </p:nvCxnSpPr>
        <p:spPr>
          <a:xfrm>
            <a:off x="5715000" y="571500"/>
            <a:ext cx="0" cy="92202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직선 연결선 27"/>
          <p:cNvCxnSpPr/>
          <p:nvPr/>
        </p:nvCxnSpPr>
        <p:spPr>
          <a:xfrm>
            <a:off x="12420600" y="571500"/>
            <a:ext cx="0" cy="92202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304800" y="4152900"/>
            <a:ext cx="553998" cy="1981200"/>
          </a:xfrm>
          <a:prstGeom prst="rect">
            <a:avLst/>
          </a:prstGeom>
          <a:noFill/>
        </p:spPr>
        <p:txBody>
          <a:bodyPr vert="eaVert" wrap="square" rtlCol="0">
            <a:spAutoFit/>
          </a:bodyPr>
          <a:lstStyle/>
          <a:p>
            <a:r>
              <a:rPr lang="ko-KR" altLang="en-US" sz="2400" b="1" dirty="0" smtClean="0">
                <a:latin typeface="+mn-ea"/>
              </a:rPr>
              <a:t>주성분점수</a:t>
            </a:r>
            <a:endParaRPr lang="ko-KR" altLang="en-US" sz="2400" b="1"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20" grpId="0"/>
      <p:bldP spid="22" grpId="0"/>
      <p:bldP spid="23" grpId="0"/>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229BEE"/>
        </a:solidFill>
        <a:effectLst/>
      </p:bgPr>
    </p:bg>
    <p:spTree>
      <p:nvGrpSpPr>
        <p:cNvPr id="1" name=""/>
        <p:cNvGrpSpPr/>
        <p:nvPr/>
      </p:nvGrpSpPr>
      <p:grpSpPr>
        <a:xfrm>
          <a:off x="0" y="0"/>
          <a:ext cx="0" cy="0"/>
          <a:chOff x="0" y="0"/>
          <a:chExt cx="0" cy="0"/>
        </a:xfrm>
      </p:grpSpPr>
      <p:pic>
        <p:nvPicPr>
          <p:cNvPr id="13" name="Picture 2"/>
          <p:cNvPicPr>
            <a:picLocks noChangeAspect="1"/>
          </p:cNvPicPr>
          <p:nvPr/>
        </p:nvPicPr>
        <p:blipFill>
          <a:blip r:embed="rId3" cstate="print"/>
          <a:stretch>
            <a:fillRect/>
          </a:stretch>
        </p:blipFill>
        <p:spPr>
          <a:xfrm>
            <a:off x="292100" y="292100"/>
            <a:ext cx="17716500" cy="9715500"/>
          </a:xfrm>
          <a:prstGeom prst="rect">
            <a:avLst/>
          </a:prstGeom>
        </p:spPr>
      </p:pic>
      <p:pic>
        <p:nvPicPr>
          <p:cNvPr id="4" name="Picture 4"/>
          <p:cNvPicPr>
            <a:picLocks noChangeAspect="1"/>
          </p:cNvPicPr>
          <p:nvPr/>
        </p:nvPicPr>
        <p:blipFill>
          <a:blip r:embed="rId4" cstate="print"/>
          <a:stretch>
            <a:fillRect/>
          </a:stretch>
        </p:blipFill>
        <p:spPr>
          <a:xfrm>
            <a:off x="16611600" y="0"/>
            <a:ext cx="673100" cy="965200"/>
          </a:xfrm>
          <a:prstGeom prst="rect">
            <a:avLst/>
          </a:prstGeom>
        </p:spPr>
      </p:pic>
      <p:pic>
        <p:nvPicPr>
          <p:cNvPr id="65537" name="Picture 1"/>
          <p:cNvPicPr>
            <a:picLocks noChangeAspect="1" noChangeArrowheads="1"/>
          </p:cNvPicPr>
          <p:nvPr/>
        </p:nvPicPr>
        <p:blipFill>
          <a:blip r:embed="rId5" cstate="print"/>
          <a:srcRect/>
          <a:stretch>
            <a:fillRect/>
          </a:stretch>
        </p:blipFill>
        <p:spPr bwMode="auto">
          <a:xfrm>
            <a:off x="457200" y="571500"/>
            <a:ext cx="17373600" cy="9372600"/>
          </a:xfrm>
          <a:prstGeom prst="rect">
            <a:avLst/>
          </a:prstGeom>
          <a:noFill/>
          <a:ln w="9525">
            <a:noFill/>
            <a:miter lim="800000"/>
            <a:headEnd/>
            <a:tailEnd/>
          </a:ln>
          <a:effectLst/>
        </p:spPr>
      </p:pic>
      <p:sp>
        <p:nvSpPr>
          <p:cNvPr id="17" name="오른쪽 화살표 16"/>
          <p:cNvSpPr/>
          <p:nvPr/>
        </p:nvSpPr>
        <p:spPr>
          <a:xfrm>
            <a:off x="13487400" y="6591300"/>
            <a:ext cx="3352800"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직사각형 17"/>
          <p:cNvSpPr/>
          <p:nvPr/>
        </p:nvSpPr>
        <p:spPr>
          <a:xfrm>
            <a:off x="13411200" y="5753100"/>
            <a:ext cx="4038600" cy="830997"/>
          </a:xfrm>
          <a:prstGeom prst="rect">
            <a:avLst/>
          </a:prstGeom>
        </p:spPr>
        <p:txBody>
          <a:bodyPr wrap="square">
            <a:spAutoFit/>
          </a:bodyPr>
          <a:lstStyle/>
          <a:p>
            <a:r>
              <a:rPr lang="ko-KR" altLang="en-US" sz="2400" b="1" dirty="0" smtClean="0"/>
              <a:t>최근 </a:t>
            </a:r>
            <a:r>
              <a:rPr lang="en-US" altLang="ko-KR" sz="2400" b="1" dirty="0" smtClean="0"/>
              <a:t>20</a:t>
            </a:r>
            <a:r>
              <a:rPr lang="ko-KR" altLang="en-US" sz="2400" b="1" dirty="0" smtClean="0"/>
              <a:t>년간 온실가스 배출량 및 에너지  사용 증가</a:t>
            </a:r>
            <a:endParaRPr lang="ko-KR" altLang="en-US" sz="2400" b="1" dirty="0"/>
          </a:p>
        </p:txBody>
      </p:sp>
      <p:sp>
        <p:nvSpPr>
          <p:cNvPr id="19" name="직사각형 18"/>
          <p:cNvSpPr/>
          <p:nvPr/>
        </p:nvSpPr>
        <p:spPr>
          <a:xfrm>
            <a:off x="16383000" y="647700"/>
            <a:ext cx="1219200" cy="76200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직사각형 19"/>
          <p:cNvSpPr/>
          <p:nvPr/>
        </p:nvSpPr>
        <p:spPr>
          <a:xfrm>
            <a:off x="3810000" y="8724900"/>
            <a:ext cx="2209800" cy="60960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TextBox 20">
            <a:extLst>
              <a:ext uri="{FF2B5EF4-FFF2-40B4-BE49-F238E27FC236}">
                <a16:creationId xmlns="" xmlns:a16="http://schemas.microsoft.com/office/drawing/2014/main" id="{9868D4D3-D354-8A4A-E870-E4A7DA56A02E}"/>
              </a:ext>
            </a:extLst>
          </p:cNvPr>
          <p:cNvSpPr txBox="1"/>
          <p:nvPr/>
        </p:nvSpPr>
        <p:spPr>
          <a:xfrm>
            <a:off x="14782800" y="1562100"/>
            <a:ext cx="3276600" cy="830997"/>
          </a:xfrm>
          <a:prstGeom prst="rect">
            <a:avLst/>
          </a:prstGeom>
          <a:noFill/>
        </p:spPr>
        <p:txBody>
          <a:bodyPr wrap="square" rtlCol="0">
            <a:spAutoFit/>
          </a:bodyPr>
          <a:lstStyle/>
          <a:p>
            <a:r>
              <a:rPr lang="ko-KR" altLang="en-US" sz="2200" b="1" dirty="0" smtClean="0">
                <a:latin typeface="+mn-ea"/>
              </a:rPr>
              <a:t>중국：</a:t>
            </a:r>
            <a:r>
              <a:rPr lang="ko-KR" altLang="en-US" sz="2400" dirty="0" smtClean="0"/>
              <a:t> 대규모 산업화</a:t>
            </a:r>
            <a:r>
              <a:rPr lang="en-US" altLang="ko-KR" sz="2400" dirty="0" smtClean="0"/>
              <a:t>,</a:t>
            </a:r>
          </a:p>
          <a:p>
            <a:r>
              <a:rPr lang="ko-KR" altLang="en-US" sz="2400" dirty="0" smtClean="0"/>
              <a:t>시멘트 산업 발전 </a:t>
            </a:r>
            <a:endParaRPr lang="en-US" altLang="ko-KR" sz="2200" b="1" dirty="0">
              <a:latin typeface="+mn-ea"/>
            </a:endParaRPr>
          </a:p>
        </p:txBody>
      </p:sp>
      <p:sp>
        <p:nvSpPr>
          <p:cNvPr id="22" name="TextBox 21">
            <a:extLst>
              <a:ext uri="{FF2B5EF4-FFF2-40B4-BE49-F238E27FC236}">
                <a16:creationId xmlns="" xmlns:a16="http://schemas.microsoft.com/office/drawing/2014/main" id="{9868D4D3-D354-8A4A-E870-E4A7DA56A02E}"/>
              </a:ext>
            </a:extLst>
          </p:cNvPr>
          <p:cNvSpPr txBox="1"/>
          <p:nvPr/>
        </p:nvSpPr>
        <p:spPr>
          <a:xfrm>
            <a:off x="6096000" y="8801100"/>
            <a:ext cx="4876800" cy="461665"/>
          </a:xfrm>
          <a:prstGeom prst="rect">
            <a:avLst/>
          </a:prstGeom>
          <a:noFill/>
        </p:spPr>
        <p:txBody>
          <a:bodyPr wrap="square" rtlCol="0">
            <a:spAutoFit/>
          </a:bodyPr>
          <a:lstStyle/>
          <a:p>
            <a:r>
              <a:rPr lang="ko-KR" altLang="en-US" sz="2200" b="1" dirty="0" smtClean="0">
                <a:latin typeface="+mn-ea"/>
              </a:rPr>
              <a:t>미국：</a:t>
            </a:r>
            <a:r>
              <a:rPr lang="ko-KR" altLang="en-US" sz="2400" dirty="0" smtClean="0"/>
              <a:t> 산업 고도화</a:t>
            </a:r>
            <a:r>
              <a:rPr lang="en-US" altLang="ko-KR" sz="2400" dirty="0" smtClean="0"/>
              <a:t>, </a:t>
            </a:r>
            <a:r>
              <a:rPr lang="ko-KR" altLang="en-US" sz="2400" dirty="0" smtClean="0"/>
              <a:t>효율 개선</a:t>
            </a:r>
            <a:endParaRPr lang="en-US" altLang="ko-KR" sz="2200" b="1" dirty="0">
              <a:latin typeface="+mn-ea"/>
            </a:endParaRPr>
          </a:p>
        </p:txBody>
      </p:sp>
      <p:sp>
        <p:nvSpPr>
          <p:cNvPr id="23" name="위쪽 화살표 22"/>
          <p:cNvSpPr/>
          <p:nvPr/>
        </p:nvSpPr>
        <p:spPr>
          <a:xfrm>
            <a:off x="14554200" y="3848100"/>
            <a:ext cx="533400" cy="167640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TextBox 23">
            <a:extLst>
              <a:ext uri="{FF2B5EF4-FFF2-40B4-BE49-F238E27FC236}">
                <a16:creationId xmlns="" xmlns:a16="http://schemas.microsoft.com/office/drawing/2014/main" id="{9868D4D3-D354-8A4A-E870-E4A7DA56A02E}"/>
              </a:ext>
            </a:extLst>
          </p:cNvPr>
          <p:cNvSpPr txBox="1"/>
          <p:nvPr/>
        </p:nvSpPr>
        <p:spPr>
          <a:xfrm>
            <a:off x="15011400" y="4457700"/>
            <a:ext cx="2743200" cy="769441"/>
          </a:xfrm>
          <a:prstGeom prst="rect">
            <a:avLst/>
          </a:prstGeom>
          <a:noFill/>
        </p:spPr>
        <p:txBody>
          <a:bodyPr wrap="square" rtlCol="0">
            <a:spAutoFit/>
          </a:bodyPr>
          <a:lstStyle/>
          <a:p>
            <a:r>
              <a:rPr lang="ko-KR" altLang="en-US" sz="2200" b="1" dirty="0" smtClean="0">
                <a:latin typeface="+mn-ea"/>
              </a:rPr>
              <a:t>석탄 기반　에너지　사용 증가</a:t>
            </a:r>
            <a:endParaRPr lang="en-US" altLang="ko-KR" sz="2200" b="1" dirty="0">
              <a:latin typeface="+mn-ea"/>
            </a:endParaRPr>
          </a:p>
        </p:txBody>
      </p:sp>
      <p:sp>
        <p:nvSpPr>
          <p:cNvPr id="25" name="TextBox 24">
            <a:extLst>
              <a:ext uri="{FF2B5EF4-FFF2-40B4-BE49-F238E27FC236}">
                <a16:creationId xmlns="" xmlns:a16="http://schemas.microsoft.com/office/drawing/2014/main" id="{9868D4D3-D354-8A4A-E870-E4A7DA56A02E}"/>
              </a:ext>
            </a:extLst>
          </p:cNvPr>
          <p:cNvSpPr txBox="1"/>
          <p:nvPr/>
        </p:nvSpPr>
        <p:spPr>
          <a:xfrm>
            <a:off x="15087600" y="7200900"/>
            <a:ext cx="2895600" cy="1200329"/>
          </a:xfrm>
          <a:prstGeom prst="rect">
            <a:avLst/>
          </a:prstGeom>
          <a:noFill/>
        </p:spPr>
        <p:txBody>
          <a:bodyPr wrap="square" rtlCol="0">
            <a:spAutoFit/>
          </a:bodyPr>
          <a:lstStyle/>
          <a:p>
            <a:r>
              <a:rPr lang="ko-KR" altLang="en-US" sz="2400" b="1" dirty="0" smtClean="0">
                <a:latin typeface="+mn-ea"/>
              </a:rPr>
              <a:t>가스</a:t>
            </a:r>
            <a:r>
              <a:rPr lang="en-US" altLang="ko-KR" sz="2400" b="1" dirty="0" smtClean="0">
                <a:latin typeface="+mn-ea"/>
              </a:rPr>
              <a:t>, </a:t>
            </a:r>
            <a:r>
              <a:rPr lang="ko-KR" altLang="en-US" sz="2400" b="1" dirty="0" smtClean="0">
                <a:latin typeface="+mn-ea"/>
              </a:rPr>
              <a:t>석유</a:t>
            </a:r>
            <a:r>
              <a:rPr lang="en-US" altLang="ko-KR" sz="2400" b="1" dirty="0" smtClean="0">
                <a:latin typeface="+mn-ea"/>
              </a:rPr>
              <a:t>, </a:t>
            </a:r>
            <a:r>
              <a:rPr lang="ko-KR" altLang="en-US" sz="2400" b="1" dirty="0" smtClean="0">
                <a:latin typeface="+mn-ea"/>
              </a:rPr>
              <a:t>원자력 기반　에너지　사용 증가</a:t>
            </a:r>
            <a:endParaRPr lang="en-US" altLang="ko-KR" sz="2400" b="1" dirty="0">
              <a:latin typeface="+mn-ea"/>
            </a:endParaRPr>
          </a:p>
        </p:txBody>
      </p:sp>
      <p:sp>
        <p:nvSpPr>
          <p:cNvPr id="26" name="아래쪽 화살표 25"/>
          <p:cNvSpPr/>
          <p:nvPr/>
        </p:nvSpPr>
        <p:spPr>
          <a:xfrm>
            <a:off x="14554200" y="7124700"/>
            <a:ext cx="533400" cy="1600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타원 26"/>
          <p:cNvSpPr/>
          <p:nvPr/>
        </p:nvSpPr>
        <p:spPr>
          <a:xfrm>
            <a:off x="9906000" y="647700"/>
            <a:ext cx="3429000" cy="2590800"/>
          </a:xfrm>
          <a:prstGeom prst="ellipse">
            <a:avLst/>
          </a:prstGeom>
          <a:noFill/>
          <a:ln w="571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p:bldP spid="22" grpId="0"/>
      <p:bldP spid="2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229BEE"/>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cstate="print"/>
          <a:stretch>
            <a:fillRect/>
          </a:stretch>
        </p:blipFill>
        <p:spPr>
          <a:xfrm>
            <a:off x="292100" y="292100"/>
            <a:ext cx="17716500" cy="9715500"/>
          </a:xfrm>
          <a:prstGeom prst="rect">
            <a:avLst/>
          </a:prstGeom>
        </p:spPr>
      </p:pic>
      <p:pic>
        <p:nvPicPr>
          <p:cNvPr id="4" name="Picture 4"/>
          <p:cNvPicPr>
            <a:picLocks noChangeAspect="1"/>
          </p:cNvPicPr>
          <p:nvPr/>
        </p:nvPicPr>
        <p:blipFill>
          <a:blip r:embed="rId3" cstate="print"/>
          <a:stretch>
            <a:fillRect/>
          </a:stretch>
        </p:blipFill>
        <p:spPr>
          <a:xfrm>
            <a:off x="16611600" y="0"/>
            <a:ext cx="673100" cy="965200"/>
          </a:xfrm>
          <a:prstGeom prst="rect">
            <a:avLst/>
          </a:prstGeom>
        </p:spPr>
      </p:pic>
      <p:sp>
        <p:nvSpPr>
          <p:cNvPr id="5" name="TextBox 5"/>
          <p:cNvSpPr txBox="1"/>
          <p:nvPr/>
        </p:nvSpPr>
        <p:spPr>
          <a:xfrm>
            <a:off x="6108700" y="3365500"/>
            <a:ext cx="8293100" cy="3378200"/>
          </a:xfrm>
          <a:prstGeom prst="rect">
            <a:avLst/>
          </a:prstGeom>
        </p:spPr>
        <p:txBody>
          <a:bodyPr lIns="0" tIns="0" rIns="0" bIns="0" rtlCol="0" anchor="ctr"/>
          <a:lstStyle/>
          <a:p>
            <a:pPr lvl="0" algn="l">
              <a:lnSpc>
                <a:spcPct val="115287"/>
              </a:lnSpc>
            </a:pPr>
            <a:r>
              <a:rPr lang="ko-KR" altLang="en-US" sz="9600" dirty="0" smtClean="0">
                <a:solidFill>
                  <a:srgbClr val="229BEE"/>
                </a:solidFill>
                <a:latin typeface="Noto Sans KR Medium" pitchFamily="50" charset="-127"/>
                <a:ea typeface="Noto Sans KR Medium" pitchFamily="50" charset="-127"/>
              </a:rPr>
              <a:t>감사합니다</a:t>
            </a:r>
            <a:endParaRPr lang="en-US" sz="9600" b="0" i="0" u="none" strike="noStrike" dirty="0">
              <a:solidFill>
                <a:srgbClr val="229BEE"/>
              </a:solidFill>
              <a:latin typeface="Noto Sans KR Medium" pitchFamily="50" charset="-127"/>
              <a:ea typeface="Noto Sans KR Medium" pitchFamily="50" charset="-127"/>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2728</TotalTime>
  <Words>1010</Words>
  <Application>Microsoft Office PowerPoint</Application>
  <PresentationFormat>사용자 지정</PresentationFormat>
  <Paragraphs>281</Paragraphs>
  <Slides>34</Slides>
  <Notes>21</Notes>
  <HiddenSlides>0</HiddenSlides>
  <MMClips>0</MMClips>
  <ScaleCrop>false</ScaleCrop>
  <HeadingPairs>
    <vt:vector size="4" baseType="variant">
      <vt:variant>
        <vt:lpstr>테마</vt:lpstr>
      </vt:variant>
      <vt:variant>
        <vt:i4>1</vt:i4>
      </vt:variant>
      <vt:variant>
        <vt:lpstr>슬라이드 제목</vt:lpstr>
      </vt:variant>
      <vt:variant>
        <vt:i4>34</vt:i4>
      </vt:variant>
    </vt:vector>
  </HeadingPairs>
  <TitlesOfParts>
    <vt:vector size="35" baseType="lpstr">
      <vt:lpstr>Office Theme</vt:lpstr>
      <vt:lpstr>슬라이드 1</vt:lpstr>
      <vt:lpstr>슬라이드 2</vt:lpstr>
      <vt:lpstr>슬라이드 3</vt:lpstr>
      <vt:lpstr>슬라이드 4</vt:lpstr>
      <vt:lpstr>슬라이드 5</vt:lpstr>
      <vt:lpstr>슬라이드 6</vt:lpstr>
      <vt:lpstr>슬라이드 7</vt:lpstr>
      <vt:lpstr>슬라이드 8</vt:lpstr>
      <vt:lpstr>슬라이드 9</vt:lpstr>
      <vt:lpstr>슬라이드 10</vt:lpstr>
      <vt:lpstr>슬라이드 11</vt:lpstr>
      <vt:lpstr>슬라이드 12</vt:lpstr>
      <vt:lpstr>슬라이드 13</vt:lpstr>
      <vt:lpstr>슬라이드 14</vt:lpstr>
      <vt:lpstr>슬라이드 15</vt:lpstr>
      <vt:lpstr>슬라이드 16</vt:lpstr>
      <vt:lpstr>슬라이드 17</vt:lpstr>
      <vt:lpstr>슬라이드 18</vt:lpstr>
      <vt:lpstr>슬라이드 19</vt:lpstr>
      <vt:lpstr>슬라이드 20</vt:lpstr>
      <vt:lpstr>슬라이드 21</vt:lpstr>
      <vt:lpstr>슬라이드 22</vt:lpstr>
      <vt:lpstr>슬라이드 23</vt:lpstr>
      <vt:lpstr>슬라이드 24</vt:lpstr>
      <vt:lpstr>슬라이드 25</vt:lpstr>
      <vt:lpstr>슬라이드 26</vt:lpstr>
      <vt:lpstr>슬라이드 27</vt:lpstr>
      <vt:lpstr>슬라이드 28</vt:lpstr>
      <vt:lpstr>슬라이드 29</vt:lpstr>
      <vt:lpstr>슬라이드 30</vt:lpstr>
      <vt:lpstr>슬라이드 31</vt:lpstr>
      <vt:lpstr>슬라이드 32</vt:lpstr>
      <vt:lpstr>슬라이드 33</vt:lpstr>
      <vt:lpstr>슬라이드 34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슬라이드 1</dc:title>
  <dc:creator>yujin</dc:creator>
  <cp:lastModifiedBy>강유진</cp:lastModifiedBy>
  <cp:revision>289</cp:revision>
  <dcterms:created xsi:type="dcterms:W3CDTF">2006-08-16T00:00:00Z</dcterms:created>
  <dcterms:modified xsi:type="dcterms:W3CDTF">2025-06-01T07:15:13Z</dcterms:modified>
</cp:coreProperties>
</file>