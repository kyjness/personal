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3" r:id="rId2"/>
    <p:sldId id="284" r:id="rId3"/>
    <p:sldId id="285" r:id="rId4"/>
    <p:sldId id="286" r:id="rId5"/>
    <p:sldId id="310" r:id="rId6"/>
    <p:sldId id="289" r:id="rId7"/>
    <p:sldId id="308" r:id="rId8"/>
    <p:sldId id="309" r:id="rId9"/>
    <p:sldId id="290" r:id="rId10"/>
    <p:sldId id="291" r:id="rId11"/>
    <p:sldId id="292" r:id="rId12"/>
    <p:sldId id="293" r:id="rId13"/>
    <p:sldId id="303" r:id="rId14"/>
    <p:sldId id="294" r:id="rId15"/>
    <p:sldId id="295" r:id="rId16"/>
    <p:sldId id="305" r:id="rId17"/>
    <p:sldId id="301" r:id="rId18"/>
    <p:sldId id="302" r:id="rId19"/>
    <p:sldId id="311" r:id="rId20"/>
    <p:sldId id="307" r:id="rId21"/>
    <p:sldId id="33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1276" autoAdjust="0"/>
    <p:restoredTop sz="94159" autoAdjust="0"/>
  </p:normalViewPr>
  <p:slideViewPr>
    <p:cSldViewPr snapToGrid="0" snapToObjects="1">
      <p:cViewPr varScale="1">
        <p:scale>
          <a:sx n="105" d="100"/>
          <a:sy n="105" d="100"/>
        </p:scale>
        <p:origin x="-87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4118F-5E53-4E6B-977E-D9DAEADEC46B}" type="datetimeFigureOut">
              <a:rPr lang="ko-KR" altLang="en-US" smtClean="0"/>
              <a:pPr/>
              <a:t>2025-05-11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C68AA-C49D-4E51-84FB-7841E26EB3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이진분류</a:t>
            </a:r>
            <a:r>
              <a:rPr lang="en-US" altLang="ko-KR" dirty="0" smtClean="0"/>
              <a:t>,</a:t>
            </a:r>
            <a:r>
              <a:rPr lang="ko-KR" altLang="en-US" dirty="0" smtClean="0"/>
              <a:t>다중분류</a:t>
            </a:r>
            <a:r>
              <a:rPr lang="en-US" altLang="ko-KR" dirty="0" smtClean="0"/>
              <a:t>,</a:t>
            </a:r>
            <a:r>
              <a:rPr lang="ko-KR" altLang="en-US" dirty="0" smtClean="0"/>
              <a:t>회귀 </a:t>
            </a:r>
            <a:r>
              <a:rPr lang="ko-KR" altLang="en-US" dirty="0" err="1" smtClean="0"/>
              <a:t>냐에</a:t>
            </a:r>
            <a:r>
              <a:rPr lang="ko-KR" altLang="en-US" dirty="0" smtClean="0"/>
              <a:t> 따라 세부구조는 다름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차원 </a:t>
            </a:r>
            <a:r>
              <a:rPr lang="ko-KR" altLang="en-US" dirty="0" err="1" smtClean="0"/>
              <a:t>데이터셋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최대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주성분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군집 알고리즘을 사용해 비슷한 샘플을 한 그룹으로 모음</a:t>
            </a:r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레이블이 없는 샘플에 클러스터에서 가장 많이 등장하는 레이블 할당</a:t>
            </a:r>
            <a:endParaRPr lang="en-US" altLang="ko-KR" dirty="0" smtClean="0"/>
          </a:p>
          <a:p>
            <a:r>
              <a:rPr lang="en-US" altLang="ko-KR" dirty="0" smtClean="0"/>
              <a:t>3.</a:t>
            </a:r>
            <a:r>
              <a:rPr lang="ko-KR" altLang="en-US" dirty="0" smtClean="0"/>
              <a:t>지도 학습 알고리즘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고양이의 가려진 부분을 모델에 입력</a:t>
            </a:r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주변 바탕으로 </a:t>
            </a:r>
            <a:r>
              <a:rPr lang="ko-KR" altLang="en-US" dirty="0" err="1" smtClean="0"/>
              <a:t>마스킹된</a:t>
            </a:r>
            <a:r>
              <a:rPr lang="ko-KR" altLang="en-US" dirty="0" smtClean="0"/>
              <a:t> 부분 예측</a:t>
            </a:r>
            <a:endParaRPr lang="en-US" altLang="ko-KR" dirty="0" smtClean="0"/>
          </a:p>
          <a:p>
            <a:r>
              <a:rPr lang="en-US" altLang="ko-KR" dirty="0" smtClean="0"/>
              <a:t>3.</a:t>
            </a:r>
            <a:r>
              <a:rPr lang="ko-KR" altLang="en-US" dirty="0" smtClean="0"/>
              <a:t>실제 원본 이미지와 비교하며 학습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C68AA-C49D-4E51-84FB-7841E26EB3F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117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00" dirty="0" err="1" smtClean="0">
                <a:solidFill>
                  <a:srgbClr val="444444"/>
                </a:solidFill>
                <a:ea typeface="ONE Mobile Title OTF"/>
              </a:rPr>
              <a:t>머신러닝</a:t>
            </a:r>
            <a:r>
              <a:rPr lang="ko-KR" altLang="en-US" sz="3900" dirty="0" smtClean="0">
                <a:solidFill>
                  <a:srgbClr val="444444"/>
                </a:solidFill>
                <a:ea typeface="ONE Mobile Title OTF"/>
              </a:rPr>
              <a:t> 개념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6292" y="1778110"/>
            <a:ext cx="477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인공지능</a:t>
            </a:r>
            <a:r>
              <a:rPr lang="en-US" altLang="ko-KR" dirty="0" smtClean="0"/>
              <a:t>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머신러닝</a:t>
            </a:r>
            <a:r>
              <a:rPr lang="ko-KR" altLang="en-US" dirty="0" smtClean="0"/>
              <a:t> </a:t>
            </a:r>
            <a:r>
              <a:rPr lang="en-US" altLang="ko-KR" dirty="0" smtClean="0"/>
              <a:t>Ↄ</a:t>
            </a:r>
            <a:r>
              <a:rPr lang="ko-KR" altLang="en-US" dirty="0" err="1" smtClean="0"/>
              <a:t>딥러닝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6900" y="5162913"/>
            <a:ext cx="7412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err="1" smtClean="0"/>
              <a:t>머신러닝과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딥러닝의</a:t>
            </a:r>
            <a:r>
              <a:rPr lang="ko-KR" altLang="en-US" dirty="0" smtClean="0"/>
              <a:t> 차이점</a:t>
            </a:r>
            <a:r>
              <a:rPr lang="en-US" altLang="ko-KR" dirty="0" smtClean="0"/>
              <a:t>: </a:t>
            </a:r>
          </a:p>
          <a:p>
            <a:r>
              <a:rPr lang="ko-KR" altLang="en-US" b="1" dirty="0" err="1" smtClean="0"/>
              <a:t>머신러닝</a:t>
            </a:r>
            <a:r>
              <a:rPr lang="ko-KR" altLang="en-US" dirty="0" err="1" smtClean="0"/>
              <a:t>은</a:t>
            </a:r>
            <a:r>
              <a:rPr lang="ko-KR" altLang="en-US" dirty="0" smtClean="0"/>
              <a:t> 사람이 직접 모델에 넣을 특징</a:t>
            </a:r>
            <a:r>
              <a:rPr lang="en-US" altLang="ko-KR" dirty="0" smtClean="0"/>
              <a:t>(feature) 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추출하는 방식</a:t>
            </a:r>
            <a:r>
              <a:rPr lang="en-US" altLang="ko-KR" dirty="0" smtClean="0"/>
              <a:t>,</a:t>
            </a:r>
          </a:p>
          <a:p>
            <a:r>
              <a:rPr lang="ko-KR" altLang="en-US" b="1" dirty="0" err="1" smtClean="0"/>
              <a:t>딥러닝</a:t>
            </a:r>
            <a:r>
              <a:rPr lang="ko-KR" altLang="en-US" dirty="0" err="1" smtClean="0"/>
              <a:t>은</a:t>
            </a:r>
            <a:r>
              <a:rPr lang="ko-KR" altLang="en-US" dirty="0" smtClean="0"/>
              <a:t> 스스로 특징을 뽑아내는 방식</a:t>
            </a:r>
            <a:endParaRPr lang="ko-KR" altLang="en-US" dirty="0"/>
          </a:p>
        </p:txBody>
      </p:sp>
      <p:pic>
        <p:nvPicPr>
          <p:cNvPr id="11" name="Picture 5" descr="https://wikidocs.net/images/page/222889/%EC%8A%A4%ED%81%AC%EB%A6%B0%EC%83%B7_2023-11-24_135037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1691" y="2165034"/>
            <a:ext cx="8549313" cy="26971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00" dirty="0" err="1" smtClean="0">
                <a:solidFill>
                  <a:srgbClr val="444444"/>
                </a:solidFill>
                <a:ea typeface="ONE Mobile Title OTF"/>
              </a:rPr>
              <a:t>머신러닝</a:t>
            </a:r>
            <a:r>
              <a:rPr lang="ko-KR" altLang="en-US" sz="3900" dirty="0" smtClean="0">
                <a:solidFill>
                  <a:srgbClr val="444444"/>
                </a:solidFill>
                <a:ea typeface="ONE Mobile Title OTF"/>
              </a:rPr>
              <a:t> 종류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6900" y="2004646"/>
            <a:ext cx="46423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2800" dirty="0" smtClean="0"/>
              <a:t>훈련 지도 방식에 따라</a:t>
            </a:r>
            <a:endParaRPr lang="en-US" altLang="ko-KR" sz="2800" dirty="0" smtClean="0"/>
          </a:p>
          <a:p>
            <a:r>
              <a:rPr lang="en-US" altLang="ko-KR" sz="2800" dirty="0" smtClean="0"/>
              <a:t>	①</a:t>
            </a:r>
            <a:r>
              <a:rPr lang="ko-KR" altLang="en-US" sz="2800" dirty="0" smtClean="0"/>
              <a:t>지도학습</a:t>
            </a:r>
            <a:endParaRPr lang="en-US" altLang="ko-KR" sz="2800" dirty="0" smtClean="0"/>
          </a:p>
          <a:p>
            <a:r>
              <a:rPr lang="en-US" altLang="ko-KR" sz="2800" dirty="0" smtClean="0"/>
              <a:t>	②</a:t>
            </a:r>
            <a:r>
              <a:rPr lang="ko-KR" altLang="en-US" sz="2800" dirty="0" smtClean="0"/>
              <a:t>비지도 학습</a:t>
            </a:r>
            <a:endParaRPr lang="en-US" altLang="ko-KR" sz="2800" dirty="0" smtClean="0"/>
          </a:p>
          <a:p>
            <a:r>
              <a:rPr lang="en-US" altLang="ko-KR" sz="2800" dirty="0" smtClean="0"/>
              <a:t>	③</a:t>
            </a:r>
            <a:r>
              <a:rPr lang="ko-KR" altLang="en-US" sz="2800" dirty="0" smtClean="0"/>
              <a:t>강화 학습</a:t>
            </a:r>
            <a:endParaRPr lang="en-US" altLang="ko-KR" sz="2800" dirty="0" smtClean="0"/>
          </a:p>
          <a:p>
            <a:r>
              <a:rPr lang="en-US" altLang="ko-KR" sz="2800" dirty="0" smtClean="0"/>
              <a:t>	④</a:t>
            </a:r>
            <a:r>
              <a:rPr lang="ko-KR" altLang="en-US" sz="2800" dirty="0" smtClean="0"/>
              <a:t>준지도 학습</a:t>
            </a:r>
            <a:endParaRPr lang="en-US" altLang="ko-KR" sz="2800" dirty="0" smtClean="0"/>
          </a:p>
          <a:p>
            <a:r>
              <a:rPr lang="en-US" altLang="ko-KR" sz="2800" dirty="0" smtClean="0"/>
              <a:t>	⑤</a:t>
            </a:r>
            <a:r>
              <a:rPr lang="ko-KR" altLang="en-US" sz="2800" dirty="0" smtClean="0"/>
              <a:t>자기 지도 학습</a:t>
            </a:r>
            <a:endParaRPr lang="ko-KR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①지도 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900" y="1667933"/>
            <a:ext cx="768545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ko-KR" altLang="en-US" dirty="0" smtClean="0"/>
              <a:t>라벨이 있는 데이터를 사용해서 정답을 맞추는 학습 방식</a:t>
            </a:r>
            <a:r>
              <a:rPr lang="en-US" altLang="ko-KR" dirty="0" smtClean="0"/>
              <a:t>.</a:t>
            </a:r>
          </a:p>
          <a:p>
            <a:pPr lvl="0"/>
            <a:r>
              <a:rPr lang="ko-KR" altLang="en-US" dirty="0" smtClean="0"/>
              <a:t>주로 분류</a:t>
            </a:r>
            <a:r>
              <a:rPr lang="en-US" altLang="ko-KR" dirty="0" smtClean="0"/>
              <a:t>,</a:t>
            </a:r>
            <a:r>
              <a:rPr lang="ko-KR" altLang="en-US" dirty="0" smtClean="0"/>
              <a:t>회귀 문제에 사용</a:t>
            </a:r>
            <a:endParaRPr lang="ko-KR" altLang="en-US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/>
          <a:srcRect l="2115" t="2878"/>
          <a:stretch>
            <a:fillRect/>
          </a:stretch>
        </p:blipFill>
        <p:spPr bwMode="auto">
          <a:xfrm>
            <a:off x="105511" y="2375808"/>
            <a:ext cx="8950569" cy="4386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①지도 학습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-[</a:t>
            </a:r>
            <a:r>
              <a:rPr lang="ko-KR" altLang="en-US" sz="2400" dirty="0" smtClean="0">
                <a:solidFill>
                  <a:srgbClr val="444444"/>
                </a:solidFill>
                <a:ea typeface="ONE Mobile Title OTF"/>
              </a:rPr>
              <a:t>사전지식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]</a:t>
            </a:r>
            <a:endParaRPr lang="ko-KR" altLang="en-US" sz="2400" dirty="0" smtClean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24580" name="AutoShape 4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2" name="AutoShape 6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4" name="AutoShape 8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6" name="AutoShape 10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8" name="AutoShape 12" descr="앙상블 학습의 유형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4589" name="Picture 1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01262" y="2984743"/>
            <a:ext cx="6238826" cy="2914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73075" y="1872762"/>
            <a:ext cx="770963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914400" latinLnBrk="1">
              <a:defRPr/>
            </a:pPr>
            <a:r>
              <a:rPr lang="ko-KR" altLang="en-US" dirty="0" smtClean="0"/>
              <a:t>앙상블 기법</a:t>
            </a:r>
            <a:endParaRPr lang="en-US" altLang="ko-KR" dirty="0" smtClean="0"/>
          </a:p>
          <a:p>
            <a:pPr defTabSz="914400" latinLnBrk="1">
              <a:defRPr/>
            </a:pPr>
            <a:r>
              <a:rPr lang="en-US" altLang="ko-KR" dirty="0" smtClean="0"/>
              <a:t>:</a:t>
            </a:r>
            <a:r>
              <a:rPr lang="ko-KR" altLang="en-US" dirty="0" smtClean="0"/>
              <a:t>여러 모델의 예측 결과를 결합하는 기법으로 주로 지도학습에서 사용됨</a:t>
            </a:r>
            <a:endParaRPr lang="en-US" altLang="ko-KR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24580" name="AutoShape 4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2" name="AutoShape 6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4" name="AutoShape 8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6" name="AutoShape 10" descr="Types of Ensemble Learning - GeeksforGeeks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588" name="AutoShape 12" descr="앙상블 학습의 유형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4" name="Picture 2" descr="https://velog.velcdn.com/images/kimminyoung0/post/0e9b407e-81d5-480b-bf0c-47375704c42e/image.jpeg"/>
          <p:cNvPicPr>
            <a:picLocks noChangeAspect="1" noChangeArrowheads="1"/>
          </p:cNvPicPr>
          <p:nvPr/>
        </p:nvPicPr>
        <p:blipFill>
          <a:blip r:embed="rId5"/>
          <a:srcRect r="9623" b="1171"/>
          <a:stretch>
            <a:fillRect/>
          </a:stretch>
        </p:blipFill>
        <p:spPr bwMode="auto">
          <a:xfrm>
            <a:off x="263769" y="1600202"/>
            <a:ext cx="5336931" cy="5196250"/>
          </a:xfrm>
          <a:prstGeom prst="rect">
            <a:avLst/>
          </a:prstGeom>
          <a:noFill/>
        </p:spPr>
      </p:pic>
      <p:pic>
        <p:nvPicPr>
          <p:cNvPr id="24591" name="Picture 15" descr="모델의 예측 성능 향상시키기-(배깅, 랜덤포레스트, 부스팅) | GDSC UO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62248" y="3508131"/>
            <a:ext cx="3429000" cy="3288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600700" y="1776046"/>
            <a:ext cx="3543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</a:t>
            </a:r>
            <a:r>
              <a:rPr lang="ko-KR" altLang="en-US" dirty="0" err="1" smtClean="0"/>
              <a:t>부스팅</a:t>
            </a:r>
            <a:r>
              <a:rPr lang="en-US" altLang="ko-KR" dirty="0" smtClean="0"/>
              <a:t>&gt;</a:t>
            </a:r>
          </a:p>
          <a:p>
            <a:pPr algn="ctr"/>
            <a:r>
              <a:rPr lang="en-US" altLang="ko-KR" dirty="0" smtClean="0"/>
              <a:t> </a:t>
            </a:r>
            <a:r>
              <a:rPr lang="ko-KR" altLang="en-US" dirty="0" smtClean="0"/>
              <a:t>약한 </a:t>
            </a:r>
            <a:r>
              <a:rPr lang="ko-KR" altLang="en-US" dirty="0" err="1" smtClean="0"/>
              <a:t>학습기를</a:t>
            </a:r>
            <a:r>
              <a:rPr lang="ko-KR" altLang="en-US" dirty="0" smtClean="0"/>
              <a:t> 순차적으로 학습시키며</a:t>
            </a:r>
            <a:r>
              <a:rPr lang="en-US" altLang="ko-KR" dirty="0" smtClean="0"/>
              <a:t>,</a:t>
            </a:r>
            <a:r>
              <a:rPr lang="ko-KR" altLang="en-US" dirty="0" smtClean="0"/>
              <a:t>이전 모델이 틀린 예측에 가중치를 부여하여 오류를 개선해나가는 학습 방식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96163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①지도 학습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-[</a:t>
            </a:r>
            <a:r>
              <a:rPr lang="ko-KR" altLang="en-US" sz="2400" dirty="0" smtClean="0">
                <a:solidFill>
                  <a:srgbClr val="444444"/>
                </a:solidFill>
                <a:ea typeface="ONE Mobile Title OTF"/>
              </a:rPr>
              <a:t>사전지식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]</a:t>
            </a:r>
            <a:endParaRPr lang="ko-KR" altLang="en-US" sz="2400" dirty="0" smtClean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①지도 학습</a:t>
            </a:r>
            <a:r>
              <a:rPr lang="en-US" altLang="ko-KR" sz="2800" dirty="0" smtClean="0">
                <a:solidFill>
                  <a:srgbClr val="444444"/>
                </a:solidFill>
                <a:ea typeface="ONE Mobile Title OTF"/>
              </a:rPr>
              <a:t>-[</a:t>
            </a:r>
            <a:r>
              <a:rPr lang="ko-KR" altLang="en-US" sz="2800" dirty="0" smtClean="0">
                <a:solidFill>
                  <a:srgbClr val="444444"/>
                </a:solidFill>
                <a:ea typeface="ONE Mobile Title OTF"/>
              </a:rPr>
              <a:t>사전지식</a:t>
            </a:r>
            <a:r>
              <a:rPr lang="en-US" altLang="ko-KR" sz="2800" dirty="0" smtClean="0">
                <a:solidFill>
                  <a:srgbClr val="444444"/>
                </a:solidFill>
                <a:ea typeface="ONE Mobile Title OTF"/>
              </a:rPr>
              <a:t>]</a:t>
            </a:r>
            <a:endParaRPr lang="ko-KR" altLang="en-US" sz="28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6900" y="1837592"/>
            <a:ext cx="768545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ko-KR" altLang="en-US" dirty="0" err="1" smtClean="0"/>
              <a:t>스태킹</a:t>
            </a:r>
            <a:r>
              <a:rPr lang="en-US" altLang="ko-KR" dirty="0" smtClean="0"/>
              <a:t>(Stacking):</a:t>
            </a:r>
            <a:r>
              <a:rPr lang="ko-KR" altLang="en-US" dirty="0" smtClean="0"/>
              <a:t>여러 개의 서로 다른 모델의 </a:t>
            </a:r>
            <a:r>
              <a:rPr lang="ko-KR" altLang="en-US" dirty="0" err="1" smtClean="0"/>
              <a:t>예측값을</a:t>
            </a:r>
            <a:r>
              <a:rPr lang="ko-KR" altLang="en-US" dirty="0" smtClean="0"/>
              <a:t> 다시 하나의 모델이 종합해서 최종 예측을 하는 방식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7052" y="5732583"/>
            <a:ext cx="103045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2000" dirty="0" smtClean="0"/>
              <a:t>구성</a:t>
            </a:r>
            <a:r>
              <a:rPr lang="en-US" altLang="ko-KR" sz="2000" dirty="0" smtClean="0"/>
              <a:t>:</a:t>
            </a:r>
            <a:r>
              <a:rPr lang="ko-KR" altLang="en-US" sz="2000" dirty="0" smtClean="0"/>
              <a:t>개별 기반 모델들 </a:t>
            </a:r>
            <a:r>
              <a:rPr lang="en-US" altLang="ko-KR" sz="2000" dirty="0" smtClean="0"/>
              <a:t>+ </a:t>
            </a:r>
            <a:r>
              <a:rPr lang="ko-KR" altLang="en-US" sz="2000" dirty="0" smtClean="0"/>
              <a:t>최종 메타 모델</a:t>
            </a:r>
            <a:endParaRPr lang="en-US" altLang="ko-KR" sz="2000" dirty="0" smtClean="0"/>
          </a:p>
          <a:p>
            <a:pPr>
              <a:buFont typeface="Arial" pitchFamily="34" charset="0"/>
              <a:buChar char="•"/>
            </a:pPr>
            <a:r>
              <a:rPr lang="ko-KR" altLang="en-US" sz="2000" dirty="0" smtClean="0"/>
              <a:t>교차검증기반으로 </a:t>
            </a:r>
            <a:r>
              <a:rPr lang="en-US" altLang="ko-KR" sz="2000" dirty="0" smtClean="0"/>
              <a:t>Base Model </a:t>
            </a:r>
            <a:r>
              <a:rPr lang="ko-KR" altLang="en-US" sz="2000" dirty="0" smtClean="0"/>
              <a:t>학습</a:t>
            </a:r>
            <a:endParaRPr lang="en-US" altLang="ko-KR" sz="2000" dirty="0" smtClean="0"/>
          </a:p>
          <a:p>
            <a:pPr>
              <a:buFont typeface="Arial" pitchFamily="34" charset="0"/>
              <a:buChar char="•"/>
            </a:pPr>
            <a:r>
              <a:rPr lang="ko-KR" altLang="en-US" sz="2000" dirty="0" smtClean="0"/>
              <a:t>각 모델마다의 </a:t>
            </a:r>
            <a:r>
              <a:rPr lang="ko-KR" altLang="en-US" sz="2000" dirty="0" err="1" smtClean="0"/>
              <a:t>예측값들을</a:t>
            </a:r>
            <a:r>
              <a:rPr lang="ko-KR" altLang="en-US" sz="2000" dirty="0" smtClean="0"/>
              <a:t> 세로로 붙여서 </a:t>
            </a:r>
            <a:r>
              <a:rPr lang="en-US" altLang="ko-KR" sz="2000" dirty="0" smtClean="0"/>
              <a:t>feature vector </a:t>
            </a:r>
            <a:r>
              <a:rPr lang="ko-KR" altLang="en-US" sz="2000" dirty="0" smtClean="0"/>
              <a:t>생성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새로운 </a:t>
            </a:r>
            <a:r>
              <a:rPr lang="ko-KR" altLang="en-US" sz="2000" dirty="0" err="1" smtClean="0"/>
              <a:t>데이터셋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  <p:pic>
        <p:nvPicPr>
          <p:cNvPr id="12292" name="Picture 4" descr="https://blog.kakaocdn.net/dn/GkEYY/btsJkmxxymY/66yQRjPPeK2xoQMbM22lY1/img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6899" y="2553921"/>
            <a:ext cx="7685455" cy="3143494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3305908" y="2998177"/>
            <a:ext cx="694592" cy="10550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3305908" y="4308231"/>
            <a:ext cx="694592" cy="8616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7878" y="606723"/>
            <a:ext cx="9100039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endParaRPr lang="en-US" altLang="ko-KR" sz="3900" dirty="0" smtClean="0">
              <a:solidFill>
                <a:srgbClr val="444444"/>
              </a:solidFill>
              <a:ea typeface="ONE Mobile Title OTF"/>
            </a:endParaRPr>
          </a:p>
          <a:p>
            <a:pPr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①지도 학습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-</a:t>
            </a:r>
            <a:r>
              <a:rPr lang="en-US" altLang="ko-KR" sz="2400" dirty="0" err="1" smtClean="0">
                <a:solidFill>
                  <a:srgbClr val="444444"/>
                </a:solidFill>
                <a:ea typeface="ONE Mobile Title OTF"/>
              </a:rPr>
              <a:t>XGBoost,Lightgbm,Catboost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 </a:t>
            </a:r>
            <a:r>
              <a:rPr lang="ko-KR" altLang="en-US" sz="2400" dirty="0" smtClean="0">
                <a:solidFill>
                  <a:srgbClr val="444444"/>
                </a:solidFill>
                <a:ea typeface="ONE Mobile Title OTF"/>
              </a:rPr>
              <a:t>구조</a:t>
            </a:r>
          </a:p>
          <a:p>
            <a:pPr lvl="0">
              <a:lnSpc>
                <a:spcPct val="99600"/>
              </a:lnSpc>
            </a:pPr>
            <a:endParaRPr lang="ko-KR" altLang="en-US" sz="2800" dirty="0" smtClean="0">
              <a:solidFill>
                <a:srgbClr val="444444"/>
              </a:solidFill>
              <a:ea typeface="ONE Mobile Title OTF"/>
            </a:endParaRPr>
          </a:p>
          <a:p>
            <a:pPr>
              <a:lnSpc>
                <a:spcPct val="99600"/>
              </a:lnSpc>
            </a:pPr>
            <a:endParaRPr lang="ko-KR" altLang="en-US" sz="20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1026" name="Picture 2" descr="Practical guidelines for the use of gradient boosting for molecular  property prediction | Journal of Cheminformatics | Full Tex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1885" y="1843779"/>
            <a:ext cx="8914109" cy="291286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0" y="4756639"/>
            <a:ext cx="33059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균형 트리 분할 방식</a:t>
            </a:r>
            <a:r>
              <a:rPr lang="en-US" altLang="ko-KR" dirty="0" smtClean="0"/>
              <a:t>&gt;</a:t>
            </a:r>
          </a:p>
          <a:p>
            <a:r>
              <a:rPr lang="ko-KR" altLang="en-US" dirty="0" err="1" smtClean="0"/>
              <a:t>트리의</a:t>
            </a:r>
            <a:r>
              <a:rPr lang="ko-KR" altLang="en-US" dirty="0" smtClean="0"/>
              <a:t> 깊이를 기준으로 모든 </a:t>
            </a:r>
            <a:r>
              <a:rPr lang="ko-KR" altLang="en-US" dirty="0" err="1" smtClean="0"/>
              <a:t>리프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노드를</a:t>
            </a:r>
            <a:r>
              <a:rPr lang="ko-KR" altLang="en-US" dirty="0" smtClean="0"/>
              <a:t> 동시에 분할해 </a:t>
            </a:r>
            <a:r>
              <a:rPr lang="ko-KR" altLang="en-US" dirty="0" err="1" smtClean="0"/>
              <a:t>트리를</a:t>
            </a:r>
            <a:r>
              <a:rPr lang="ko-KR" altLang="en-US" dirty="0" smtClean="0"/>
              <a:t> 균형적으로 확장하는 방식</a:t>
            </a:r>
            <a:endParaRPr lang="en-US" altLang="ko-KR" dirty="0" smtClean="0"/>
          </a:p>
          <a:p>
            <a:r>
              <a:rPr lang="en-US" altLang="ko-KR" dirty="0" smtClean="0"/>
              <a:t>-&gt;</a:t>
            </a:r>
            <a:r>
              <a:rPr lang="ko-KR" altLang="en-US" dirty="0" err="1" smtClean="0"/>
              <a:t>과적합</a:t>
            </a:r>
            <a:r>
              <a:rPr lang="ko-KR" altLang="en-US" dirty="0" smtClean="0"/>
              <a:t> 방지에 강한 구조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But </a:t>
            </a:r>
            <a:r>
              <a:rPr lang="ko-KR" altLang="en-US" dirty="0" smtClean="0"/>
              <a:t>불필요한 </a:t>
            </a:r>
            <a:r>
              <a:rPr lang="ko-KR" altLang="en-US" dirty="0" err="1" smtClean="0"/>
              <a:t>노드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학습시간↑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121271" y="4822567"/>
            <a:ext cx="32355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err="1" smtClean="0"/>
              <a:t>리프</a:t>
            </a:r>
            <a:r>
              <a:rPr lang="ko-KR" altLang="en-US" dirty="0" smtClean="0"/>
              <a:t> 중심 트리 분할 방식</a:t>
            </a:r>
            <a:r>
              <a:rPr lang="en-US" altLang="ko-KR" dirty="0" smtClean="0"/>
              <a:t>&gt;</a:t>
            </a:r>
          </a:p>
          <a:p>
            <a:r>
              <a:rPr lang="ko-KR" altLang="en-US" dirty="0" smtClean="0"/>
              <a:t>가장 손실이 큰 </a:t>
            </a:r>
            <a:r>
              <a:rPr lang="ko-KR" altLang="en-US" dirty="0" err="1" smtClean="0"/>
              <a:t>리프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노드만</a:t>
            </a:r>
            <a:r>
              <a:rPr lang="ko-KR" altLang="en-US" dirty="0" smtClean="0"/>
              <a:t> 계속 분할하는 방식</a:t>
            </a:r>
            <a:endParaRPr lang="en-US" altLang="ko-KR" dirty="0" smtClean="0"/>
          </a:p>
          <a:p>
            <a:r>
              <a:rPr lang="en-US" altLang="ko-KR" dirty="0" smtClean="0"/>
              <a:t>-&gt;</a:t>
            </a:r>
            <a:r>
              <a:rPr lang="ko-KR" altLang="en-US" dirty="0" smtClean="0"/>
              <a:t>높은 정확도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But </a:t>
            </a:r>
            <a:r>
              <a:rPr lang="ko-KR" altLang="en-US" dirty="0" err="1" smtClean="0"/>
              <a:t>과적합</a:t>
            </a:r>
            <a:r>
              <a:rPr lang="ko-KR" altLang="en-US" dirty="0" smtClean="0"/>
              <a:t> 위험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33748" y="4822567"/>
            <a:ext cx="32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균형 트리 </a:t>
            </a:r>
            <a:endParaRPr lang="en-US" altLang="ko-KR" dirty="0" smtClean="0"/>
          </a:p>
          <a:p>
            <a:r>
              <a:rPr lang="en-US" altLang="ko-KR" dirty="0" smtClean="0"/>
              <a:t>+ </a:t>
            </a:r>
            <a:r>
              <a:rPr lang="ko-KR" altLang="en-US" dirty="0" err="1" smtClean="0"/>
              <a:t>리프</a:t>
            </a:r>
            <a:r>
              <a:rPr lang="ko-KR" altLang="en-US" dirty="0" smtClean="0"/>
              <a:t> 중심 트리 합친 방식</a:t>
            </a:r>
            <a:r>
              <a:rPr lang="en-US" altLang="ko-KR" dirty="0" smtClean="0"/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2992" y="545129"/>
            <a:ext cx="8557358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①지도 학습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-</a:t>
            </a:r>
            <a:r>
              <a:rPr lang="en-US" altLang="ko-KR" sz="2400" dirty="0" err="1" smtClean="0">
                <a:solidFill>
                  <a:srgbClr val="444444"/>
                </a:solidFill>
                <a:ea typeface="ONE Mobile Title OTF"/>
              </a:rPr>
              <a:t>XGBoost,Lightgbm,Catboost</a:t>
            </a:r>
            <a:r>
              <a:rPr lang="en-US" altLang="ko-KR" sz="2400" dirty="0" smtClean="0">
                <a:solidFill>
                  <a:srgbClr val="444444"/>
                </a:solidFill>
                <a:ea typeface="ONE Mobile Title OTF"/>
              </a:rPr>
              <a:t> </a:t>
            </a:r>
            <a:r>
              <a:rPr lang="ko-KR" altLang="en-US" sz="2400" dirty="0" smtClean="0">
                <a:solidFill>
                  <a:srgbClr val="444444"/>
                </a:solidFill>
                <a:ea typeface="ONE Mobile Title OTF"/>
              </a:rPr>
              <a:t>비교</a:t>
            </a:r>
            <a:endParaRPr lang="ko-KR" altLang="en-US" sz="24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46082" name="Picture 2" descr="여러 기간의 시계열 확률 예측을 위한 XGB, LightGBM, CatBoost 모델 비교 분석 | TIL"/>
          <p:cNvPicPr>
            <a:picLocks noChangeAspect="1" noChangeArrowheads="1"/>
          </p:cNvPicPr>
          <p:nvPr/>
        </p:nvPicPr>
        <p:blipFill>
          <a:blip r:embed="rId5"/>
          <a:srcRect b="10992"/>
          <a:stretch>
            <a:fillRect/>
          </a:stretch>
        </p:blipFill>
        <p:spPr bwMode="auto">
          <a:xfrm>
            <a:off x="413238" y="2005700"/>
            <a:ext cx="8466994" cy="4377516"/>
          </a:xfrm>
          <a:prstGeom prst="rect">
            <a:avLst/>
          </a:prstGeom>
          <a:noFill/>
        </p:spPr>
      </p:pic>
      <p:sp>
        <p:nvSpPr>
          <p:cNvPr id="11" name="직사각형 10"/>
          <p:cNvSpPr/>
          <p:nvPr/>
        </p:nvSpPr>
        <p:spPr>
          <a:xfrm>
            <a:off x="489924" y="2400300"/>
            <a:ext cx="8302382" cy="1644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②비지도 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6900" y="1732080"/>
            <a:ext cx="7685454" cy="7017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라벨 없이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데이터의 패턴이나 구조를 찾는 학습 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주로 고객 세분화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이상 탐지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데이터 시각화 에서 활용됨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/>
          <a:srcRect l="1154" t="2451" b="10010"/>
          <a:stretch>
            <a:fillRect/>
          </a:stretch>
        </p:blipFill>
        <p:spPr bwMode="auto">
          <a:xfrm>
            <a:off x="6350" y="2488223"/>
            <a:ext cx="9144000" cy="4369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②비지도 학습</a:t>
            </a:r>
            <a:r>
              <a:rPr lang="en-US" altLang="ko-KR" sz="3900" dirty="0" smtClean="0">
                <a:solidFill>
                  <a:srgbClr val="444444"/>
                </a:solidFill>
                <a:ea typeface="ONE Mobile Title OTF"/>
              </a:rPr>
              <a:t>-K-Means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900" y="1732080"/>
            <a:ext cx="768545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/>
              <a:t>데이터를 </a:t>
            </a:r>
            <a:r>
              <a:rPr lang="en-US" altLang="ko-KR" dirty="0" smtClean="0"/>
              <a:t>k</a:t>
            </a:r>
            <a:r>
              <a:rPr lang="ko-KR" altLang="en-US" dirty="0" smtClean="0"/>
              <a:t>개의 군집으로 나누는 군집화 알고리즘</a:t>
            </a: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924425" y="3253133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동작 과정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4425" y="3757958"/>
            <a:ext cx="4219575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  <p:pic>
        <p:nvPicPr>
          <p:cNvPr id="13314" name="Picture 2" descr="클러스터링 (k-means 알고리즘)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538282"/>
            <a:ext cx="4924425" cy="38976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②비지도 학습</a:t>
            </a:r>
            <a:r>
              <a:rPr lang="en-US" altLang="ko-KR" sz="3900" dirty="0" smtClean="0">
                <a:solidFill>
                  <a:srgbClr val="444444"/>
                </a:solidFill>
                <a:ea typeface="ONE Mobile Title OTF"/>
              </a:rPr>
              <a:t>-PCA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1200" y="1776046"/>
            <a:ext cx="7254631" cy="13111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/>
              <a:t>고차원 데이터를 </a:t>
            </a:r>
            <a:r>
              <a:rPr lang="ko-KR" altLang="en-US" dirty="0" err="1" smtClean="0"/>
              <a:t>저차원으로</a:t>
            </a:r>
            <a:r>
              <a:rPr lang="ko-KR" altLang="en-US" dirty="0" smtClean="0"/>
              <a:t> 줄이는 차원 축소 기법</a:t>
            </a:r>
            <a:r>
              <a:rPr lang="en-US" altLang="ko-KR" dirty="0" smtClean="0"/>
              <a:t>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/>
              <a:t>여러 변수 간 상관관계를 이용해 주성분을 추출하면서 불필요한 특성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중복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노이즈</a:t>
            </a:r>
            <a:r>
              <a:rPr lang="ko-KR" altLang="en-US" dirty="0" smtClean="0"/>
              <a:t> 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제거</a:t>
            </a:r>
            <a:endParaRPr lang="en-US" altLang="ko-KR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ko-KR" dirty="0" smtClean="0"/>
              <a:t>-&gt;</a:t>
            </a:r>
            <a:r>
              <a:rPr lang="ko-KR" altLang="en-US" dirty="0" smtClean="0"/>
              <a:t>데이터의 분산을 가장 잘 표현할 수 있는 </a:t>
            </a:r>
            <a:r>
              <a:rPr lang="ko-KR" altLang="en-US" dirty="0" err="1" smtClean="0"/>
              <a:t>저차원을</a:t>
            </a:r>
            <a:r>
              <a:rPr lang="ko-KR" altLang="en-US" dirty="0" smtClean="0"/>
              <a:t> 찾아내는 것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6529267" y="3358827"/>
            <a:ext cx="26210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smtClean="0"/>
              <a:t>-</a:t>
            </a:r>
            <a:r>
              <a:rPr lang="ko-KR" altLang="en-US" dirty="0" smtClean="0"/>
              <a:t>첫 번째 주성분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:</a:t>
            </a:r>
            <a:r>
              <a:rPr lang="ko-KR" altLang="en-US" dirty="0" smtClean="0"/>
              <a:t> 데이터의 분산을 가장 많이 설명하는 축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-</a:t>
            </a:r>
            <a:r>
              <a:rPr lang="ko-KR" altLang="en-US" dirty="0" smtClean="0"/>
              <a:t>두 번째 주성분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: </a:t>
            </a:r>
            <a:r>
              <a:rPr lang="ko-KR" altLang="en-US" dirty="0" smtClean="0"/>
              <a:t>첫 번째 주성분과 직교하면서 데이터의 분산을 두 번째로 많이 설명하는 축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  <p:pic>
        <p:nvPicPr>
          <p:cNvPr id="12290" name="Picture 2" descr="https://blog.kakaocdn.net/dn/FuoFs/btroCxnNTMI/1Jq08SkuWxmnikTStG9N51/img.png"/>
          <p:cNvPicPr>
            <a:picLocks noChangeAspect="1" noChangeArrowheads="1"/>
          </p:cNvPicPr>
          <p:nvPr/>
        </p:nvPicPr>
        <p:blipFill>
          <a:blip r:embed="rId5"/>
          <a:srcRect l="45999" b="-6109"/>
          <a:stretch>
            <a:fillRect/>
          </a:stretch>
        </p:blipFill>
        <p:spPr bwMode="auto">
          <a:xfrm>
            <a:off x="3312007" y="3205470"/>
            <a:ext cx="3180701" cy="2641415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307731" y="5990316"/>
            <a:ext cx="7455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분산이 최대로 보존되도록 </a:t>
            </a:r>
            <a:r>
              <a:rPr lang="en-US" altLang="ko-KR" dirty="0" smtClean="0"/>
              <a:t>PC1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PC2</a:t>
            </a:r>
            <a:r>
              <a:rPr lang="ko-KR" altLang="en-US" dirty="0" smtClean="0"/>
              <a:t> 축을 회전시킨 뒤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PC2 </a:t>
            </a:r>
            <a:r>
              <a:rPr lang="ko-KR" altLang="en-US" dirty="0" smtClean="0"/>
              <a:t>축을 제거하고</a:t>
            </a:r>
            <a:r>
              <a:rPr lang="en-US" altLang="ko-KR" dirty="0" smtClean="0"/>
              <a:t> 1</a:t>
            </a:r>
            <a:r>
              <a:rPr lang="ko-KR" altLang="en-US" dirty="0" smtClean="0"/>
              <a:t>차원 평면에 데이터 투영</a:t>
            </a:r>
            <a:endParaRPr lang="ko-KR" altLang="en-US" dirty="0"/>
          </a:p>
        </p:txBody>
      </p:sp>
      <p:pic>
        <p:nvPicPr>
          <p:cNvPr id="12293" name="Picture 5" descr="PCA 주성분 분석"/>
          <p:cNvPicPr>
            <a:picLocks noChangeAspect="1" noChangeArrowheads="1"/>
          </p:cNvPicPr>
          <p:nvPr/>
        </p:nvPicPr>
        <p:blipFill>
          <a:blip r:embed="rId6"/>
          <a:srcRect l="6036" r="14107" b="5177"/>
          <a:stretch>
            <a:fillRect/>
          </a:stretch>
        </p:blipFill>
        <p:spPr bwMode="auto">
          <a:xfrm>
            <a:off x="1" y="3205470"/>
            <a:ext cx="3305908" cy="26414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③강화학습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2408" y="1720685"/>
            <a:ext cx="768545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에이전트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학습하는 시스템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</a:rPr>
              <a:t>가 환경과 상호작용하면서 그 결과로 보상을 최대화하는 방향으로 행동을 학습하는 방법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pic>
        <p:nvPicPr>
          <p:cNvPr id="8197" name="Picture 5" descr="알파고도 칠전팔기?&quot; [특별기획 AI 2030] ③ 강화학습 &lt; 뉴테크 &lt; 기술 &lt; 기사본문 - AI타임스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8275" y="2540977"/>
            <a:ext cx="8791575" cy="4167554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③강화학습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9" name="Picture 3" descr="딥러닝 (8) - [RL1] 강화학습(Reinforcement Learning)이란?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1050" y="1782233"/>
            <a:ext cx="7685454" cy="478562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④</a:t>
            </a:r>
            <a:r>
              <a:rPr lang="ko-KR" altLang="en-US" sz="3600" dirty="0" err="1" smtClean="0">
                <a:solidFill>
                  <a:srgbClr val="444444"/>
                </a:solidFill>
                <a:ea typeface="ONE Mobile Title OTF"/>
              </a:rPr>
              <a:t>준지도학습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6900" y="1720685"/>
            <a:ext cx="7852508" cy="7017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소량의 </a:t>
            </a:r>
            <a:r>
              <a:rPr lang="ko-KR" altLang="en-US" dirty="0" err="1" smtClean="0">
                <a:solidFill>
                  <a:schemeClr val="tx1"/>
                </a:solidFill>
              </a:rPr>
              <a:t>라벨된</a:t>
            </a:r>
            <a:r>
              <a:rPr lang="ko-KR" altLang="en-US" dirty="0" smtClean="0">
                <a:solidFill>
                  <a:schemeClr val="tx1"/>
                </a:solidFill>
              </a:rPr>
              <a:t> 데이터와 다량의 라벨 없는 데이터를 활용하여 학습하는 방법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지도 학습과 비지도 학습의 조합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pic>
        <p:nvPicPr>
          <p:cNvPr id="7171" name="Picture 3" descr="ML] 2-1. 머신러닝의 종류 및 적용 사례 (지도 학습, 비지도 학습, 준지도 학습, 강화 학습)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9231" y="2552703"/>
            <a:ext cx="7262445" cy="4059112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-1867221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⑤자기지도학습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2408" y="1720685"/>
            <a:ext cx="7685454" cy="10341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레이블이 전혀 없어도 데이터 일부를 가려서 스스로 라벨을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만들어 학습하는 방법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지도학습과 비지도 학습의 중간 형태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인공 신경망 같은 인공지능 모델 기반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/>
          <a:srcRect t="5399" r="1436"/>
          <a:stretch>
            <a:fillRect/>
          </a:stretch>
        </p:blipFill>
        <p:spPr bwMode="auto">
          <a:xfrm>
            <a:off x="702408" y="2857506"/>
            <a:ext cx="7571154" cy="3868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40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44444"/>
                </a:solidFill>
                <a:ea typeface="ONE Mobile Title OTF"/>
              </a:rPr>
              <a:t>⑤자기지도학습</a:t>
            </a:r>
            <a:endParaRPr lang="ko-KR" altLang="en-US" sz="36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891" y="2681654"/>
            <a:ext cx="8464547" cy="2839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35341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00" dirty="0" err="1" smtClean="0">
                <a:solidFill>
                  <a:srgbClr val="444444"/>
                </a:solidFill>
                <a:ea typeface="ONE Mobile Title OTF"/>
              </a:rPr>
              <a:t>머신러닝</a:t>
            </a:r>
            <a:r>
              <a:rPr lang="ko-KR" altLang="en-US" sz="3900" dirty="0" smtClean="0">
                <a:solidFill>
                  <a:srgbClr val="444444"/>
                </a:solidFill>
                <a:ea typeface="ONE Mobile Title OTF"/>
              </a:rPr>
              <a:t> 알고리즘 선택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" y="1904726"/>
            <a:ext cx="9144000" cy="448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61545" y="4317024"/>
            <a:ext cx="3815861" cy="20431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978590" y="5486401"/>
            <a:ext cx="898816" cy="72427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877406" y="5459242"/>
            <a:ext cx="1095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데이터 </a:t>
            </a:r>
            <a:r>
              <a:rPr lang="en-US" altLang="ko-KR" sz="1600" dirty="0" smtClean="0"/>
              <a:t>10</a:t>
            </a:r>
            <a:r>
              <a:rPr lang="ko-KR" altLang="en-US" sz="1600" dirty="0" err="1" smtClean="0"/>
              <a:t>만건</a:t>
            </a:r>
            <a:r>
              <a:rPr lang="ko-KR" altLang="en-US" sz="1600" dirty="0" smtClean="0"/>
              <a:t> 이상</a:t>
            </a:r>
            <a:endParaRPr lang="ko-KR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00" dirty="0" smtClean="0">
                <a:solidFill>
                  <a:srgbClr val="444444"/>
                </a:solidFill>
                <a:ea typeface="ONE Mobile Title OTF"/>
              </a:rPr>
              <a:t>[Decision Trees]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2050" name="Picture 2" descr="머신러닝 - 결정 트리(Decision) 쉽게 이해하고 구현하기 | 얼타고의 개발노트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3238" y="1720685"/>
            <a:ext cx="8343899" cy="5017029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2277208" y="1720685"/>
            <a:ext cx="2303584" cy="2839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428999" y="3118662"/>
            <a:ext cx="2417885" cy="2839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277208" y="5213838"/>
            <a:ext cx="1811215" cy="2839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알고리즘 선택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0" y="0"/>
            <a:ext cx="9429750" cy="16679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00" dirty="0" err="1" smtClean="0">
                <a:solidFill>
                  <a:srgbClr val="444444"/>
                </a:solidFill>
                <a:ea typeface="ONE Mobile Title OTF"/>
              </a:rPr>
              <a:t>머신러닝</a:t>
            </a:r>
            <a:r>
              <a:rPr lang="ko-KR" altLang="en-US" sz="3900" dirty="0" smtClean="0">
                <a:solidFill>
                  <a:srgbClr val="444444"/>
                </a:solidFill>
                <a:ea typeface="ONE Mobile Title OTF"/>
              </a:rPr>
              <a:t> 알고리즘 선택</a:t>
            </a:r>
            <a:endParaRPr lang="ko-KR" altLang="en-US" sz="3900" dirty="0">
              <a:solidFill>
                <a:srgbClr val="444444"/>
              </a:solidFill>
              <a:ea typeface="ONE Mobile Title OTF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l="3754" t="2808" r="2692" b="15387"/>
          <a:stretch>
            <a:fillRect/>
          </a:stretch>
        </p:blipFill>
        <p:spPr bwMode="auto">
          <a:xfrm>
            <a:off x="-1" y="1756359"/>
            <a:ext cx="9156185" cy="5037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-1744133"/>
            <a:ext cx="4451350" cy="56811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0" y="0"/>
            <a:ext cx="9429750" cy="1667933"/>
          </a:xfrm>
          <a:prstGeom prst="rect">
            <a:avLst/>
          </a:prstGeom>
        </p:spPr>
      </p:pic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47" y="2488223"/>
            <a:ext cx="541020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6"/>
          <p:cNvSpPr txBox="1"/>
          <p:nvPr/>
        </p:nvSpPr>
        <p:spPr>
          <a:xfrm>
            <a:off x="596900" y="541867"/>
            <a:ext cx="8045450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800" dirty="0" smtClean="0">
                <a:solidFill>
                  <a:srgbClr val="444444"/>
                </a:solidFill>
                <a:ea typeface="ONE Mobile Title OTF"/>
              </a:rPr>
              <a:t>Gradient Boosting(</a:t>
            </a:r>
            <a:r>
              <a:rPr lang="en-US" altLang="ko-KR" sz="2800" dirty="0" err="1" smtClean="0">
                <a:solidFill>
                  <a:srgbClr val="444444"/>
                </a:solidFill>
                <a:ea typeface="ONE Mobile Title OTF"/>
              </a:rPr>
              <a:t>XGBoost,Lightgbm,Catboost</a:t>
            </a:r>
            <a:r>
              <a:rPr lang="en-US" altLang="ko-KR" sz="2800" dirty="0" smtClean="0">
                <a:solidFill>
                  <a:srgbClr val="444444"/>
                </a:solidFill>
                <a:ea typeface="ONE Mobile Title OTF"/>
              </a:rPr>
              <a:t>) </a:t>
            </a:r>
            <a:r>
              <a:rPr lang="ko-KR" altLang="en-US" sz="2800" dirty="0" smtClean="0">
                <a:solidFill>
                  <a:srgbClr val="444444"/>
                </a:solidFill>
                <a:ea typeface="ONE Mobile Title OTF"/>
              </a:rPr>
              <a:t>선택</a:t>
            </a:r>
            <a:endParaRPr lang="ko-KR" altLang="en-US" sz="2800" dirty="0">
              <a:solidFill>
                <a:srgbClr val="444444"/>
              </a:solidFill>
              <a:ea typeface="ONE Mobile Title 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0823" y="202223"/>
            <a:ext cx="28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알고리즘 선택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618573" y="3884248"/>
            <a:ext cx="2997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+</a:t>
            </a:r>
            <a:r>
              <a:rPr lang="ko-KR" altLang="en-US" dirty="0" smtClean="0"/>
              <a:t>고차원 희소 데이터에 강함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4692" y="2956475"/>
            <a:ext cx="594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 smtClean="0"/>
              <a:t>감사합니다</a:t>
            </a:r>
            <a:r>
              <a:rPr lang="en-US" altLang="ko-KR" sz="4800" dirty="0" smtClean="0"/>
              <a:t>!</a:t>
            </a:r>
            <a:endParaRPr lang="ko-KR" alt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</TotalTime>
  <Words>545</Words>
  <Application>Microsoft Office PowerPoint</Application>
  <PresentationFormat>화면 슬라이드 쇼(4:3)</PresentationFormat>
  <Paragraphs>106</Paragraphs>
  <Slides>21</Slides>
  <Notes>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머신러닝이란?</dc:title>
  <dc:creator>yujin</dc:creator>
  <dc:description>generated using python-pptx</dc:description>
  <cp:lastModifiedBy>강유진</cp:lastModifiedBy>
  <cp:revision>186</cp:revision>
  <dcterms:created xsi:type="dcterms:W3CDTF">2013-01-27T09:14:16Z</dcterms:created>
  <dcterms:modified xsi:type="dcterms:W3CDTF">2025-05-11T02:38:21Z</dcterms:modified>
</cp:coreProperties>
</file>