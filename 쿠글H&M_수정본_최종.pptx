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4" r:id="rId1"/>
  </p:sldMasterIdLst>
  <p:notesMasterIdLst>
    <p:notesMasterId r:id="rId36"/>
  </p:notesMasterIdLst>
  <p:sldIdLst>
    <p:sldId id="257" r:id="rId2"/>
    <p:sldId id="301" r:id="rId3"/>
    <p:sldId id="258" r:id="rId4"/>
    <p:sldId id="299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9" r:id="rId16"/>
    <p:sldId id="268" r:id="rId17"/>
    <p:sldId id="271" r:id="rId18"/>
    <p:sldId id="272" r:id="rId19"/>
    <p:sldId id="273" r:id="rId20"/>
    <p:sldId id="274" r:id="rId21"/>
    <p:sldId id="275" r:id="rId22"/>
    <p:sldId id="276" r:id="rId23"/>
    <p:sldId id="281" r:id="rId24"/>
    <p:sldId id="282" r:id="rId25"/>
    <p:sldId id="283" r:id="rId26"/>
    <p:sldId id="284" r:id="rId27"/>
    <p:sldId id="285" r:id="rId28"/>
    <p:sldId id="286" r:id="rId29"/>
    <p:sldId id="300" r:id="rId30"/>
    <p:sldId id="290" r:id="rId31"/>
    <p:sldId id="302" r:id="rId32"/>
    <p:sldId id="291" r:id="rId33"/>
    <p:sldId id="295" r:id="rId34"/>
    <p:sldId id="296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C8F3031-6097-4AF7-BD18-42EC2A8F2AB1}" styleName="Normal Style 2 - Accent 2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2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>
              <a:shade val="50000"/>
              <a:satMod val="230000"/>
            </a:schemeClr>
          </a:solidFill>
        </a:fill>
      </a:tcStyle>
    </a:firstRow>
  </a:tblStyle>
  <a:tblStyle styleId="{0583E2B2-CE58-4528-B6E7-A9ED766AF9EF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TxStyle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TxStyle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2"/>
      </a:tcTxStyle>
      <a:tcStyle>
        <a:tcBdr>
          <a:top>
            <a:ln w="6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2">
          <a:shade val="40000"/>
        </a:schemeClr>
      </a:tcTxStyle>
      <a:tcStyle>
        <a:tcBdr/>
        <a:fill>
          <a:solidFill>
            <a:schemeClr val="accent2">
              <a:alpha val="4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7122BE6-D220-400A-8156-72DE76DAD46A}" styleName="Generic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7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accent2">
                  <a:shade val="61000"/>
                  <a:satMod val="130000"/>
                </a:schemeClr>
              </a:gs>
              <a:gs pos="50000">
                <a:schemeClr val="accent2">
                  <a:shade val="93000"/>
                  <a:satMod val="130000"/>
                </a:schemeClr>
              </a:gs>
              <a:gs pos="100000">
                <a:schemeClr val="accent2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D37EC6F5-98BC-4B86-A699-1D3A80D2762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2"/>
              </a:solidFill>
              <a:prstDash val="dash"/>
            </a:ln>
          </a:left>
          <a:right>
            <a:ln w="32700" cmpd="sng">
              <a:solidFill>
                <a:schemeClr val="accent2"/>
              </a:solidFill>
              <a:prstDash val="dash"/>
            </a:ln>
          </a:right>
          <a:top>
            <a:ln w="32700" cmpd="sng">
              <a:solidFill>
                <a:schemeClr val="accent2"/>
              </a:solidFill>
              <a:prstDash val="dash"/>
            </a:ln>
          </a:top>
          <a:bottom>
            <a:ln w="32700" cmpd="sng">
              <a:solidFill>
                <a:schemeClr val="accent2"/>
              </a:solidFill>
              <a:prstDash val="dash"/>
            </a:ln>
          </a:bottom>
          <a:insideH>
            <a:ln w="22700" cmpd="sng">
              <a:solidFill>
                <a:schemeClr val="accent2"/>
              </a:solidFill>
              <a:prstDash val="sysDot"/>
            </a:ln>
          </a:insideH>
          <a:insideV>
            <a:ln w="22700" cmpd="sng">
              <a:solidFill>
                <a:schemeClr val="accent2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4783"/>
  </p:normalViewPr>
  <p:slideViewPr>
    <p:cSldViewPr snapToGrid="0">
      <p:cViewPr varScale="1">
        <p:scale>
          <a:sx n="108" d="100"/>
          <a:sy n="108" d="100"/>
        </p:scale>
        <p:origin x="-834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CB381CA2-5CB1-4CEC-9315-0E27CE471971}" type="datetime1">
              <a:rPr lang="ko-KR" altLang="en-US"/>
              <a:pPr lvl="0">
                <a:defRPr/>
              </a:pPr>
              <a:t>2025-05-28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35ADAF17-A53A-4531-AD44-7852C21786E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5ADAF17-A53A-4531-AD44-7852C21786EE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97353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5ADAF17-A53A-4531-AD44-7852C21786EE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8074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5ADAF17-A53A-4531-AD44-7852C21786EE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1965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5ADAF17-A53A-4531-AD44-7852C21786EE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475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6025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7035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6303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9643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939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75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652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036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076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670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0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074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2000" b="0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6FDA3370-4819-C43C-E316-1AE57A740CEE}"/>
              </a:ext>
            </a:extLst>
          </p:cNvPr>
          <p:cNvSpPr txBox="1"/>
          <p:nvPr/>
        </p:nvSpPr>
        <p:spPr>
          <a:xfrm>
            <a:off x="933449" y="2176797"/>
            <a:ext cx="10325102" cy="130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4000" b="1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추천시스템 </a:t>
            </a:r>
            <a:r>
              <a:rPr kumimoji="0" lang="en-US" altLang="ko-KR" sz="4000" b="1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:</a:t>
            </a:r>
            <a:r>
              <a:rPr kumimoji="0" lang="ko-KR" altLang="en-US" sz="4000" b="1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H&amp;M 개인 맞춤 패션 추천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4000" b="1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9BFF1377-112D-F550-9589-8ADA550D09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2074333" y="3505199"/>
            <a:ext cx="2607733" cy="1719592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xmlns="" id="{6455E130-98C8-EB10-0DCA-CBE5D177B0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5404663" y="3429000"/>
            <a:ext cx="3004001" cy="23844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ABDA1E48-2CBD-0076-9281-C30B6DE18FE8}"/>
              </a:ext>
            </a:extLst>
          </p:cNvPr>
          <p:cNvSpPr txBox="1"/>
          <p:nvPr/>
        </p:nvSpPr>
        <p:spPr>
          <a:xfrm>
            <a:off x="9515392" y="3429000"/>
            <a:ext cx="1184606" cy="1460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강지윤</a:t>
            </a:r>
          </a:p>
          <a:p>
            <a:pPr>
              <a:defRPr/>
            </a:pPr>
            <a:r>
              <a:rPr lang="ko-KR" altLang="en-US" dirty="0"/>
              <a:t>강유진</a:t>
            </a:r>
          </a:p>
          <a:p>
            <a:pPr>
              <a:defRPr/>
            </a:pPr>
            <a:r>
              <a:rPr lang="ko-KR" altLang="en-US" dirty="0"/>
              <a:t>김영진</a:t>
            </a:r>
          </a:p>
          <a:p>
            <a:pPr>
              <a:defRPr/>
            </a:pPr>
            <a:r>
              <a:rPr lang="ko-KR" altLang="en-US" dirty="0"/>
              <a:t>노의근</a:t>
            </a:r>
          </a:p>
          <a:p>
            <a:pPr>
              <a:defRPr/>
            </a:pPr>
            <a:r>
              <a:rPr lang="ko-KR" altLang="en-US" dirty="0" err="1"/>
              <a:t>문형주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BABE817-2FFF-F6E8-8B8F-C43F5C34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xmlns="" id="{8BB5151E-C30B-7D88-A8DB-BC82EC249247}"/>
              </a:ext>
            </a:extLst>
          </p:cNvPr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PPT CONTENTS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xmlns="" id="{A5FCD0C1-D949-CC8B-FEC9-4C03B79BAE25}"/>
              </a:ext>
            </a:extLst>
          </p:cNvPr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xmlns="" id="{5724500E-0243-92BE-BBC3-F8BF4A3924DD}"/>
              </a:ext>
            </a:extLst>
          </p:cNvPr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C6192046-24BA-4D7F-C230-5FCDD8DA5F55}"/>
              </a:ext>
            </a:extLst>
          </p:cNvPr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xmlns="" id="{BAD5940E-C351-B747-5AEE-488D5FEAB655}"/>
                </a:ext>
              </a:extLst>
            </p:cNvPr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1C080E41-AC2B-D7DC-6B8D-532D8D4B4187}"/>
                </a:ext>
              </a:extLst>
            </p:cNvPr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xmlns="" id="{FC7CEFC7-33DF-1513-2747-03ED0A5DBC2B}"/>
                  </a:ext>
                </a:extLst>
              </p:cNvPr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xmlns="" id="{913549A9-B732-292D-0ECA-674517F4E6A1}"/>
                  </a:ext>
                </a:extLst>
              </p:cNvPr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xmlns="" id="{758D8777-945B-DAA7-A939-06ADECA0D887}"/>
                  </a:ext>
                </a:extLst>
              </p:cNvPr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7D029D9-35F5-DFFC-35BA-17F5448C91DD}"/>
              </a:ext>
            </a:extLst>
          </p:cNvPr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xmlns="" id="{39FEC7E2-CD8C-4A29-E58B-D09C7B5CDC1F}"/>
              </a:ext>
            </a:extLst>
          </p:cNvPr>
          <p:cNvGrpSpPr/>
          <p:nvPr/>
        </p:nvGrpSpPr>
        <p:grpSpPr>
          <a:xfrm>
            <a:off x="832877" y="1461907"/>
            <a:ext cx="3586931" cy="4834518"/>
            <a:chOff x="911255" y="1461907"/>
            <a:chExt cx="3586931" cy="483451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xmlns="" id="{F57D3D19-4F77-933E-0D58-6D847B2FEF3B}"/>
                </a:ext>
              </a:extLst>
            </p:cNvPr>
            <p:cNvSpPr/>
            <p:nvPr/>
          </p:nvSpPr>
          <p:spPr>
            <a:xfrm>
              <a:off x="1816160" y="3754337"/>
              <a:ext cx="2682026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ko-KR" altLang="en-US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데이터 분석 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2C50693F-50AC-C064-6674-7EC8F12B36DD}"/>
                </a:ext>
              </a:extLst>
            </p:cNvPr>
            <p:cNvSpPr/>
            <p:nvPr/>
          </p:nvSpPr>
          <p:spPr>
            <a:xfrm>
              <a:off x="1797265" y="2863502"/>
              <a:ext cx="134684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sz="6000" b="1" i="1" u="none" strike="noStrike" kern="1200" cap="none" spc="0" normalizeH="0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01</a:t>
              </a:r>
              <a:r>
                <a:rPr kumimoji="0" lang="en-US" altLang="ko-KR" sz="6000" b="1" i="1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endParaRPr kumimoji="0" lang="ko-KR" altLang="en-US" sz="7200" b="0" i="1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19" name="직각 삼각형 18">
              <a:extLst>
                <a:ext uri="{FF2B5EF4-FFF2-40B4-BE49-F238E27FC236}">
                  <a16:creationId xmlns:a16="http://schemas.microsoft.com/office/drawing/2014/main" xmlns="" id="{80CC4C86-1D7B-4EFF-1796-3F5B14B6D64D}"/>
                </a:ext>
              </a:extLst>
            </p:cNvPr>
            <p:cNvSpPr/>
            <p:nvPr/>
          </p:nvSpPr>
          <p:spPr>
            <a:xfrm flipV="1">
              <a:off x="911255" y="1461907"/>
              <a:ext cx="1968501" cy="4834518"/>
            </a:xfrm>
            <a:prstGeom prst="rtTriangle">
              <a:avLst/>
            </a:prstGeom>
            <a:solidFill>
              <a:srgbClr val="F4F5FA"/>
            </a:solidFill>
            <a:ln>
              <a:noFill/>
            </a:ln>
            <a:effectLst>
              <a:outerShdw blurRad="254000" dist="495300" sx="65000" sy="65000" algn="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27" name="Group 16">
              <a:extLst>
                <a:ext uri="{FF2B5EF4-FFF2-40B4-BE49-F238E27FC236}">
                  <a16:creationId xmlns:a16="http://schemas.microsoft.com/office/drawing/2014/main" xmlns="" id="{6E723E07-D3A5-87BE-493F-EC3571A40F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79056" y="2266873"/>
              <a:ext cx="292311" cy="335982"/>
              <a:chOff x="1039" y="1681"/>
              <a:chExt cx="1071" cy="1231"/>
            </a:xfrm>
            <a:solidFill>
              <a:srgbClr val="FF8961"/>
            </a:solidFill>
          </p:grpSpPr>
          <p:sp>
            <p:nvSpPr>
              <p:cNvPr id="28" name="Freeform 17">
                <a:extLst>
                  <a:ext uri="{FF2B5EF4-FFF2-40B4-BE49-F238E27FC236}">
                    <a16:creationId xmlns:a16="http://schemas.microsoft.com/office/drawing/2014/main" xmlns="" id="{8CB37CEF-23F4-F04D-B776-C0A471B0CCB8}"/>
                  </a:ext>
                </a:extLst>
              </p:cNvPr>
              <p:cNvSpPr>
                <a:spLocks noEditPoints="1"/>
              </p:cNvSpPr>
              <p:nvPr/>
            </p:nvSpPr>
            <p:spPr>
              <a:xfrm>
                <a:off x="1039" y="1681"/>
                <a:ext cx="1071" cy="1099"/>
              </a:xfrm>
              <a:custGeom>
                <a:avLst/>
                <a:gdLst>
                  <a:gd name="T0" fmla="*/ 3169 w 3212"/>
                  <a:gd name="T1" fmla="*/ 566 h 3298"/>
                  <a:gd name="T2" fmla="*/ 3035 w 3212"/>
                  <a:gd name="T3" fmla="*/ 475 h 3298"/>
                  <a:gd name="T4" fmla="*/ 2711 w 3212"/>
                  <a:gd name="T5" fmla="*/ 199 h 3298"/>
                  <a:gd name="T6" fmla="*/ 2384 w 3212"/>
                  <a:gd name="T7" fmla="*/ 19 h 3298"/>
                  <a:gd name="T8" fmla="*/ 2347 w 3212"/>
                  <a:gd name="T9" fmla="*/ 4 h 3298"/>
                  <a:gd name="T10" fmla="*/ 2278 w 3212"/>
                  <a:gd name="T11" fmla="*/ 47 h 3298"/>
                  <a:gd name="T12" fmla="*/ 2171 w 3212"/>
                  <a:gd name="T13" fmla="*/ 190 h 3298"/>
                  <a:gd name="T14" fmla="*/ 1698 w 3212"/>
                  <a:gd name="T15" fmla="*/ 610 h 3298"/>
                  <a:gd name="T16" fmla="*/ 716 w 3212"/>
                  <a:gd name="T17" fmla="*/ 1337 h 3298"/>
                  <a:gd name="T18" fmla="*/ 296 w 3212"/>
                  <a:gd name="T19" fmla="*/ 1713 h 3298"/>
                  <a:gd name="T20" fmla="*/ 59 w 3212"/>
                  <a:gd name="T21" fmla="*/ 2061 h 3298"/>
                  <a:gd name="T22" fmla="*/ 0 w 3212"/>
                  <a:gd name="T23" fmla="*/ 2479 h 3298"/>
                  <a:gd name="T24" fmla="*/ 29 w 3212"/>
                  <a:gd name="T25" fmla="*/ 2758 h 3298"/>
                  <a:gd name="T26" fmla="*/ 183 w 3212"/>
                  <a:gd name="T27" fmla="*/ 2915 h 3298"/>
                  <a:gd name="T28" fmla="*/ 615 w 3212"/>
                  <a:gd name="T29" fmla="*/ 3255 h 3298"/>
                  <a:gd name="T30" fmla="*/ 886 w 3212"/>
                  <a:gd name="T31" fmla="*/ 3291 h 3298"/>
                  <a:gd name="T32" fmla="*/ 1138 w 3212"/>
                  <a:gd name="T33" fmla="*/ 3171 h 3298"/>
                  <a:gd name="T34" fmla="*/ 1808 w 3212"/>
                  <a:gd name="T35" fmla="*/ 2600 h 3298"/>
                  <a:gd name="T36" fmla="*/ 2812 w 3212"/>
                  <a:gd name="T37" fmla="*/ 1724 h 3298"/>
                  <a:gd name="T38" fmla="*/ 3103 w 3212"/>
                  <a:gd name="T39" fmla="*/ 1438 h 3298"/>
                  <a:gd name="T40" fmla="*/ 3146 w 3212"/>
                  <a:gd name="T41" fmla="*/ 1401 h 3298"/>
                  <a:gd name="T42" fmla="*/ 3193 w 3212"/>
                  <a:gd name="T43" fmla="*/ 1183 h 3298"/>
                  <a:gd name="T44" fmla="*/ 3208 w 3212"/>
                  <a:gd name="T45" fmla="*/ 620 h 3298"/>
                  <a:gd name="T46" fmla="*/ 1001 w 3212"/>
                  <a:gd name="T47" fmla="*/ 3114 h 3298"/>
                  <a:gd name="T48" fmla="*/ 881 w 3212"/>
                  <a:gd name="T49" fmla="*/ 3066 h 3298"/>
                  <a:gd name="T50" fmla="*/ 844 w 3212"/>
                  <a:gd name="T51" fmla="*/ 2610 h 3298"/>
                  <a:gd name="T52" fmla="*/ 840 w 3212"/>
                  <a:gd name="T53" fmla="*/ 2398 h 3298"/>
                  <a:gd name="T54" fmla="*/ 401 w 3212"/>
                  <a:gd name="T55" fmla="*/ 2082 h 3298"/>
                  <a:gd name="T56" fmla="*/ 241 w 3212"/>
                  <a:gd name="T57" fmla="*/ 1969 h 3298"/>
                  <a:gd name="T58" fmla="*/ 752 w 3212"/>
                  <a:gd name="T59" fmla="*/ 2141 h 3298"/>
                  <a:gd name="T60" fmla="*/ 1034 w 3212"/>
                  <a:gd name="T61" fmla="*/ 2354 h 3298"/>
                  <a:gd name="T62" fmla="*/ 1418 w 3212"/>
                  <a:gd name="T63" fmla="*/ 2074 h 3298"/>
                  <a:gd name="T64" fmla="*/ 1624 w 3212"/>
                  <a:gd name="T65" fmla="*/ 1847 h 3298"/>
                  <a:gd name="T66" fmla="*/ 1420 w 3212"/>
                  <a:gd name="T67" fmla="*/ 1596 h 3298"/>
                  <a:gd name="T68" fmla="*/ 1082 w 3212"/>
                  <a:gd name="T69" fmla="*/ 1248 h 3298"/>
                  <a:gd name="T70" fmla="*/ 1614 w 3212"/>
                  <a:gd name="T71" fmla="*/ 825 h 3298"/>
                  <a:gd name="T72" fmla="*/ 2194 w 3212"/>
                  <a:gd name="T73" fmla="*/ 338 h 3298"/>
                  <a:gd name="T74" fmla="*/ 2374 w 3212"/>
                  <a:gd name="T75" fmla="*/ 118 h 3298"/>
                  <a:gd name="T76" fmla="*/ 2661 w 3212"/>
                  <a:gd name="T77" fmla="*/ 304 h 3298"/>
                  <a:gd name="T78" fmla="*/ 2993 w 3212"/>
                  <a:gd name="T79" fmla="*/ 603 h 3298"/>
                  <a:gd name="T80" fmla="*/ 2474 w 3212"/>
                  <a:gd name="T81" fmla="*/ 1257 h 3298"/>
                  <a:gd name="T82" fmla="*/ 1732 w 3212"/>
                  <a:gd name="T83" fmla="*/ 1951 h 3298"/>
                  <a:gd name="T84" fmla="*/ 1047 w 3212"/>
                  <a:gd name="T85" fmla="*/ 2462 h 3298"/>
                  <a:gd name="T86" fmla="*/ 1012 w 3212"/>
                  <a:gd name="T87" fmla="*/ 2472 h 3298"/>
                  <a:gd name="T88" fmla="*/ 3078 w 3212"/>
                  <a:gd name="T89" fmla="*/ 1147 h 3298"/>
                  <a:gd name="T90" fmla="*/ 3067 w 3212"/>
                  <a:gd name="T91" fmla="*/ 1301 h 3298"/>
                  <a:gd name="T92" fmla="*/ 3051 w 3212"/>
                  <a:gd name="T93" fmla="*/ 1343 h 3298"/>
                  <a:gd name="T94" fmla="*/ 3018 w 3212"/>
                  <a:gd name="T95" fmla="*/ 1366 h 3298"/>
                  <a:gd name="T96" fmla="*/ 2890 w 3212"/>
                  <a:gd name="T97" fmla="*/ 1493 h 3298"/>
                  <a:gd name="T98" fmla="*/ 1823 w 3212"/>
                  <a:gd name="T99" fmla="*/ 2434 h 3298"/>
                  <a:gd name="T100" fmla="*/ 1765 w 3212"/>
                  <a:gd name="T101" fmla="*/ 2231 h 3298"/>
                  <a:gd name="T102" fmla="*/ 1749 w 3212"/>
                  <a:gd name="T103" fmla="*/ 2105 h 3298"/>
                  <a:gd name="T104" fmla="*/ 2236 w 3212"/>
                  <a:gd name="T105" fmla="*/ 1651 h 3298"/>
                  <a:gd name="T106" fmla="*/ 3095 w 3212"/>
                  <a:gd name="T107" fmla="*/ 770 h 3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12" h="3298">
                    <a:moveTo>
                      <a:pt x="3208" y="620"/>
                    </a:moveTo>
                    <a:lnTo>
                      <a:pt x="3206" y="606"/>
                    </a:lnTo>
                    <a:lnTo>
                      <a:pt x="3192" y="581"/>
                    </a:lnTo>
                    <a:lnTo>
                      <a:pt x="3169" y="566"/>
                    </a:lnTo>
                    <a:lnTo>
                      <a:pt x="3143" y="561"/>
                    </a:lnTo>
                    <a:lnTo>
                      <a:pt x="3130" y="564"/>
                    </a:lnTo>
                    <a:lnTo>
                      <a:pt x="3101" y="533"/>
                    </a:lnTo>
                    <a:lnTo>
                      <a:pt x="3035" y="475"/>
                    </a:lnTo>
                    <a:lnTo>
                      <a:pt x="3003" y="448"/>
                    </a:lnTo>
                    <a:lnTo>
                      <a:pt x="2931" y="383"/>
                    </a:lnTo>
                    <a:lnTo>
                      <a:pt x="2786" y="258"/>
                    </a:lnTo>
                    <a:lnTo>
                      <a:pt x="2711" y="199"/>
                    </a:lnTo>
                    <a:lnTo>
                      <a:pt x="2651" y="148"/>
                    </a:lnTo>
                    <a:lnTo>
                      <a:pt x="2507" y="53"/>
                    </a:lnTo>
                    <a:lnTo>
                      <a:pt x="2432" y="24"/>
                    </a:lnTo>
                    <a:lnTo>
                      <a:pt x="2384" y="19"/>
                    </a:lnTo>
                    <a:lnTo>
                      <a:pt x="2363" y="20"/>
                    </a:lnTo>
                    <a:lnTo>
                      <a:pt x="2361" y="17"/>
                    </a:lnTo>
                    <a:lnTo>
                      <a:pt x="2358" y="14"/>
                    </a:lnTo>
                    <a:lnTo>
                      <a:pt x="2347" y="4"/>
                    </a:lnTo>
                    <a:lnTo>
                      <a:pt x="2320" y="0"/>
                    </a:lnTo>
                    <a:lnTo>
                      <a:pt x="2294" y="10"/>
                    </a:lnTo>
                    <a:lnTo>
                      <a:pt x="2278" y="32"/>
                    </a:lnTo>
                    <a:lnTo>
                      <a:pt x="2278" y="47"/>
                    </a:lnTo>
                    <a:lnTo>
                      <a:pt x="2276" y="62"/>
                    </a:lnTo>
                    <a:lnTo>
                      <a:pt x="2253" y="102"/>
                    </a:lnTo>
                    <a:lnTo>
                      <a:pt x="2199" y="163"/>
                    </a:lnTo>
                    <a:lnTo>
                      <a:pt x="2171" y="190"/>
                    </a:lnTo>
                    <a:lnTo>
                      <a:pt x="2102" y="260"/>
                    </a:lnTo>
                    <a:lnTo>
                      <a:pt x="1952" y="394"/>
                    </a:lnTo>
                    <a:lnTo>
                      <a:pt x="1878" y="459"/>
                    </a:lnTo>
                    <a:lnTo>
                      <a:pt x="1698" y="610"/>
                    </a:lnTo>
                    <a:lnTo>
                      <a:pt x="1326" y="897"/>
                    </a:lnTo>
                    <a:lnTo>
                      <a:pt x="1138" y="1036"/>
                    </a:lnTo>
                    <a:lnTo>
                      <a:pt x="969" y="1157"/>
                    </a:lnTo>
                    <a:lnTo>
                      <a:pt x="716" y="1337"/>
                    </a:lnTo>
                    <a:lnTo>
                      <a:pt x="553" y="1467"/>
                    </a:lnTo>
                    <a:lnTo>
                      <a:pt x="475" y="1536"/>
                    </a:lnTo>
                    <a:lnTo>
                      <a:pt x="415" y="1592"/>
                    </a:lnTo>
                    <a:lnTo>
                      <a:pt x="296" y="1713"/>
                    </a:lnTo>
                    <a:lnTo>
                      <a:pt x="186" y="1845"/>
                    </a:lnTo>
                    <a:lnTo>
                      <a:pt x="117" y="1951"/>
                    </a:lnTo>
                    <a:lnTo>
                      <a:pt x="77" y="2024"/>
                    </a:lnTo>
                    <a:lnTo>
                      <a:pt x="59" y="2061"/>
                    </a:lnTo>
                    <a:lnTo>
                      <a:pt x="44" y="2100"/>
                    </a:lnTo>
                    <a:lnTo>
                      <a:pt x="21" y="2181"/>
                    </a:lnTo>
                    <a:lnTo>
                      <a:pt x="2" y="2306"/>
                    </a:lnTo>
                    <a:lnTo>
                      <a:pt x="0" y="2479"/>
                    </a:lnTo>
                    <a:lnTo>
                      <a:pt x="12" y="2650"/>
                    </a:lnTo>
                    <a:lnTo>
                      <a:pt x="18" y="2732"/>
                    </a:lnTo>
                    <a:lnTo>
                      <a:pt x="19" y="2742"/>
                    </a:lnTo>
                    <a:lnTo>
                      <a:pt x="29" y="2758"/>
                    </a:lnTo>
                    <a:lnTo>
                      <a:pt x="49" y="2771"/>
                    </a:lnTo>
                    <a:lnTo>
                      <a:pt x="67" y="2770"/>
                    </a:lnTo>
                    <a:lnTo>
                      <a:pt x="101" y="2817"/>
                    </a:lnTo>
                    <a:lnTo>
                      <a:pt x="183" y="2915"/>
                    </a:lnTo>
                    <a:lnTo>
                      <a:pt x="278" y="3016"/>
                    </a:lnTo>
                    <a:lnTo>
                      <a:pt x="383" y="3109"/>
                    </a:lnTo>
                    <a:lnTo>
                      <a:pt x="497" y="3193"/>
                    </a:lnTo>
                    <a:lnTo>
                      <a:pt x="615" y="3255"/>
                    </a:lnTo>
                    <a:lnTo>
                      <a:pt x="704" y="3285"/>
                    </a:lnTo>
                    <a:lnTo>
                      <a:pt x="765" y="3297"/>
                    </a:lnTo>
                    <a:lnTo>
                      <a:pt x="825" y="3298"/>
                    </a:lnTo>
                    <a:lnTo>
                      <a:pt x="886" y="3291"/>
                    </a:lnTo>
                    <a:lnTo>
                      <a:pt x="916" y="3282"/>
                    </a:lnTo>
                    <a:lnTo>
                      <a:pt x="955" y="3271"/>
                    </a:lnTo>
                    <a:lnTo>
                      <a:pt x="1030" y="3236"/>
                    </a:lnTo>
                    <a:lnTo>
                      <a:pt x="1138" y="3171"/>
                    </a:lnTo>
                    <a:lnTo>
                      <a:pt x="1342" y="3009"/>
                    </a:lnTo>
                    <a:lnTo>
                      <a:pt x="1463" y="2899"/>
                    </a:lnTo>
                    <a:lnTo>
                      <a:pt x="1634" y="2748"/>
                    </a:lnTo>
                    <a:lnTo>
                      <a:pt x="1808" y="2600"/>
                    </a:lnTo>
                    <a:lnTo>
                      <a:pt x="2017" y="2424"/>
                    </a:lnTo>
                    <a:lnTo>
                      <a:pt x="2429" y="2066"/>
                    </a:lnTo>
                    <a:lnTo>
                      <a:pt x="2633" y="1884"/>
                    </a:lnTo>
                    <a:lnTo>
                      <a:pt x="2812" y="1724"/>
                    </a:lnTo>
                    <a:lnTo>
                      <a:pt x="2987" y="1560"/>
                    </a:lnTo>
                    <a:lnTo>
                      <a:pt x="3021" y="1530"/>
                    </a:lnTo>
                    <a:lnTo>
                      <a:pt x="3075" y="1478"/>
                    </a:lnTo>
                    <a:lnTo>
                      <a:pt x="3103" y="1438"/>
                    </a:lnTo>
                    <a:lnTo>
                      <a:pt x="3111" y="1416"/>
                    </a:lnTo>
                    <a:lnTo>
                      <a:pt x="3124" y="1415"/>
                    </a:lnTo>
                    <a:lnTo>
                      <a:pt x="3134" y="1409"/>
                    </a:lnTo>
                    <a:lnTo>
                      <a:pt x="3146" y="1401"/>
                    </a:lnTo>
                    <a:lnTo>
                      <a:pt x="3163" y="1378"/>
                    </a:lnTo>
                    <a:lnTo>
                      <a:pt x="3180" y="1337"/>
                    </a:lnTo>
                    <a:lnTo>
                      <a:pt x="3192" y="1241"/>
                    </a:lnTo>
                    <a:lnTo>
                      <a:pt x="3193" y="1183"/>
                    </a:lnTo>
                    <a:lnTo>
                      <a:pt x="3202" y="1042"/>
                    </a:lnTo>
                    <a:lnTo>
                      <a:pt x="3212" y="832"/>
                    </a:lnTo>
                    <a:lnTo>
                      <a:pt x="3212" y="691"/>
                    </a:lnTo>
                    <a:lnTo>
                      <a:pt x="3208" y="620"/>
                    </a:lnTo>
                    <a:close/>
                    <a:moveTo>
                      <a:pt x="1004" y="2495"/>
                    </a:moveTo>
                    <a:lnTo>
                      <a:pt x="998" y="2649"/>
                    </a:lnTo>
                    <a:lnTo>
                      <a:pt x="999" y="2958"/>
                    </a:lnTo>
                    <a:lnTo>
                      <a:pt x="1001" y="3114"/>
                    </a:lnTo>
                    <a:lnTo>
                      <a:pt x="942" y="3145"/>
                    </a:lnTo>
                    <a:lnTo>
                      <a:pt x="880" y="3170"/>
                    </a:lnTo>
                    <a:lnTo>
                      <a:pt x="884" y="3137"/>
                    </a:lnTo>
                    <a:lnTo>
                      <a:pt x="881" y="3066"/>
                    </a:lnTo>
                    <a:lnTo>
                      <a:pt x="868" y="2961"/>
                    </a:lnTo>
                    <a:lnTo>
                      <a:pt x="860" y="2895"/>
                    </a:lnTo>
                    <a:lnTo>
                      <a:pt x="850" y="2780"/>
                    </a:lnTo>
                    <a:lnTo>
                      <a:pt x="844" y="2610"/>
                    </a:lnTo>
                    <a:lnTo>
                      <a:pt x="850" y="2495"/>
                    </a:lnTo>
                    <a:lnTo>
                      <a:pt x="857" y="2439"/>
                    </a:lnTo>
                    <a:lnTo>
                      <a:pt x="856" y="2424"/>
                    </a:lnTo>
                    <a:lnTo>
                      <a:pt x="840" y="2398"/>
                    </a:lnTo>
                    <a:lnTo>
                      <a:pt x="828" y="2390"/>
                    </a:lnTo>
                    <a:lnTo>
                      <a:pt x="717" y="2318"/>
                    </a:lnTo>
                    <a:lnTo>
                      <a:pt x="506" y="2162"/>
                    </a:lnTo>
                    <a:lnTo>
                      <a:pt x="401" y="2082"/>
                    </a:lnTo>
                    <a:lnTo>
                      <a:pt x="382" y="2064"/>
                    </a:lnTo>
                    <a:lnTo>
                      <a:pt x="314" y="2010"/>
                    </a:lnTo>
                    <a:lnTo>
                      <a:pt x="264" y="1978"/>
                    </a:lnTo>
                    <a:lnTo>
                      <a:pt x="241" y="1969"/>
                    </a:lnTo>
                    <a:lnTo>
                      <a:pt x="294" y="1899"/>
                    </a:lnTo>
                    <a:lnTo>
                      <a:pt x="350" y="1830"/>
                    </a:lnTo>
                    <a:lnTo>
                      <a:pt x="510" y="1955"/>
                    </a:lnTo>
                    <a:lnTo>
                      <a:pt x="752" y="2141"/>
                    </a:lnTo>
                    <a:lnTo>
                      <a:pt x="909" y="2270"/>
                    </a:lnTo>
                    <a:lnTo>
                      <a:pt x="985" y="2338"/>
                    </a:lnTo>
                    <a:lnTo>
                      <a:pt x="999" y="2349"/>
                    </a:lnTo>
                    <a:lnTo>
                      <a:pt x="1034" y="2354"/>
                    </a:lnTo>
                    <a:lnTo>
                      <a:pt x="1053" y="2346"/>
                    </a:lnTo>
                    <a:lnTo>
                      <a:pt x="1132" y="2302"/>
                    </a:lnTo>
                    <a:lnTo>
                      <a:pt x="1280" y="2195"/>
                    </a:lnTo>
                    <a:lnTo>
                      <a:pt x="1418" y="2074"/>
                    </a:lnTo>
                    <a:lnTo>
                      <a:pt x="1548" y="1943"/>
                    </a:lnTo>
                    <a:lnTo>
                      <a:pt x="1610" y="1877"/>
                    </a:lnTo>
                    <a:lnTo>
                      <a:pt x="1617" y="1868"/>
                    </a:lnTo>
                    <a:lnTo>
                      <a:pt x="1624" y="1847"/>
                    </a:lnTo>
                    <a:lnTo>
                      <a:pt x="1626" y="1827"/>
                    </a:lnTo>
                    <a:lnTo>
                      <a:pt x="1617" y="1807"/>
                    </a:lnTo>
                    <a:lnTo>
                      <a:pt x="1610" y="1796"/>
                    </a:lnTo>
                    <a:lnTo>
                      <a:pt x="1420" y="1596"/>
                    </a:lnTo>
                    <a:lnTo>
                      <a:pt x="1231" y="1395"/>
                    </a:lnTo>
                    <a:lnTo>
                      <a:pt x="1201" y="1360"/>
                    </a:lnTo>
                    <a:lnTo>
                      <a:pt x="1132" y="1288"/>
                    </a:lnTo>
                    <a:lnTo>
                      <a:pt x="1082" y="1248"/>
                    </a:lnTo>
                    <a:lnTo>
                      <a:pt x="1056" y="1235"/>
                    </a:lnTo>
                    <a:lnTo>
                      <a:pt x="1244" y="1103"/>
                    </a:lnTo>
                    <a:lnTo>
                      <a:pt x="1430" y="964"/>
                    </a:lnTo>
                    <a:lnTo>
                      <a:pt x="1614" y="825"/>
                    </a:lnTo>
                    <a:lnTo>
                      <a:pt x="1885" y="607"/>
                    </a:lnTo>
                    <a:lnTo>
                      <a:pt x="2060" y="458"/>
                    </a:lnTo>
                    <a:lnTo>
                      <a:pt x="2145" y="380"/>
                    </a:lnTo>
                    <a:lnTo>
                      <a:pt x="2194" y="338"/>
                    </a:lnTo>
                    <a:lnTo>
                      <a:pt x="2299" y="235"/>
                    </a:lnTo>
                    <a:lnTo>
                      <a:pt x="2344" y="177"/>
                    </a:lnTo>
                    <a:lnTo>
                      <a:pt x="2367" y="138"/>
                    </a:lnTo>
                    <a:lnTo>
                      <a:pt x="2374" y="118"/>
                    </a:lnTo>
                    <a:lnTo>
                      <a:pt x="2422" y="140"/>
                    </a:lnTo>
                    <a:lnTo>
                      <a:pt x="2466" y="163"/>
                    </a:lnTo>
                    <a:lnTo>
                      <a:pt x="2534" y="206"/>
                    </a:lnTo>
                    <a:lnTo>
                      <a:pt x="2661" y="304"/>
                    </a:lnTo>
                    <a:lnTo>
                      <a:pt x="2721" y="354"/>
                    </a:lnTo>
                    <a:lnTo>
                      <a:pt x="2833" y="453"/>
                    </a:lnTo>
                    <a:lnTo>
                      <a:pt x="2944" y="554"/>
                    </a:lnTo>
                    <a:lnTo>
                      <a:pt x="2993" y="603"/>
                    </a:lnTo>
                    <a:lnTo>
                      <a:pt x="3048" y="646"/>
                    </a:lnTo>
                    <a:lnTo>
                      <a:pt x="2937" y="771"/>
                    </a:lnTo>
                    <a:lnTo>
                      <a:pt x="2708" y="1016"/>
                    </a:lnTo>
                    <a:lnTo>
                      <a:pt x="2474" y="1257"/>
                    </a:lnTo>
                    <a:lnTo>
                      <a:pt x="2233" y="1490"/>
                    </a:lnTo>
                    <a:lnTo>
                      <a:pt x="2112" y="1605"/>
                    </a:lnTo>
                    <a:lnTo>
                      <a:pt x="1987" y="1720"/>
                    </a:lnTo>
                    <a:lnTo>
                      <a:pt x="1732" y="1951"/>
                    </a:lnTo>
                    <a:lnTo>
                      <a:pt x="1467" y="2169"/>
                    </a:lnTo>
                    <a:lnTo>
                      <a:pt x="1261" y="2322"/>
                    </a:lnTo>
                    <a:lnTo>
                      <a:pt x="1120" y="2417"/>
                    </a:lnTo>
                    <a:lnTo>
                      <a:pt x="1047" y="2462"/>
                    </a:lnTo>
                    <a:lnTo>
                      <a:pt x="1047" y="2462"/>
                    </a:lnTo>
                    <a:lnTo>
                      <a:pt x="1047" y="2463"/>
                    </a:lnTo>
                    <a:lnTo>
                      <a:pt x="1033" y="2460"/>
                    </a:lnTo>
                    <a:lnTo>
                      <a:pt x="1012" y="2472"/>
                    </a:lnTo>
                    <a:lnTo>
                      <a:pt x="1005" y="2485"/>
                    </a:lnTo>
                    <a:lnTo>
                      <a:pt x="1004" y="2495"/>
                    </a:lnTo>
                    <a:close/>
                    <a:moveTo>
                      <a:pt x="3082" y="1081"/>
                    </a:moveTo>
                    <a:lnTo>
                      <a:pt x="3078" y="1147"/>
                    </a:lnTo>
                    <a:lnTo>
                      <a:pt x="3074" y="1213"/>
                    </a:lnTo>
                    <a:lnTo>
                      <a:pt x="3072" y="1247"/>
                    </a:lnTo>
                    <a:lnTo>
                      <a:pt x="3069" y="1280"/>
                    </a:lnTo>
                    <a:lnTo>
                      <a:pt x="3067" y="1301"/>
                    </a:lnTo>
                    <a:lnTo>
                      <a:pt x="3065" y="1316"/>
                    </a:lnTo>
                    <a:lnTo>
                      <a:pt x="3059" y="1320"/>
                    </a:lnTo>
                    <a:lnTo>
                      <a:pt x="3052" y="1334"/>
                    </a:lnTo>
                    <a:lnTo>
                      <a:pt x="3051" y="1343"/>
                    </a:lnTo>
                    <a:lnTo>
                      <a:pt x="3038" y="1349"/>
                    </a:lnTo>
                    <a:lnTo>
                      <a:pt x="3018" y="1372"/>
                    </a:lnTo>
                    <a:lnTo>
                      <a:pt x="3016" y="1389"/>
                    </a:lnTo>
                    <a:lnTo>
                      <a:pt x="3018" y="1366"/>
                    </a:lnTo>
                    <a:lnTo>
                      <a:pt x="3010" y="1369"/>
                    </a:lnTo>
                    <a:lnTo>
                      <a:pt x="2990" y="1393"/>
                    </a:lnTo>
                    <a:lnTo>
                      <a:pt x="2941" y="1444"/>
                    </a:lnTo>
                    <a:lnTo>
                      <a:pt x="2890" y="1493"/>
                    </a:lnTo>
                    <a:lnTo>
                      <a:pt x="2734" y="1637"/>
                    </a:lnTo>
                    <a:lnTo>
                      <a:pt x="2574" y="1779"/>
                    </a:lnTo>
                    <a:lnTo>
                      <a:pt x="2201" y="2110"/>
                    </a:lnTo>
                    <a:lnTo>
                      <a:pt x="1823" y="2434"/>
                    </a:lnTo>
                    <a:lnTo>
                      <a:pt x="1804" y="2451"/>
                    </a:lnTo>
                    <a:lnTo>
                      <a:pt x="1785" y="2467"/>
                    </a:lnTo>
                    <a:lnTo>
                      <a:pt x="1778" y="2349"/>
                    </a:lnTo>
                    <a:lnTo>
                      <a:pt x="1765" y="2231"/>
                    </a:lnTo>
                    <a:lnTo>
                      <a:pt x="1764" y="2181"/>
                    </a:lnTo>
                    <a:lnTo>
                      <a:pt x="1765" y="2130"/>
                    </a:lnTo>
                    <a:lnTo>
                      <a:pt x="1764" y="2118"/>
                    </a:lnTo>
                    <a:lnTo>
                      <a:pt x="1749" y="2105"/>
                    </a:lnTo>
                    <a:lnTo>
                      <a:pt x="1739" y="2103"/>
                    </a:lnTo>
                    <a:lnTo>
                      <a:pt x="1927" y="1936"/>
                    </a:lnTo>
                    <a:lnTo>
                      <a:pt x="2106" y="1769"/>
                    </a:lnTo>
                    <a:lnTo>
                      <a:pt x="2236" y="1651"/>
                    </a:lnTo>
                    <a:lnTo>
                      <a:pt x="2489" y="1406"/>
                    </a:lnTo>
                    <a:lnTo>
                      <a:pt x="2737" y="1157"/>
                    </a:lnTo>
                    <a:lnTo>
                      <a:pt x="2977" y="901"/>
                    </a:lnTo>
                    <a:lnTo>
                      <a:pt x="3095" y="770"/>
                    </a:lnTo>
                    <a:lnTo>
                      <a:pt x="3093" y="926"/>
                    </a:lnTo>
                    <a:lnTo>
                      <a:pt x="3082" y="10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29" name="Freeform 18">
                <a:extLst>
                  <a:ext uri="{FF2B5EF4-FFF2-40B4-BE49-F238E27FC236}">
                    <a16:creationId xmlns:a16="http://schemas.microsoft.com/office/drawing/2014/main" xmlns="" id="{2A393299-E961-914E-078A-CFF09B8D8628}"/>
                  </a:ext>
                </a:extLst>
              </p:cNvPr>
              <p:cNvSpPr/>
              <p:nvPr/>
            </p:nvSpPr>
            <p:spPr>
              <a:xfrm>
                <a:off x="1398" y="2746"/>
                <a:ext cx="212" cy="132"/>
              </a:xfrm>
              <a:custGeom>
                <a:avLst/>
                <a:gdLst>
                  <a:gd name="T0" fmla="*/ 544 w 635"/>
                  <a:gd name="T1" fmla="*/ 0 h 398"/>
                  <a:gd name="T2" fmla="*/ 504 w 635"/>
                  <a:gd name="T3" fmla="*/ 18 h 398"/>
                  <a:gd name="T4" fmla="*/ 496 w 635"/>
                  <a:gd name="T5" fmla="*/ 52 h 398"/>
                  <a:gd name="T6" fmla="*/ 530 w 635"/>
                  <a:gd name="T7" fmla="*/ 177 h 398"/>
                  <a:gd name="T8" fmla="*/ 515 w 635"/>
                  <a:gd name="T9" fmla="*/ 226 h 398"/>
                  <a:gd name="T10" fmla="*/ 478 w 635"/>
                  <a:gd name="T11" fmla="*/ 262 h 398"/>
                  <a:gd name="T12" fmla="*/ 403 w 635"/>
                  <a:gd name="T13" fmla="*/ 291 h 398"/>
                  <a:gd name="T14" fmla="*/ 352 w 635"/>
                  <a:gd name="T15" fmla="*/ 272 h 398"/>
                  <a:gd name="T16" fmla="*/ 332 w 635"/>
                  <a:gd name="T17" fmla="*/ 226 h 398"/>
                  <a:gd name="T18" fmla="*/ 331 w 635"/>
                  <a:gd name="T19" fmla="*/ 198 h 398"/>
                  <a:gd name="T20" fmla="*/ 303 w 635"/>
                  <a:gd name="T21" fmla="*/ 164 h 398"/>
                  <a:gd name="T22" fmla="*/ 246 w 635"/>
                  <a:gd name="T23" fmla="*/ 180 h 398"/>
                  <a:gd name="T24" fmla="*/ 236 w 635"/>
                  <a:gd name="T25" fmla="*/ 209 h 398"/>
                  <a:gd name="T26" fmla="*/ 220 w 635"/>
                  <a:gd name="T27" fmla="*/ 268 h 398"/>
                  <a:gd name="T28" fmla="*/ 160 w 635"/>
                  <a:gd name="T29" fmla="*/ 310 h 398"/>
                  <a:gd name="T30" fmla="*/ 122 w 635"/>
                  <a:gd name="T31" fmla="*/ 304 h 398"/>
                  <a:gd name="T32" fmla="*/ 83 w 635"/>
                  <a:gd name="T33" fmla="*/ 270 h 398"/>
                  <a:gd name="T34" fmla="*/ 83 w 635"/>
                  <a:gd name="T35" fmla="*/ 182 h 398"/>
                  <a:gd name="T36" fmla="*/ 90 w 635"/>
                  <a:gd name="T37" fmla="*/ 149 h 398"/>
                  <a:gd name="T38" fmla="*/ 62 w 635"/>
                  <a:gd name="T39" fmla="*/ 126 h 398"/>
                  <a:gd name="T40" fmla="*/ 34 w 635"/>
                  <a:gd name="T41" fmla="*/ 139 h 398"/>
                  <a:gd name="T42" fmla="*/ 7 w 635"/>
                  <a:gd name="T43" fmla="*/ 193 h 398"/>
                  <a:gd name="T44" fmla="*/ 3 w 635"/>
                  <a:gd name="T45" fmla="*/ 268 h 398"/>
                  <a:gd name="T46" fmla="*/ 31 w 635"/>
                  <a:gd name="T47" fmla="*/ 336 h 398"/>
                  <a:gd name="T48" fmla="*/ 93 w 635"/>
                  <a:gd name="T49" fmla="*/ 383 h 398"/>
                  <a:gd name="T50" fmla="*/ 139 w 635"/>
                  <a:gd name="T51" fmla="*/ 398 h 398"/>
                  <a:gd name="T52" fmla="*/ 229 w 635"/>
                  <a:gd name="T53" fmla="*/ 383 h 398"/>
                  <a:gd name="T54" fmla="*/ 279 w 635"/>
                  <a:gd name="T55" fmla="*/ 339 h 398"/>
                  <a:gd name="T56" fmla="*/ 350 w 635"/>
                  <a:gd name="T57" fmla="*/ 379 h 398"/>
                  <a:gd name="T58" fmla="*/ 470 w 635"/>
                  <a:gd name="T59" fmla="*/ 375 h 398"/>
                  <a:gd name="T60" fmla="*/ 527 w 635"/>
                  <a:gd name="T61" fmla="*/ 350 h 398"/>
                  <a:gd name="T62" fmla="*/ 600 w 635"/>
                  <a:gd name="T63" fmla="*/ 271 h 398"/>
                  <a:gd name="T64" fmla="*/ 635 w 635"/>
                  <a:gd name="T65" fmla="*/ 166 h 398"/>
                  <a:gd name="T66" fmla="*/ 614 w 635"/>
                  <a:gd name="T67" fmla="*/ 64 h 398"/>
                  <a:gd name="T68" fmla="*/ 555 w 635"/>
                  <a:gd name="T69" fmla="*/ 6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35" h="398">
                    <a:moveTo>
                      <a:pt x="555" y="6"/>
                    </a:moveTo>
                    <a:lnTo>
                      <a:pt x="544" y="0"/>
                    </a:lnTo>
                    <a:lnTo>
                      <a:pt x="521" y="3"/>
                    </a:lnTo>
                    <a:lnTo>
                      <a:pt x="504" y="18"/>
                    </a:lnTo>
                    <a:lnTo>
                      <a:pt x="495" y="39"/>
                    </a:lnTo>
                    <a:lnTo>
                      <a:pt x="496" y="52"/>
                    </a:lnTo>
                    <a:lnTo>
                      <a:pt x="514" y="113"/>
                    </a:lnTo>
                    <a:lnTo>
                      <a:pt x="530" y="177"/>
                    </a:lnTo>
                    <a:lnTo>
                      <a:pt x="527" y="202"/>
                    </a:lnTo>
                    <a:lnTo>
                      <a:pt x="515" y="226"/>
                    </a:lnTo>
                    <a:lnTo>
                      <a:pt x="494" y="251"/>
                    </a:lnTo>
                    <a:lnTo>
                      <a:pt x="478" y="262"/>
                    </a:lnTo>
                    <a:lnTo>
                      <a:pt x="453" y="278"/>
                    </a:lnTo>
                    <a:lnTo>
                      <a:pt x="403" y="291"/>
                    </a:lnTo>
                    <a:lnTo>
                      <a:pt x="370" y="284"/>
                    </a:lnTo>
                    <a:lnTo>
                      <a:pt x="352" y="272"/>
                    </a:lnTo>
                    <a:lnTo>
                      <a:pt x="339" y="252"/>
                    </a:lnTo>
                    <a:lnTo>
                      <a:pt x="332" y="226"/>
                    </a:lnTo>
                    <a:lnTo>
                      <a:pt x="332" y="209"/>
                    </a:lnTo>
                    <a:lnTo>
                      <a:pt x="331" y="198"/>
                    </a:lnTo>
                    <a:lnTo>
                      <a:pt x="324" y="180"/>
                    </a:lnTo>
                    <a:lnTo>
                      <a:pt x="303" y="164"/>
                    </a:lnTo>
                    <a:lnTo>
                      <a:pt x="268" y="164"/>
                    </a:lnTo>
                    <a:lnTo>
                      <a:pt x="246" y="180"/>
                    </a:lnTo>
                    <a:lnTo>
                      <a:pt x="237" y="198"/>
                    </a:lnTo>
                    <a:lnTo>
                      <a:pt x="236" y="209"/>
                    </a:lnTo>
                    <a:lnTo>
                      <a:pt x="233" y="231"/>
                    </a:lnTo>
                    <a:lnTo>
                      <a:pt x="220" y="268"/>
                    </a:lnTo>
                    <a:lnTo>
                      <a:pt x="196" y="297"/>
                    </a:lnTo>
                    <a:lnTo>
                      <a:pt x="160" y="310"/>
                    </a:lnTo>
                    <a:lnTo>
                      <a:pt x="137" y="307"/>
                    </a:lnTo>
                    <a:lnTo>
                      <a:pt x="122" y="304"/>
                    </a:lnTo>
                    <a:lnTo>
                      <a:pt x="102" y="294"/>
                    </a:lnTo>
                    <a:lnTo>
                      <a:pt x="83" y="270"/>
                    </a:lnTo>
                    <a:lnTo>
                      <a:pt x="76" y="228"/>
                    </a:lnTo>
                    <a:lnTo>
                      <a:pt x="83" y="182"/>
                    </a:lnTo>
                    <a:lnTo>
                      <a:pt x="88" y="162"/>
                    </a:lnTo>
                    <a:lnTo>
                      <a:pt x="90" y="149"/>
                    </a:lnTo>
                    <a:lnTo>
                      <a:pt x="80" y="131"/>
                    </a:lnTo>
                    <a:lnTo>
                      <a:pt x="62" y="126"/>
                    </a:lnTo>
                    <a:lnTo>
                      <a:pt x="43" y="130"/>
                    </a:lnTo>
                    <a:lnTo>
                      <a:pt x="34" y="139"/>
                    </a:lnTo>
                    <a:lnTo>
                      <a:pt x="23" y="157"/>
                    </a:lnTo>
                    <a:lnTo>
                      <a:pt x="7" y="193"/>
                    </a:lnTo>
                    <a:lnTo>
                      <a:pt x="0" y="232"/>
                    </a:lnTo>
                    <a:lnTo>
                      <a:pt x="3" y="268"/>
                    </a:lnTo>
                    <a:lnTo>
                      <a:pt x="13" y="304"/>
                    </a:lnTo>
                    <a:lnTo>
                      <a:pt x="31" y="336"/>
                    </a:lnTo>
                    <a:lnTo>
                      <a:pt x="59" y="362"/>
                    </a:lnTo>
                    <a:lnTo>
                      <a:pt x="93" y="383"/>
                    </a:lnTo>
                    <a:lnTo>
                      <a:pt x="113" y="390"/>
                    </a:lnTo>
                    <a:lnTo>
                      <a:pt x="139" y="398"/>
                    </a:lnTo>
                    <a:lnTo>
                      <a:pt x="187" y="398"/>
                    </a:lnTo>
                    <a:lnTo>
                      <a:pt x="229" y="383"/>
                    </a:lnTo>
                    <a:lnTo>
                      <a:pt x="265" y="356"/>
                    </a:lnTo>
                    <a:lnTo>
                      <a:pt x="279" y="339"/>
                    </a:lnTo>
                    <a:lnTo>
                      <a:pt x="299" y="356"/>
                    </a:lnTo>
                    <a:lnTo>
                      <a:pt x="350" y="379"/>
                    </a:lnTo>
                    <a:lnTo>
                      <a:pt x="409" y="386"/>
                    </a:lnTo>
                    <a:lnTo>
                      <a:pt x="470" y="375"/>
                    </a:lnTo>
                    <a:lnTo>
                      <a:pt x="502" y="362"/>
                    </a:lnTo>
                    <a:lnTo>
                      <a:pt x="527" y="350"/>
                    </a:lnTo>
                    <a:lnTo>
                      <a:pt x="567" y="316"/>
                    </a:lnTo>
                    <a:lnTo>
                      <a:pt x="600" y="271"/>
                    </a:lnTo>
                    <a:lnTo>
                      <a:pt x="623" y="221"/>
                    </a:lnTo>
                    <a:lnTo>
                      <a:pt x="635" y="166"/>
                    </a:lnTo>
                    <a:lnTo>
                      <a:pt x="632" y="113"/>
                    </a:lnTo>
                    <a:lnTo>
                      <a:pt x="614" y="64"/>
                    </a:lnTo>
                    <a:lnTo>
                      <a:pt x="581" y="23"/>
                    </a:lnTo>
                    <a:lnTo>
                      <a:pt x="555" y="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30" name="Freeform 19">
                <a:extLst>
                  <a:ext uri="{FF2B5EF4-FFF2-40B4-BE49-F238E27FC236}">
                    <a16:creationId xmlns:a16="http://schemas.microsoft.com/office/drawing/2014/main" xmlns="" id="{30332059-8321-3898-B91D-51E25CDA3AB0}"/>
                  </a:ext>
                </a:extLst>
              </p:cNvPr>
              <p:cNvSpPr/>
              <p:nvPr/>
            </p:nvSpPr>
            <p:spPr>
              <a:xfrm>
                <a:off x="1655" y="2515"/>
                <a:ext cx="176" cy="179"/>
              </a:xfrm>
              <a:custGeom>
                <a:avLst/>
                <a:gdLst>
                  <a:gd name="T0" fmla="*/ 301 w 528"/>
                  <a:gd name="T1" fmla="*/ 1 h 538"/>
                  <a:gd name="T2" fmla="*/ 268 w 528"/>
                  <a:gd name="T3" fmla="*/ 27 h 538"/>
                  <a:gd name="T4" fmla="*/ 273 w 528"/>
                  <a:gd name="T5" fmla="*/ 82 h 538"/>
                  <a:gd name="T6" fmla="*/ 298 w 528"/>
                  <a:gd name="T7" fmla="*/ 95 h 538"/>
                  <a:gd name="T8" fmla="*/ 373 w 528"/>
                  <a:gd name="T9" fmla="*/ 112 h 538"/>
                  <a:gd name="T10" fmla="*/ 419 w 528"/>
                  <a:gd name="T11" fmla="*/ 145 h 538"/>
                  <a:gd name="T12" fmla="*/ 423 w 528"/>
                  <a:gd name="T13" fmla="*/ 191 h 538"/>
                  <a:gd name="T14" fmla="*/ 409 w 528"/>
                  <a:gd name="T15" fmla="*/ 220 h 538"/>
                  <a:gd name="T16" fmla="*/ 357 w 528"/>
                  <a:gd name="T17" fmla="*/ 265 h 538"/>
                  <a:gd name="T18" fmla="*/ 245 w 528"/>
                  <a:gd name="T19" fmla="*/ 269 h 538"/>
                  <a:gd name="T20" fmla="*/ 207 w 528"/>
                  <a:gd name="T21" fmla="*/ 256 h 538"/>
                  <a:gd name="T22" fmla="*/ 188 w 528"/>
                  <a:gd name="T23" fmla="*/ 250 h 538"/>
                  <a:gd name="T24" fmla="*/ 150 w 528"/>
                  <a:gd name="T25" fmla="*/ 268 h 538"/>
                  <a:gd name="T26" fmla="*/ 141 w 528"/>
                  <a:gd name="T27" fmla="*/ 324 h 538"/>
                  <a:gd name="T28" fmla="*/ 161 w 528"/>
                  <a:gd name="T29" fmla="*/ 341 h 538"/>
                  <a:gd name="T30" fmla="*/ 173 w 528"/>
                  <a:gd name="T31" fmla="*/ 347 h 538"/>
                  <a:gd name="T32" fmla="*/ 178 w 528"/>
                  <a:gd name="T33" fmla="*/ 348 h 538"/>
                  <a:gd name="T34" fmla="*/ 184 w 528"/>
                  <a:gd name="T35" fmla="*/ 351 h 538"/>
                  <a:gd name="T36" fmla="*/ 220 w 528"/>
                  <a:gd name="T37" fmla="*/ 367 h 538"/>
                  <a:gd name="T38" fmla="*/ 243 w 528"/>
                  <a:gd name="T39" fmla="*/ 399 h 538"/>
                  <a:gd name="T40" fmla="*/ 180 w 528"/>
                  <a:gd name="T41" fmla="*/ 443 h 538"/>
                  <a:gd name="T42" fmla="*/ 131 w 528"/>
                  <a:gd name="T43" fmla="*/ 456 h 538"/>
                  <a:gd name="T44" fmla="*/ 62 w 528"/>
                  <a:gd name="T45" fmla="*/ 456 h 538"/>
                  <a:gd name="T46" fmla="*/ 50 w 528"/>
                  <a:gd name="T47" fmla="*/ 443 h 538"/>
                  <a:gd name="T48" fmla="*/ 10 w 528"/>
                  <a:gd name="T49" fmla="*/ 446 h 538"/>
                  <a:gd name="T50" fmla="*/ 3 w 528"/>
                  <a:gd name="T51" fmla="*/ 475 h 538"/>
                  <a:gd name="T52" fmla="*/ 45 w 528"/>
                  <a:gd name="T53" fmla="*/ 525 h 538"/>
                  <a:gd name="T54" fmla="*/ 134 w 528"/>
                  <a:gd name="T55" fmla="*/ 538 h 538"/>
                  <a:gd name="T56" fmla="*/ 190 w 528"/>
                  <a:gd name="T57" fmla="*/ 528 h 538"/>
                  <a:gd name="T58" fmla="*/ 302 w 528"/>
                  <a:gd name="T59" fmla="*/ 465 h 538"/>
                  <a:gd name="T60" fmla="*/ 355 w 528"/>
                  <a:gd name="T61" fmla="*/ 383 h 538"/>
                  <a:gd name="T62" fmla="*/ 357 w 528"/>
                  <a:gd name="T63" fmla="*/ 366 h 538"/>
                  <a:gd name="T64" fmla="*/ 425 w 528"/>
                  <a:gd name="T65" fmla="*/ 341 h 538"/>
                  <a:gd name="T66" fmla="*/ 497 w 528"/>
                  <a:gd name="T67" fmla="*/ 271 h 538"/>
                  <a:gd name="T68" fmla="*/ 520 w 528"/>
                  <a:gd name="T69" fmla="*/ 220 h 538"/>
                  <a:gd name="T70" fmla="*/ 520 w 528"/>
                  <a:gd name="T71" fmla="*/ 127 h 538"/>
                  <a:gd name="T72" fmla="*/ 469 w 528"/>
                  <a:gd name="T73" fmla="*/ 53 h 538"/>
                  <a:gd name="T74" fmla="*/ 384 w 528"/>
                  <a:gd name="T75" fmla="*/ 9 h 538"/>
                  <a:gd name="T76" fmla="*/ 311 w 528"/>
                  <a:gd name="T77" fmla="*/ 0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28" h="538">
                    <a:moveTo>
                      <a:pt x="311" y="0"/>
                    </a:moveTo>
                    <a:lnTo>
                      <a:pt x="301" y="1"/>
                    </a:lnTo>
                    <a:lnTo>
                      <a:pt x="285" y="9"/>
                    </a:lnTo>
                    <a:lnTo>
                      <a:pt x="268" y="27"/>
                    </a:lnTo>
                    <a:lnTo>
                      <a:pt x="263" y="60"/>
                    </a:lnTo>
                    <a:lnTo>
                      <a:pt x="273" y="82"/>
                    </a:lnTo>
                    <a:lnTo>
                      <a:pt x="288" y="92"/>
                    </a:lnTo>
                    <a:lnTo>
                      <a:pt x="298" y="95"/>
                    </a:lnTo>
                    <a:lnTo>
                      <a:pt x="321" y="99"/>
                    </a:lnTo>
                    <a:lnTo>
                      <a:pt x="373" y="112"/>
                    </a:lnTo>
                    <a:lnTo>
                      <a:pt x="404" y="129"/>
                    </a:lnTo>
                    <a:lnTo>
                      <a:pt x="419" y="145"/>
                    </a:lnTo>
                    <a:lnTo>
                      <a:pt x="426" y="165"/>
                    </a:lnTo>
                    <a:lnTo>
                      <a:pt x="423" y="191"/>
                    </a:lnTo>
                    <a:lnTo>
                      <a:pt x="416" y="206"/>
                    </a:lnTo>
                    <a:lnTo>
                      <a:pt x="409" y="220"/>
                    </a:lnTo>
                    <a:lnTo>
                      <a:pt x="391" y="242"/>
                    </a:lnTo>
                    <a:lnTo>
                      <a:pt x="357" y="265"/>
                    </a:lnTo>
                    <a:lnTo>
                      <a:pt x="302" y="276"/>
                    </a:lnTo>
                    <a:lnTo>
                      <a:pt x="245" y="269"/>
                    </a:lnTo>
                    <a:lnTo>
                      <a:pt x="217" y="260"/>
                    </a:lnTo>
                    <a:lnTo>
                      <a:pt x="207" y="256"/>
                    </a:lnTo>
                    <a:lnTo>
                      <a:pt x="199" y="253"/>
                    </a:lnTo>
                    <a:lnTo>
                      <a:pt x="188" y="250"/>
                    </a:lnTo>
                    <a:lnTo>
                      <a:pt x="171" y="253"/>
                    </a:lnTo>
                    <a:lnTo>
                      <a:pt x="150" y="268"/>
                    </a:lnTo>
                    <a:lnTo>
                      <a:pt x="135" y="299"/>
                    </a:lnTo>
                    <a:lnTo>
                      <a:pt x="141" y="324"/>
                    </a:lnTo>
                    <a:lnTo>
                      <a:pt x="151" y="337"/>
                    </a:lnTo>
                    <a:lnTo>
                      <a:pt x="161" y="341"/>
                    </a:lnTo>
                    <a:lnTo>
                      <a:pt x="167" y="344"/>
                    </a:lnTo>
                    <a:lnTo>
                      <a:pt x="173" y="347"/>
                    </a:lnTo>
                    <a:lnTo>
                      <a:pt x="173" y="347"/>
                    </a:lnTo>
                    <a:lnTo>
                      <a:pt x="178" y="348"/>
                    </a:lnTo>
                    <a:lnTo>
                      <a:pt x="184" y="351"/>
                    </a:lnTo>
                    <a:lnTo>
                      <a:pt x="184" y="351"/>
                    </a:lnTo>
                    <a:lnTo>
                      <a:pt x="184" y="351"/>
                    </a:lnTo>
                    <a:lnTo>
                      <a:pt x="220" y="367"/>
                    </a:lnTo>
                    <a:lnTo>
                      <a:pt x="252" y="386"/>
                    </a:lnTo>
                    <a:lnTo>
                      <a:pt x="243" y="399"/>
                    </a:lnTo>
                    <a:lnTo>
                      <a:pt x="220" y="420"/>
                    </a:lnTo>
                    <a:lnTo>
                      <a:pt x="180" y="443"/>
                    </a:lnTo>
                    <a:lnTo>
                      <a:pt x="150" y="452"/>
                    </a:lnTo>
                    <a:lnTo>
                      <a:pt x="131" y="456"/>
                    </a:lnTo>
                    <a:lnTo>
                      <a:pt x="85" y="459"/>
                    </a:lnTo>
                    <a:lnTo>
                      <a:pt x="62" y="456"/>
                    </a:lnTo>
                    <a:lnTo>
                      <a:pt x="57" y="453"/>
                    </a:lnTo>
                    <a:lnTo>
                      <a:pt x="50" y="443"/>
                    </a:lnTo>
                    <a:lnTo>
                      <a:pt x="30" y="438"/>
                    </a:lnTo>
                    <a:lnTo>
                      <a:pt x="10" y="446"/>
                    </a:lnTo>
                    <a:lnTo>
                      <a:pt x="0" y="463"/>
                    </a:lnTo>
                    <a:lnTo>
                      <a:pt x="3" y="475"/>
                    </a:lnTo>
                    <a:lnTo>
                      <a:pt x="13" y="498"/>
                    </a:lnTo>
                    <a:lnTo>
                      <a:pt x="45" y="525"/>
                    </a:lnTo>
                    <a:lnTo>
                      <a:pt x="88" y="537"/>
                    </a:lnTo>
                    <a:lnTo>
                      <a:pt x="134" y="538"/>
                    </a:lnTo>
                    <a:lnTo>
                      <a:pt x="155" y="534"/>
                    </a:lnTo>
                    <a:lnTo>
                      <a:pt x="190" y="528"/>
                    </a:lnTo>
                    <a:lnTo>
                      <a:pt x="250" y="504"/>
                    </a:lnTo>
                    <a:lnTo>
                      <a:pt x="302" y="465"/>
                    </a:lnTo>
                    <a:lnTo>
                      <a:pt x="341" y="414"/>
                    </a:lnTo>
                    <a:lnTo>
                      <a:pt x="355" y="383"/>
                    </a:lnTo>
                    <a:lnTo>
                      <a:pt x="358" y="374"/>
                    </a:lnTo>
                    <a:lnTo>
                      <a:pt x="357" y="366"/>
                    </a:lnTo>
                    <a:lnTo>
                      <a:pt x="381" y="360"/>
                    </a:lnTo>
                    <a:lnTo>
                      <a:pt x="425" y="341"/>
                    </a:lnTo>
                    <a:lnTo>
                      <a:pt x="463" y="311"/>
                    </a:lnTo>
                    <a:lnTo>
                      <a:pt x="497" y="271"/>
                    </a:lnTo>
                    <a:lnTo>
                      <a:pt x="509" y="246"/>
                    </a:lnTo>
                    <a:lnTo>
                      <a:pt x="520" y="220"/>
                    </a:lnTo>
                    <a:lnTo>
                      <a:pt x="528" y="171"/>
                    </a:lnTo>
                    <a:lnTo>
                      <a:pt x="520" y="127"/>
                    </a:lnTo>
                    <a:lnTo>
                      <a:pt x="499" y="86"/>
                    </a:lnTo>
                    <a:lnTo>
                      <a:pt x="469" y="53"/>
                    </a:lnTo>
                    <a:lnTo>
                      <a:pt x="430" y="26"/>
                    </a:lnTo>
                    <a:lnTo>
                      <a:pt x="384" y="9"/>
                    </a:lnTo>
                    <a:lnTo>
                      <a:pt x="337" y="0"/>
                    </a:lnTo>
                    <a:lnTo>
                      <a:pt x="3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31" name="Freeform 20">
                <a:extLst>
                  <a:ext uri="{FF2B5EF4-FFF2-40B4-BE49-F238E27FC236}">
                    <a16:creationId xmlns:a16="http://schemas.microsoft.com/office/drawing/2014/main" xmlns="" id="{DA6DD40A-291B-2162-A8E8-B8BFE8ECE54D}"/>
                  </a:ext>
                </a:extLst>
              </p:cNvPr>
              <p:cNvSpPr/>
              <p:nvPr/>
            </p:nvSpPr>
            <p:spPr>
              <a:xfrm>
                <a:off x="1665" y="2702"/>
                <a:ext cx="205" cy="210"/>
              </a:xfrm>
              <a:custGeom>
                <a:avLst/>
                <a:gdLst>
                  <a:gd name="T0" fmla="*/ 388 w 613"/>
                  <a:gd name="T1" fmla="*/ 3 h 630"/>
                  <a:gd name="T2" fmla="*/ 357 w 613"/>
                  <a:gd name="T3" fmla="*/ 52 h 630"/>
                  <a:gd name="T4" fmla="*/ 381 w 613"/>
                  <a:gd name="T5" fmla="*/ 89 h 630"/>
                  <a:gd name="T6" fmla="*/ 466 w 613"/>
                  <a:gd name="T7" fmla="*/ 128 h 630"/>
                  <a:gd name="T8" fmla="*/ 511 w 613"/>
                  <a:gd name="T9" fmla="*/ 174 h 630"/>
                  <a:gd name="T10" fmla="*/ 506 w 613"/>
                  <a:gd name="T11" fmla="*/ 230 h 630"/>
                  <a:gd name="T12" fmla="*/ 486 w 613"/>
                  <a:gd name="T13" fmla="*/ 265 h 630"/>
                  <a:gd name="T14" fmla="*/ 431 w 613"/>
                  <a:gd name="T15" fmla="*/ 307 h 630"/>
                  <a:gd name="T16" fmla="*/ 349 w 613"/>
                  <a:gd name="T17" fmla="*/ 312 h 630"/>
                  <a:gd name="T18" fmla="*/ 257 w 613"/>
                  <a:gd name="T19" fmla="*/ 265 h 630"/>
                  <a:gd name="T20" fmla="*/ 253 w 613"/>
                  <a:gd name="T21" fmla="*/ 260 h 630"/>
                  <a:gd name="T22" fmla="*/ 239 w 613"/>
                  <a:gd name="T23" fmla="*/ 252 h 630"/>
                  <a:gd name="T24" fmla="*/ 198 w 613"/>
                  <a:gd name="T25" fmla="*/ 256 h 630"/>
                  <a:gd name="T26" fmla="*/ 175 w 613"/>
                  <a:gd name="T27" fmla="*/ 311 h 630"/>
                  <a:gd name="T28" fmla="*/ 188 w 613"/>
                  <a:gd name="T29" fmla="*/ 334 h 630"/>
                  <a:gd name="T30" fmla="*/ 214 w 613"/>
                  <a:gd name="T31" fmla="*/ 354 h 630"/>
                  <a:gd name="T32" fmla="*/ 256 w 613"/>
                  <a:gd name="T33" fmla="*/ 422 h 630"/>
                  <a:gd name="T34" fmla="*/ 224 w 613"/>
                  <a:gd name="T35" fmla="*/ 512 h 630"/>
                  <a:gd name="T36" fmla="*/ 180 w 613"/>
                  <a:gd name="T37" fmla="*/ 543 h 630"/>
                  <a:gd name="T38" fmla="*/ 119 w 613"/>
                  <a:gd name="T39" fmla="*/ 547 h 630"/>
                  <a:gd name="T40" fmla="*/ 72 w 613"/>
                  <a:gd name="T41" fmla="*/ 495 h 630"/>
                  <a:gd name="T42" fmla="*/ 51 w 613"/>
                  <a:gd name="T43" fmla="*/ 397 h 630"/>
                  <a:gd name="T44" fmla="*/ 37 w 613"/>
                  <a:gd name="T45" fmla="*/ 374 h 630"/>
                  <a:gd name="T46" fmla="*/ 5 w 613"/>
                  <a:gd name="T47" fmla="*/ 387 h 630"/>
                  <a:gd name="T48" fmla="*/ 0 w 613"/>
                  <a:gd name="T49" fmla="*/ 425 h 630"/>
                  <a:gd name="T50" fmla="*/ 13 w 613"/>
                  <a:gd name="T51" fmla="*/ 540 h 630"/>
                  <a:gd name="T52" fmla="*/ 66 w 613"/>
                  <a:gd name="T53" fmla="*/ 607 h 630"/>
                  <a:gd name="T54" fmla="*/ 131 w 613"/>
                  <a:gd name="T55" fmla="*/ 630 h 630"/>
                  <a:gd name="T56" fmla="*/ 220 w 613"/>
                  <a:gd name="T57" fmla="*/ 615 h 630"/>
                  <a:gd name="T58" fmla="*/ 263 w 613"/>
                  <a:gd name="T59" fmla="*/ 594 h 630"/>
                  <a:gd name="T60" fmla="*/ 329 w 613"/>
                  <a:gd name="T61" fmla="*/ 522 h 630"/>
                  <a:gd name="T62" fmla="*/ 352 w 613"/>
                  <a:gd name="T63" fmla="*/ 452 h 630"/>
                  <a:gd name="T64" fmla="*/ 352 w 613"/>
                  <a:gd name="T65" fmla="*/ 410 h 630"/>
                  <a:gd name="T66" fmla="*/ 446 w 613"/>
                  <a:gd name="T67" fmla="*/ 404 h 630"/>
                  <a:gd name="T68" fmla="*/ 555 w 613"/>
                  <a:gd name="T69" fmla="*/ 338 h 630"/>
                  <a:gd name="T70" fmla="*/ 594 w 613"/>
                  <a:gd name="T71" fmla="*/ 283 h 630"/>
                  <a:gd name="T72" fmla="*/ 613 w 613"/>
                  <a:gd name="T73" fmla="*/ 177 h 630"/>
                  <a:gd name="T74" fmla="*/ 574 w 613"/>
                  <a:gd name="T75" fmla="*/ 82 h 630"/>
                  <a:gd name="T76" fmla="*/ 489 w 613"/>
                  <a:gd name="T77" fmla="*/ 17 h 630"/>
                  <a:gd name="T78" fmla="*/ 404 w 613"/>
                  <a:gd name="T79" fmla="*/ 0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13" h="630">
                    <a:moveTo>
                      <a:pt x="404" y="0"/>
                    </a:moveTo>
                    <a:lnTo>
                      <a:pt x="388" y="3"/>
                    </a:lnTo>
                    <a:lnTo>
                      <a:pt x="365" y="21"/>
                    </a:lnTo>
                    <a:lnTo>
                      <a:pt x="357" y="52"/>
                    </a:lnTo>
                    <a:lnTo>
                      <a:pt x="367" y="79"/>
                    </a:lnTo>
                    <a:lnTo>
                      <a:pt x="381" y="89"/>
                    </a:lnTo>
                    <a:lnTo>
                      <a:pt x="410" y="101"/>
                    </a:lnTo>
                    <a:lnTo>
                      <a:pt x="466" y="128"/>
                    </a:lnTo>
                    <a:lnTo>
                      <a:pt x="498" y="152"/>
                    </a:lnTo>
                    <a:lnTo>
                      <a:pt x="511" y="174"/>
                    </a:lnTo>
                    <a:lnTo>
                      <a:pt x="515" y="200"/>
                    </a:lnTo>
                    <a:lnTo>
                      <a:pt x="506" y="230"/>
                    </a:lnTo>
                    <a:lnTo>
                      <a:pt x="498" y="249"/>
                    </a:lnTo>
                    <a:lnTo>
                      <a:pt x="486" y="265"/>
                    </a:lnTo>
                    <a:lnTo>
                      <a:pt x="462" y="291"/>
                    </a:lnTo>
                    <a:lnTo>
                      <a:pt x="431" y="307"/>
                    </a:lnTo>
                    <a:lnTo>
                      <a:pt x="400" y="314"/>
                    </a:lnTo>
                    <a:lnTo>
                      <a:pt x="349" y="312"/>
                    </a:lnTo>
                    <a:lnTo>
                      <a:pt x="285" y="286"/>
                    </a:lnTo>
                    <a:lnTo>
                      <a:pt x="257" y="265"/>
                    </a:lnTo>
                    <a:lnTo>
                      <a:pt x="257" y="265"/>
                    </a:lnTo>
                    <a:lnTo>
                      <a:pt x="253" y="260"/>
                    </a:lnTo>
                    <a:lnTo>
                      <a:pt x="247" y="258"/>
                    </a:lnTo>
                    <a:lnTo>
                      <a:pt x="239" y="252"/>
                    </a:lnTo>
                    <a:lnTo>
                      <a:pt x="223" y="249"/>
                    </a:lnTo>
                    <a:lnTo>
                      <a:pt x="198" y="256"/>
                    </a:lnTo>
                    <a:lnTo>
                      <a:pt x="177" y="285"/>
                    </a:lnTo>
                    <a:lnTo>
                      <a:pt x="175" y="311"/>
                    </a:lnTo>
                    <a:lnTo>
                      <a:pt x="181" y="327"/>
                    </a:lnTo>
                    <a:lnTo>
                      <a:pt x="188" y="334"/>
                    </a:lnTo>
                    <a:lnTo>
                      <a:pt x="201" y="344"/>
                    </a:lnTo>
                    <a:lnTo>
                      <a:pt x="214" y="354"/>
                    </a:lnTo>
                    <a:lnTo>
                      <a:pt x="234" y="376"/>
                    </a:lnTo>
                    <a:lnTo>
                      <a:pt x="256" y="422"/>
                    </a:lnTo>
                    <a:lnTo>
                      <a:pt x="253" y="469"/>
                    </a:lnTo>
                    <a:lnTo>
                      <a:pt x="224" y="512"/>
                    </a:lnTo>
                    <a:lnTo>
                      <a:pt x="198" y="531"/>
                    </a:lnTo>
                    <a:lnTo>
                      <a:pt x="180" y="543"/>
                    </a:lnTo>
                    <a:lnTo>
                      <a:pt x="146" y="551"/>
                    </a:lnTo>
                    <a:lnTo>
                      <a:pt x="119" y="547"/>
                    </a:lnTo>
                    <a:lnTo>
                      <a:pt x="96" y="533"/>
                    </a:lnTo>
                    <a:lnTo>
                      <a:pt x="72" y="495"/>
                    </a:lnTo>
                    <a:lnTo>
                      <a:pt x="54" y="430"/>
                    </a:lnTo>
                    <a:lnTo>
                      <a:pt x="51" y="397"/>
                    </a:lnTo>
                    <a:lnTo>
                      <a:pt x="50" y="386"/>
                    </a:lnTo>
                    <a:lnTo>
                      <a:pt x="37" y="374"/>
                    </a:lnTo>
                    <a:lnTo>
                      <a:pt x="20" y="374"/>
                    </a:lnTo>
                    <a:lnTo>
                      <a:pt x="5" y="387"/>
                    </a:lnTo>
                    <a:lnTo>
                      <a:pt x="2" y="397"/>
                    </a:lnTo>
                    <a:lnTo>
                      <a:pt x="0" y="425"/>
                    </a:lnTo>
                    <a:lnTo>
                      <a:pt x="1" y="484"/>
                    </a:lnTo>
                    <a:lnTo>
                      <a:pt x="13" y="540"/>
                    </a:lnTo>
                    <a:lnTo>
                      <a:pt x="43" y="589"/>
                    </a:lnTo>
                    <a:lnTo>
                      <a:pt x="66" y="607"/>
                    </a:lnTo>
                    <a:lnTo>
                      <a:pt x="87" y="619"/>
                    </a:lnTo>
                    <a:lnTo>
                      <a:pt x="131" y="630"/>
                    </a:lnTo>
                    <a:lnTo>
                      <a:pt x="175" y="628"/>
                    </a:lnTo>
                    <a:lnTo>
                      <a:pt x="220" y="615"/>
                    </a:lnTo>
                    <a:lnTo>
                      <a:pt x="241" y="606"/>
                    </a:lnTo>
                    <a:lnTo>
                      <a:pt x="263" y="594"/>
                    </a:lnTo>
                    <a:lnTo>
                      <a:pt x="300" y="561"/>
                    </a:lnTo>
                    <a:lnTo>
                      <a:pt x="329" y="522"/>
                    </a:lnTo>
                    <a:lnTo>
                      <a:pt x="348" y="476"/>
                    </a:lnTo>
                    <a:lnTo>
                      <a:pt x="352" y="452"/>
                    </a:lnTo>
                    <a:lnTo>
                      <a:pt x="355" y="430"/>
                    </a:lnTo>
                    <a:lnTo>
                      <a:pt x="352" y="410"/>
                    </a:lnTo>
                    <a:lnTo>
                      <a:pt x="384" y="413"/>
                    </a:lnTo>
                    <a:lnTo>
                      <a:pt x="446" y="404"/>
                    </a:lnTo>
                    <a:lnTo>
                      <a:pt x="505" y="380"/>
                    </a:lnTo>
                    <a:lnTo>
                      <a:pt x="555" y="338"/>
                    </a:lnTo>
                    <a:lnTo>
                      <a:pt x="577" y="309"/>
                    </a:lnTo>
                    <a:lnTo>
                      <a:pt x="594" y="283"/>
                    </a:lnTo>
                    <a:lnTo>
                      <a:pt x="611" y="230"/>
                    </a:lnTo>
                    <a:lnTo>
                      <a:pt x="613" y="177"/>
                    </a:lnTo>
                    <a:lnTo>
                      <a:pt x="600" y="127"/>
                    </a:lnTo>
                    <a:lnTo>
                      <a:pt x="574" y="82"/>
                    </a:lnTo>
                    <a:lnTo>
                      <a:pt x="537" y="44"/>
                    </a:lnTo>
                    <a:lnTo>
                      <a:pt x="489" y="17"/>
                    </a:lnTo>
                    <a:lnTo>
                      <a:pt x="434" y="1"/>
                    </a:lnTo>
                    <a:lnTo>
                      <a:pt x="40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78C90294-7520-FB1E-5780-DE11DE5F565C}"/>
              </a:ext>
            </a:extLst>
          </p:cNvPr>
          <p:cNvGrpSpPr/>
          <p:nvPr/>
        </p:nvGrpSpPr>
        <p:grpSpPr>
          <a:xfrm>
            <a:off x="3431390" y="1461907"/>
            <a:ext cx="3586931" cy="4834518"/>
            <a:chOff x="3744902" y="1461907"/>
            <a:chExt cx="3586931" cy="483451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9512885E-3B6F-C2E4-947B-169C5A11B562}"/>
                </a:ext>
              </a:extLst>
            </p:cNvPr>
            <p:cNvSpPr/>
            <p:nvPr/>
          </p:nvSpPr>
          <p:spPr>
            <a:xfrm>
              <a:off x="4630913" y="2863502"/>
              <a:ext cx="1344527" cy="10028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sz="6000" b="1" i="1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02 </a:t>
              </a:r>
              <a:endParaRPr kumimoji="0" lang="ko-KR" altLang="en-US" sz="7200" b="0" i="1" u="none" strike="noStrike" kern="1200" cap="none" spc="0" normalizeH="0" baseline="0" dirty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xmlns="" id="{6003F26E-EC1E-E10E-D8A8-9EFDD119424F}"/>
                </a:ext>
              </a:extLst>
            </p:cNvPr>
            <p:cNvSpPr/>
            <p:nvPr/>
          </p:nvSpPr>
          <p:spPr>
            <a:xfrm flipV="1">
              <a:off x="3744902" y="1461907"/>
              <a:ext cx="1968501" cy="4834518"/>
            </a:xfrm>
            <a:prstGeom prst="rtTriangle">
              <a:avLst/>
            </a:prstGeom>
            <a:solidFill>
              <a:srgbClr val="F4F5FA"/>
            </a:solidFill>
            <a:ln>
              <a:noFill/>
            </a:ln>
            <a:effectLst>
              <a:outerShdw blurRad="254000" dist="495300" sx="65000" sy="65000" algn="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8650967A-E784-30FE-085D-F05B903A1105}"/>
                </a:ext>
              </a:extLst>
            </p:cNvPr>
            <p:cNvSpPr/>
            <p:nvPr/>
          </p:nvSpPr>
          <p:spPr>
            <a:xfrm>
              <a:off x="4649807" y="3754337"/>
              <a:ext cx="2682026" cy="9799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ko-KR" altLang="en-US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콘텐츠 기반 </a:t>
              </a:r>
              <a:endParaRPr kumimoji="0" lang="en-US" altLang="ko-KR" sz="1400" b="1" i="0" u="none" strike="noStrike" kern="1200" cap="none" spc="0" normalizeH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ko-KR" altLang="en-US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추천 시스템</a:t>
              </a:r>
              <a:r>
                <a:rPr kumimoji="0" lang="en-US" altLang="ko-KR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/>
              </a:r>
              <a:br>
                <a:rPr kumimoji="0" lang="en-US" altLang="ko-KR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</a:br>
              <a:endParaRPr kumimoji="0" lang="ko-KR" altLang="en-US" sz="1200" b="0" i="0" u="none" strike="noStrike" kern="1200" cap="none" spc="0" normalizeH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32" name="Group 36">
              <a:extLst>
                <a:ext uri="{FF2B5EF4-FFF2-40B4-BE49-F238E27FC236}">
                  <a16:creationId xmlns:a16="http://schemas.microsoft.com/office/drawing/2014/main" xmlns="" id="{F3FF67B7-DDFC-AF74-4F71-BDB0E82BC57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39513" y="2220911"/>
              <a:ext cx="130547" cy="337247"/>
              <a:chOff x="2375" y="2182"/>
              <a:chExt cx="144" cy="372"/>
            </a:xfrm>
            <a:solidFill>
              <a:srgbClr val="FF8961"/>
            </a:solidFill>
          </p:grpSpPr>
          <p:sp>
            <p:nvSpPr>
              <p:cNvPr id="33" name="Freeform 37">
                <a:extLst>
                  <a:ext uri="{FF2B5EF4-FFF2-40B4-BE49-F238E27FC236}">
                    <a16:creationId xmlns:a16="http://schemas.microsoft.com/office/drawing/2014/main" xmlns="" id="{0A05BF78-CCC0-EFD4-CBAB-0CB73FBF0FC0}"/>
                  </a:ext>
                </a:extLst>
              </p:cNvPr>
              <p:cNvSpPr/>
              <p:nvPr/>
            </p:nvSpPr>
            <p:spPr>
              <a:xfrm>
                <a:off x="2409" y="2182"/>
                <a:ext cx="99" cy="210"/>
              </a:xfrm>
              <a:custGeom>
                <a:avLst/>
                <a:gdLst>
                  <a:gd name="T0" fmla="*/ 0 w 296"/>
                  <a:gd name="T1" fmla="*/ 631 h 631"/>
                  <a:gd name="T2" fmla="*/ 296 w 296"/>
                  <a:gd name="T3" fmla="*/ 631 h 631"/>
                  <a:gd name="T4" fmla="*/ 270 w 296"/>
                  <a:gd name="T5" fmla="*/ 612 h 631"/>
                  <a:gd name="T6" fmla="*/ 232 w 296"/>
                  <a:gd name="T7" fmla="*/ 568 h 631"/>
                  <a:gd name="T8" fmla="*/ 209 w 296"/>
                  <a:gd name="T9" fmla="*/ 517 h 631"/>
                  <a:gd name="T10" fmla="*/ 199 w 296"/>
                  <a:gd name="T11" fmla="*/ 467 h 631"/>
                  <a:gd name="T12" fmla="*/ 198 w 296"/>
                  <a:gd name="T13" fmla="*/ 442 h 631"/>
                  <a:gd name="T14" fmla="*/ 200 w 296"/>
                  <a:gd name="T15" fmla="*/ 370 h 631"/>
                  <a:gd name="T16" fmla="*/ 208 w 296"/>
                  <a:gd name="T17" fmla="*/ 279 h 631"/>
                  <a:gd name="T18" fmla="*/ 213 w 296"/>
                  <a:gd name="T19" fmla="*/ 207 h 631"/>
                  <a:gd name="T20" fmla="*/ 215 w 296"/>
                  <a:gd name="T21" fmla="*/ 157 h 631"/>
                  <a:gd name="T22" fmla="*/ 215 w 296"/>
                  <a:gd name="T23" fmla="*/ 132 h 631"/>
                  <a:gd name="T24" fmla="*/ 205 w 296"/>
                  <a:gd name="T25" fmla="*/ 79 h 631"/>
                  <a:gd name="T26" fmla="*/ 189 w 296"/>
                  <a:gd name="T27" fmla="*/ 31 h 631"/>
                  <a:gd name="T28" fmla="*/ 172 w 296"/>
                  <a:gd name="T29" fmla="*/ 8 h 631"/>
                  <a:gd name="T30" fmla="*/ 159 w 296"/>
                  <a:gd name="T31" fmla="*/ 0 h 631"/>
                  <a:gd name="T32" fmla="*/ 151 w 296"/>
                  <a:gd name="T33" fmla="*/ 0 h 631"/>
                  <a:gd name="T34" fmla="*/ 138 w 296"/>
                  <a:gd name="T35" fmla="*/ 1 h 631"/>
                  <a:gd name="T36" fmla="*/ 127 w 296"/>
                  <a:gd name="T37" fmla="*/ 11 h 631"/>
                  <a:gd name="T38" fmla="*/ 114 w 296"/>
                  <a:gd name="T39" fmla="*/ 27 h 631"/>
                  <a:gd name="T40" fmla="*/ 98 w 296"/>
                  <a:gd name="T41" fmla="*/ 75 h 631"/>
                  <a:gd name="T42" fmla="*/ 89 w 296"/>
                  <a:gd name="T43" fmla="*/ 145 h 631"/>
                  <a:gd name="T44" fmla="*/ 89 w 296"/>
                  <a:gd name="T45" fmla="*/ 160 h 631"/>
                  <a:gd name="T46" fmla="*/ 92 w 296"/>
                  <a:gd name="T47" fmla="*/ 253 h 631"/>
                  <a:gd name="T48" fmla="*/ 101 w 296"/>
                  <a:gd name="T49" fmla="*/ 310 h 631"/>
                  <a:gd name="T50" fmla="*/ 105 w 296"/>
                  <a:gd name="T51" fmla="*/ 337 h 631"/>
                  <a:gd name="T52" fmla="*/ 111 w 296"/>
                  <a:gd name="T53" fmla="*/ 400 h 631"/>
                  <a:gd name="T54" fmla="*/ 109 w 296"/>
                  <a:gd name="T55" fmla="*/ 442 h 631"/>
                  <a:gd name="T56" fmla="*/ 105 w 296"/>
                  <a:gd name="T57" fmla="*/ 480 h 631"/>
                  <a:gd name="T58" fmla="*/ 83 w 296"/>
                  <a:gd name="T59" fmla="*/ 542 h 631"/>
                  <a:gd name="T60" fmla="*/ 50 w 296"/>
                  <a:gd name="T61" fmla="*/ 588 h 631"/>
                  <a:gd name="T62" fmla="*/ 15 w 296"/>
                  <a:gd name="T63" fmla="*/ 621 h 631"/>
                  <a:gd name="T64" fmla="*/ 0 w 296"/>
                  <a:gd name="T65" fmla="*/ 631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6" h="631">
                    <a:moveTo>
                      <a:pt x="0" y="631"/>
                    </a:moveTo>
                    <a:lnTo>
                      <a:pt x="296" y="631"/>
                    </a:lnTo>
                    <a:lnTo>
                      <a:pt x="270" y="612"/>
                    </a:lnTo>
                    <a:lnTo>
                      <a:pt x="232" y="568"/>
                    </a:lnTo>
                    <a:lnTo>
                      <a:pt x="209" y="517"/>
                    </a:lnTo>
                    <a:lnTo>
                      <a:pt x="199" y="467"/>
                    </a:lnTo>
                    <a:lnTo>
                      <a:pt x="198" y="442"/>
                    </a:lnTo>
                    <a:lnTo>
                      <a:pt x="200" y="370"/>
                    </a:lnTo>
                    <a:lnTo>
                      <a:pt x="208" y="279"/>
                    </a:lnTo>
                    <a:lnTo>
                      <a:pt x="213" y="207"/>
                    </a:lnTo>
                    <a:lnTo>
                      <a:pt x="215" y="157"/>
                    </a:lnTo>
                    <a:lnTo>
                      <a:pt x="215" y="132"/>
                    </a:lnTo>
                    <a:lnTo>
                      <a:pt x="205" y="79"/>
                    </a:lnTo>
                    <a:lnTo>
                      <a:pt x="189" y="31"/>
                    </a:lnTo>
                    <a:lnTo>
                      <a:pt x="172" y="8"/>
                    </a:lnTo>
                    <a:lnTo>
                      <a:pt x="159" y="0"/>
                    </a:lnTo>
                    <a:lnTo>
                      <a:pt x="151" y="0"/>
                    </a:lnTo>
                    <a:lnTo>
                      <a:pt x="138" y="1"/>
                    </a:lnTo>
                    <a:lnTo>
                      <a:pt x="127" y="11"/>
                    </a:lnTo>
                    <a:lnTo>
                      <a:pt x="114" y="27"/>
                    </a:lnTo>
                    <a:lnTo>
                      <a:pt x="98" y="75"/>
                    </a:lnTo>
                    <a:lnTo>
                      <a:pt x="89" y="145"/>
                    </a:lnTo>
                    <a:lnTo>
                      <a:pt x="89" y="160"/>
                    </a:lnTo>
                    <a:lnTo>
                      <a:pt x="92" y="253"/>
                    </a:lnTo>
                    <a:lnTo>
                      <a:pt x="101" y="310"/>
                    </a:lnTo>
                    <a:lnTo>
                      <a:pt x="105" y="337"/>
                    </a:lnTo>
                    <a:lnTo>
                      <a:pt x="111" y="400"/>
                    </a:lnTo>
                    <a:lnTo>
                      <a:pt x="109" y="442"/>
                    </a:lnTo>
                    <a:lnTo>
                      <a:pt x="105" y="480"/>
                    </a:lnTo>
                    <a:lnTo>
                      <a:pt x="83" y="542"/>
                    </a:lnTo>
                    <a:lnTo>
                      <a:pt x="50" y="588"/>
                    </a:lnTo>
                    <a:lnTo>
                      <a:pt x="15" y="621"/>
                    </a:lnTo>
                    <a:lnTo>
                      <a:pt x="0" y="6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34" name="Rectangle 38">
                <a:extLst>
                  <a:ext uri="{FF2B5EF4-FFF2-40B4-BE49-F238E27FC236}">
                    <a16:creationId xmlns:a16="http://schemas.microsoft.com/office/drawing/2014/main" xmlns="" id="{F893CFBB-C133-95C0-4D40-0D3777CEC3C0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2396" y="2425"/>
                <a:ext cx="123" cy="6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35" name="Rectangle 39">
                <a:extLst>
                  <a:ext uri="{FF2B5EF4-FFF2-40B4-BE49-F238E27FC236}">
                    <a16:creationId xmlns:a16="http://schemas.microsoft.com/office/drawing/2014/main" xmlns="" id="{67FB0382-63C2-A72E-C5AD-159044DEE294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2396" y="2437"/>
                <a:ext cx="123" cy="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36" name="Rectangle 40">
                <a:extLst>
                  <a:ext uri="{FF2B5EF4-FFF2-40B4-BE49-F238E27FC236}">
                    <a16:creationId xmlns:a16="http://schemas.microsoft.com/office/drawing/2014/main" xmlns="" id="{9D9FA124-E962-8F93-F54D-C61CB2BD40AF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2396" y="2405"/>
                <a:ext cx="123" cy="1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37" name="Freeform 41">
                <a:extLst>
                  <a:ext uri="{FF2B5EF4-FFF2-40B4-BE49-F238E27FC236}">
                    <a16:creationId xmlns:a16="http://schemas.microsoft.com/office/drawing/2014/main" xmlns="" id="{81EFF3B3-39BE-BFEC-18FC-668FDF6A9E53}"/>
                  </a:ext>
                </a:extLst>
              </p:cNvPr>
              <p:cNvSpPr/>
              <p:nvPr/>
            </p:nvSpPr>
            <p:spPr>
              <a:xfrm>
                <a:off x="2375" y="2463"/>
                <a:ext cx="143" cy="91"/>
              </a:xfrm>
              <a:custGeom>
                <a:avLst/>
                <a:gdLst>
                  <a:gd name="T0" fmla="*/ 4 w 429"/>
                  <a:gd name="T1" fmla="*/ 241 h 274"/>
                  <a:gd name="T2" fmla="*/ 0 w 429"/>
                  <a:gd name="T3" fmla="*/ 247 h 274"/>
                  <a:gd name="T4" fmla="*/ 0 w 429"/>
                  <a:gd name="T5" fmla="*/ 252 h 274"/>
                  <a:gd name="T6" fmla="*/ 4 w 429"/>
                  <a:gd name="T7" fmla="*/ 261 h 274"/>
                  <a:gd name="T8" fmla="*/ 19 w 429"/>
                  <a:gd name="T9" fmla="*/ 265 h 274"/>
                  <a:gd name="T10" fmla="*/ 40 w 429"/>
                  <a:gd name="T11" fmla="*/ 268 h 274"/>
                  <a:gd name="T12" fmla="*/ 66 w 429"/>
                  <a:gd name="T13" fmla="*/ 271 h 274"/>
                  <a:gd name="T14" fmla="*/ 68 w 429"/>
                  <a:gd name="T15" fmla="*/ 271 h 274"/>
                  <a:gd name="T16" fmla="*/ 68 w 429"/>
                  <a:gd name="T17" fmla="*/ 271 h 274"/>
                  <a:gd name="T18" fmla="*/ 78 w 429"/>
                  <a:gd name="T19" fmla="*/ 270 h 274"/>
                  <a:gd name="T20" fmla="*/ 95 w 429"/>
                  <a:gd name="T21" fmla="*/ 254 h 274"/>
                  <a:gd name="T22" fmla="*/ 121 w 429"/>
                  <a:gd name="T23" fmla="*/ 210 h 274"/>
                  <a:gd name="T24" fmla="*/ 134 w 429"/>
                  <a:gd name="T25" fmla="*/ 179 h 274"/>
                  <a:gd name="T26" fmla="*/ 130 w 429"/>
                  <a:gd name="T27" fmla="*/ 208 h 274"/>
                  <a:gd name="T28" fmla="*/ 117 w 429"/>
                  <a:gd name="T29" fmla="*/ 274 h 274"/>
                  <a:gd name="T30" fmla="*/ 144 w 429"/>
                  <a:gd name="T31" fmla="*/ 274 h 274"/>
                  <a:gd name="T32" fmla="*/ 172 w 429"/>
                  <a:gd name="T33" fmla="*/ 274 h 274"/>
                  <a:gd name="T34" fmla="*/ 231 w 429"/>
                  <a:gd name="T35" fmla="*/ 274 h 274"/>
                  <a:gd name="T36" fmla="*/ 329 w 429"/>
                  <a:gd name="T37" fmla="*/ 267 h 274"/>
                  <a:gd name="T38" fmla="*/ 363 w 429"/>
                  <a:gd name="T39" fmla="*/ 260 h 274"/>
                  <a:gd name="T40" fmla="*/ 379 w 429"/>
                  <a:gd name="T41" fmla="*/ 255 h 274"/>
                  <a:gd name="T42" fmla="*/ 400 w 429"/>
                  <a:gd name="T43" fmla="*/ 235 h 274"/>
                  <a:gd name="T44" fmla="*/ 405 w 429"/>
                  <a:gd name="T45" fmla="*/ 222 h 274"/>
                  <a:gd name="T46" fmla="*/ 416 w 429"/>
                  <a:gd name="T47" fmla="*/ 164 h 274"/>
                  <a:gd name="T48" fmla="*/ 428 w 429"/>
                  <a:gd name="T49" fmla="*/ 36 h 274"/>
                  <a:gd name="T50" fmla="*/ 429 w 429"/>
                  <a:gd name="T51" fmla="*/ 0 h 274"/>
                  <a:gd name="T52" fmla="*/ 64 w 429"/>
                  <a:gd name="T53" fmla="*/ 0 h 274"/>
                  <a:gd name="T54" fmla="*/ 64 w 429"/>
                  <a:gd name="T55" fmla="*/ 46 h 274"/>
                  <a:gd name="T56" fmla="*/ 48 w 429"/>
                  <a:gd name="T57" fmla="*/ 159 h 274"/>
                  <a:gd name="T58" fmla="*/ 30 w 429"/>
                  <a:gd name="T59" fmla="*/ 208 h 274"/>
                  <a:gd name="T60" fmla="*/ 14 w 429"/>
                  <a:gd name="T61" fmla="*/ 234 h 274"/>
                  <a:gd name="T62" fmla="*/ 4 w 429"/>
                  <a:gd name="T63" fmla="*/ 241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29" h="274">
                    <a:moveTo>
                      <a:pt x="4" y="241"/>
                    </a:moveTo>
                    <a:lnTo>
                      <a:pt x="0" y="247"/>
                    </a:lnTo>
                    <a:lnTo>
                      <a:pt x="0" y="252"/>
                    </a:lnTo>
                    <a:lnTo>
                      <a:pt x="4" y="261"/>
                    </a:lnTo>
                    <a:lnTo>
                      <a:pt x="19" y="265"/>
                    </a:lnTo>
                    <a:lnTo>
                      <a:pt x="40" y="268"/>
                    </a:lnTo>
                    <a:lnTo>
                      <a:pt x="66" y="271"/>
                    </a:lnTo>
                    <a:lnTo>
                      <a:pt x="68" y="271"/>
                    </a:lnTo>
                    <a:lnTo>
                      <a:pt x="68" y="271"/>
                    </a:lnTo>
                    <a:lnTo>
                      <a:pt x="78" y="270"/>
                    </a:lnTo>
                    <a:lnTo>
                      <a:pt x="95" y="254"/>
                    </a:lnTo>
                    <a:lnTo>
                      <a:pt x="121" y="210"/>
                    </a:lnTo>
                    <a:lnTo>
                      <a:pt x="134" y="179"/>
                    </a:lnTo>
                    <a:lnTo>
                      <a:pt x="130" y="208"/>
                    </a:lnTo>
                    <a:lnTo>
                      <a:pt x="117" y="274"/>
                    </a:lnTo>
                    <a:lnTo>
                      <a:pt x="144" y="274"/>
                    </a:lnTo>
                    <a:lnTo>
                      <a:pt x="172" y="274"/>
                    </a:lnTo>
                    <a:lnTo>
                      <a:pt x="231" y="274"/>
                    </a:lnTo>
                    <a:lnTo>
                      <a:pt x="329" y="267"/>
                    </a:lnTo>
                    <a:lnTo>
                      <a:pt x="363" y="260"/>
                    </a:lnTo>
                    <a:lnTo>
                      <a:pt x="379" y="255"/>
                    </a:lnTo>
                    <a:lnTo>
                      <a:pt x="400" y="235"/>
                    </a:lnTo>
                    <a:lnTo>
                      <a:pt x="405" y="222"/>
                    </a:lnTo>
                    <a:lnTo>
                      <a:pt x="416" y="164"/>
                    </a:lnTo>
                    <a:lnTo>
                      <a:pt x="428" y="36"/>
                    </a:lnTo>
                    <a:lnTo>
                      <a:pt x="429" y="0"/>
                    </a:lnTo>
                    <a:lnTo>
                      <a:pt x="64" y="0"/>
                    </a:lnTo>
                    <a:lnTo>
                      <a:pt x="64" y="46"/>
                    </a:lnTo>
                    <a:lnTo>
                      <a:pt x="48" y="159"/>
                    </a:lnTo>
                    <a:lnTo>
                      <a:pt x="30" y="208"/>
                    </a:lnTo>
                    <a:lnTo>
                      <a:pt x="14" y="234"/>
                    </a:lnTo>
                    <a:lnTo>
                      <a:pt x="4" y="2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C6408EC9-2176-89B8-56EA-010890E0DEA1}"/>
              </a:ext>
            </a:extLst>
          </p:cNvPr>
          <p:cNvGrpSpPr/>
          <p:nvPr/>
        </p:nvGrpSpPr>
        <p:grpSpPr>
          <a:xfrm>
            <a:off x="6023816" y="1407157"/>
            <a:ext cx="3542849" cy="4834518"/>
            <a:chOff x="6272013" y="1407157"/>
            <a:chExt cx="3542849" cy="483451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xmlns="" id="{BB984DED-D5C0-715D-D03F-5A180A61AC81}"/>
                </a:ext>
              </a:extLst>
            </p:cNvPr>
            <p:cNvSpPr/>
            <p:nvPr/>
          </p:nvSpPr>
          <p:spPr>
            <a:xfrm>
              <a:off x="7132836" y="3835251"/>
              <a:ext cx="2682026" cy="13388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ko-KR" altLang="en-US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베이스라인</a:t>
              </a:r>
              <a:r>
                <a:rPr kumimoji="0" lang="en-US" altLang="ko-KR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:</a:t>
              </a:r>
              <a:r>
                <a:rPr lang="en-US" altLang="ko-KR" sz="14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/>
                  <a:ea typeface="맑은 고딕"/>
                </a:rPr>
                <a:t> </a:t>
              </a:r>
            </a:p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ko-KR" altLang="en-US" sz="14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/>
                  <a:ea typeface="맑은 고딕"/>
                </a:rPr>
                <a:t>잠재요인 협업 </a:t>
              </a:r>
              <a:r>
                <a:rPr lang="ko-KR" altLang="en-US" sz="1400" b="1" dirty="0" err="1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/>
                  <a:ea typeface="맑은 고딕"/>
                </a:rPr>
                <a:t>필터링</a:t>
              </a:r>
              <a:endPara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맑은 고딕"/>
              </a:endParaRPr>
            </a:p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en-US" altLang="ko-KR" sz="14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/>
                  <a:ea typeface="맑은 고딕"/>
                </a:rPr>
                <a:t>(ALS)</a:t>
              </a:r>
              <a:endParaRPr kumimoji="0" lang="ko-KR" altLang="en-US" sz="1200" b="0" i="0" u="none" strike="noStrike" kern="1200" cap="none" spc="0" normalizeH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200" b="0" i="0" u="none" strike="noStrike" kern="1200" cap="none" spc="0" normalizeH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xmlns="" id="{D3FBE94E-8AE9-ED9E-117D-AC71E97BA057}"/>
                </a:ext>
              </a:extLst>
            </p:cNvPr>
            <p:cNvSpPr/>
            <p:nvPr/>
          </p:nvSpPr>
          <p:spPr>
            <a:xfrm>
              <a:off x="7147876" y="2863502"/>
              <a:ext cx="134684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sz="6000" b="1" i="1" u="none" strike="noStrike" kern="1200" cap="none" spc="0" normalizeH="0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03</a:t>
              </a:r>
              <a:r>
                <a:rPr kumimoji="0" lang="en-US" altLang="ko-KR" sz="6000" b="1" i="1" u="none" strike="noStrike" kern="1200" cap="none" spc="0" normalizeH="0" baseline="0" dirty="0">
                  <a:solidFill>
                    <a:srgbClr val="FF8961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 </a:t>
              </a:r>
              <a:endParaRPr kumimoji="0" lang="ko-KR" altLang="en-US" sz="7200" b="0" i="1" u="none" strike="noStrike" kern="1200" cap="none" spc="0" normalizeH="0" baseline="0" dirty="0">
                <a:solidFill>
                  <a:srgbClr val="FF896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4" name="직각 삼각형 3">
              <a:extLst>
                <a:ext uri="{FF2B5EF4-FFF2-40B4-BE49-F238E27FC236}">
                  <a16:creationId xmlns:a16="http://schemas.microsoft.com/office/drawing/2014/main" xmlns="" id="{02F7B078-D6C0-0D91-418D-D8F9E8BAD0FB}"/>
                </a:ext>
              </a:extLst>
            </p:cNvPr>
            <p:cNvSpPr/>
            <p:nvPr/>
          </p:nvSpPr>
          <p:spPr>
            <a:xfrm flipV="1">
              <a:off x="6272013" y="1407157"/>
              <a:ext cx="1968501" cy="4834518"/>
            </a:xfrm>
            <a:prstGeom prst="rtTriangle">
              <a:avLst/>
            </a:prstGeom>
            <a:solidFill>
              <a:srgbClr val="F4F5FA"/>
            </a:solidFill>
            <a:ln>
              <a:noFill/>
            </a:ln>
            <a:effectLst>
              <a:outerShdw blurRad="254000" dist="495300" sx="65000" sy="65000" algn="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xmlns="" id="{FD24D03F-DD5B-4CAC-ADA0-81C788EEABFE}"/>
                </a:ext>
              </a:extLst>
            </p:cNvPr>
            <p:cNvSpPr>
              <a:spLocks noEditPoints="1"/>
            </p:cNvSpPr>
            <p:nvPr/>
          </p:nvSpPr>
          <p:spPr>
            <a:xfrm flipH="1">
              <a:off x="7420642" y="2220006"/>
              <a:ext cx="275431" cy="338152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rgbClr val="FF896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600" b="0" i="0" u="none" strike="noStrike" kern="120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A9518258-5E6E-7C40-153B-59E623F77110}"/>
              </a:ext>
            </a:extLst>
          </p:cNvPr>
          <p:cNvGrpSpPr/>
          <p:nvPr/>
        </p:nvGrpSpPr>
        <p:grpSpPr>
          <a:xfrm>
            <a:off x="8809891" y="1494695"/>
            <a:ext cx="3601886" cy="4834518"/>
            <a:chOff x="9005836" y="1494695"/>
            <a:chExt cx="3601886" cy="483451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2E4345B2-1717-FFC6-EA0F-D96DC46BE3FD}"/>
                </a:ext>
              </a:extLst>
            </p:cNvPr>
            <p:cNvSpPr/>
            <p:nvPr/>
          </p:nvSpPr>
          <p:spPr>
            <a:xfrm>
              <a:off x="9925696" y="3763525"/>
              <a:ext cx="2682026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ko-KR" altLang="en-US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성능 개선</a:t>
              </a:r>
              <a:r>
                <a:rPr kumimoji="0" lang="en-US" altLang="ko-KR" sz="1400" b="1" i="0" u="none" strike="noStrike" kern="1200" cap="none" spc="0" normalizeH="0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:</a:t>
              </a:r>
            </a:p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lang="ko-KR" altLang="en-US" sz="14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/>
                  <a:ea typeface="맑은 고딕"/>
                </a:rPr>
                <a:t>연관 기반 추천시스템</a:t>
              </a:r>
              <a:endParaRPr kumimoji="0" lang="ko-KR" altLang="en-US" sz="1400" b="0" i="0" u="none" strike="noStrike" kern="1200" cap="none" spc="0" normalizeH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  <a:p>
              <a:pPr marL="0" marR="0" lvl="0" indent="0" algn="l" defTabSz="914400" rtl="0" eaLnBrk="1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671F8F1A-0A50-5DB1-D03F-FAA9FE2FC0EE}"/>
                </a:ext>
              </a:extLst>
            </p:cNvPr>
            <p:cNvSpPr/>
            <p:nvPr/>
          </p:nvSpPr>
          <p:spPr>
            <a:xfrm>
              <a:off x="9932927" y="2842613"/>
              <a:ext cx="134684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sz="6000" b="1" i="1" u="none" strike="noStrike" kern="1200" cap="none" spc="0" normalizeH="0" baseline="0" dirty="0">
                  <a:solidFill>
                    <a:srgbClr val="FF8961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rPr>
                <a:t>04 </a:t>
              </a:r>
              <a:endParaRPr kumimoji="0" lang="ko-KR" altLang="en-US" sz="7200" b="0" i="1" u="none" strike="noStrike" kern="1200" cap="none" spc="0" normalizeH="0" baseline="0" dirty="0">
                <a:solidFill>
                  <a:srgbClr val="FF896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24" name="직각 삼각형 23">
              <a:extLst>
                <a:ext uri="{FF2B5EF4-FFF2-40B4-BE49-F238E27FC236}">
                  <a16:creationId xmlns:a16="http://schemas.microsoft.com/office/drawing/2014/main" xmlns="" id="{52388BE2-0B01-3FDC-56ED-10D9E67F2FDC}"/>
                </a:ext>
              </a:extLst>
            </p:cNvPr>
            <p:cNvSpPr/>
            <p:nvPr/>
          </p:nvSpPr>
          <p:spPr>
            <a:xfrm flipV="1">
              <a:off x="9005836" y="1494695"/>
              <a:ext cx="1968501" cy="4834518"/>
            </a:xfrm>
            <a:prstGeom prst="rtTriangle">
              <a:avLst/>
            </a:prstGeom>
            <a:solidFill>
              <a:srgbClr val="F4F5FA"/>
            </a:solidFill>
            <a:ln>
              <a:noFill/>
            </a:ln>
            <a:effectLst>
              <a:outerShdw blurRad="254000" dist="495300" sx="65000" sy="65000" algn="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xmlns="" id="{470D0E51-197B-E719-A172-47674F24AF5D}"/>
                </a:ext>
              </a:extLst>
            </p:cNvPr>
            <p:cNvSpPr>
              <a:spLocks noEditPoints="1"/>
            </p:cNvSpPr>
            <p:nvPr/>
          </p:nvSpPr>
          <p:spPr>
            <a:xfrm flipH="1">
              <a:off x="9825530" y="2220006"/>
              <a:ext cx="275431" cy="338152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rgbClr val="FF896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600" b="0" i="0" u="none" strike="noStrike" kern="120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18290348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3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52634" y="2301656"/>
            <a:ext cx="9980900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 b="1" dirty="0"/>
              <a:t>프로젝트 목적</a:t>
            </a:r>
            <a:endParaRPr lang="en-US" altLang="ko-KR" sz="3100" b="1" dirty="0"/>
          </a:p>
          <a:p>
            <a:pPr>
              <a:defRPr/>
            </a:pPr>
            <a:endParaRPr lang="en-US" altLang="ko-KR" sz="3100" b="1" dirty="0"/>
          </a:p>
          <a:p>
            <a:pPr>
              <a:defRPr/>
            </a:pPr>
            <a:endParaRPr lang="en-US" altLang="ko-KR" sz="3100" b="1" dirty="0"/>
          </a:p>
          <a:p>
            <a:pPr>
              <a:defRPr/>
            </a:pPr>
            <a:endParaRPr lang="en-US" altLang="ko-KR" sz="3100" b="1" dirty="0"/>
          </a:p>
          <a:p>
            <a:pPr>
              <a:defRPr/>
            </a:pPr>
            <a:endParaRPr lang="ko-KR" altLang="en-US" sz="3100" b="1" dirty="0"/>
          </a:p>
          <a:p>
            <a:pPr>
              <a:defRPr/>
            </a:pPr>
            <a:r>
              <a:rPr lang="ko-KR" altLang="en-US" dirty="0"/>
              <a:t>고객의 과거 구매 데이터를 기반으로</a:t>
            </a:r>
            <a:r>
              <a:rPr lang="en-US" altLang="ko-KR" dirty="0"/>
              <a:t>,</a:t>
            </a:r>
            <a:r>
              <a:rPr lang="ko-KR" altLang="en-US" dirty="0"/>
              <a:t> 개개인에게 맞는 패션 아이템을 추천하는 시스템을 구현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대량의 거래 이력 및 고객 데이터를 기반으로 개인화 모델을 설계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2343972-8F09-F7AC-4F55-743306D49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xmlns="" id="{1CA9EAB8-D58E-1148-43FC-E1B1B7D75A32}"/>
              </a:ext>
            </a:extLst>
          </p:cNvPr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xmlns="" id="{980387E2-E5B4-E003-7295-185604E8976A}"/>
              </a:ext>
            </a:extLst>
          </p:cNvPr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xmlns="" id="{D8014803-2277-CDCB-7A75-079D0598C561}"/>
              </a:ext>
            </a:extLst>
          </p:cNvPr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D6179004-E657-7D47-A03A-1FA8F51C6A3E}"/>
              </a:ext>
            </a:extLst>
          </p:cNvPr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xmlns="" id="{ACD134F8-CE7F-AC41-BC4B-4C0DF3343BEF}"/>
                </a:ext>
              </a:extLst>
            </p:cNvPr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C7D59DC4-DFA9-577E-CACC-342F201A7876}"/>
                </a:ext>
              </a:extLst>
            </p:cNvPr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xmlns="" id="{C66CC78A-536B-0183-195D-53D8142F8081}"/>
                  </a:ext>
                </a:extLst>
              </p:cNvPr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xmlns="" id="{F477517B-D3DF-0E87-351D-0522D708F345}"/>
                  </a:ext>
                </a:extLst>
              </p:cNvPr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xmlns="" id="{32CC3472-C100-15F6-7FA9-DF44F99EBAA2}"/>
                  </a:ext>
                </a:extLst>
              </p:cNvPr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8A022C9-46E8-5771-4496-9FE69720811D}"/>
              </a:ext>
            </a:extLst>
          </p:cNvPr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100" kern="0" dirty="0">
                <a:solidFill>
                  <a:prstClr val="white"/>
                </a:solidFill>
                <a:latin typeface="Tmon몬소리 Black"/>
                <a:ea typeface="Tmon몬소리 Black"/>
              </a:rPr>
              <a:t>4</a:t>
            </a:r>
            <a:endParaRPr kumimoji="0" lang="en-US" altLang="ko-KR" sz="1100" b="0" i="0" u="none" strike="noStrike" kern="0" cap="none" spc="0" normalizeH="0" baseline="0" dirty="0">
              <a:solidFill>
                <a:prstClr val="white"/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E8360FB-D32A-5632-B5E3-F810436E55B6}"/>
              </a:ext>
            </a:extLst>
          </p:cNvPr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265343B0-6D50-2E8E-1173-68CF213DF604}"/>
              </a:ext>
            </a:extLst>
          </p:cNvPr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AE079C5D-BDD7-6F8D-27CE-826A20174766}"/>
              </a:ext>
            </a:extLst>
          </p:cNvPr>
          <p:cNvSpPr txBox="1"/>
          <p:nvPr/>
        </p:nvSpPr>
        <p:spPr>
          <a:xfrm>
            <a:off x="1052634" y="1188474"/>
            <a:ext cx="9980900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평가지표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MAP12(Mean Average Precision at 12)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▶각 유저에게 추천한 상위 12개 아이템 중 정답(실제 구매한 아이템)이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얼마나 정확하게 포함되었는지를 평가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▶계산 방식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1.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유저에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대해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예측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결과에서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상위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12개의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아이템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추천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그중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실제로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유저가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구매한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아이템이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몇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개나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있는지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확인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정답이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얼마나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앞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순서에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위치했는지도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반영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(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앞에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있을수록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점수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↑)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2.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각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유저별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AP (Average Precision)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계산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정답이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나올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때마다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precision = (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지금까지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맞춘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정답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) / (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지금까지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추천한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아이템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이를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정답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개수로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나누어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평균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→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유저의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AP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3.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모든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유저의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AP를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평균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 → MAP (Mean Average Precision)</a:t>
            </a:r>
          </a:p>
        </p:txBody>
      </p:sp>
    </p:spTree>
    <p:extLst>
      <p:ext uri="{BB962C8B-B14F-4D97-AF65-F5344CB8AC3E}">
        <p14:creationId xmlns:p14="http://schemas.microsoft.com/office/powerpoint/2010/main" xmlns="" val="33398429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100" kern="0" dirty="0">
                <a:solidFill>
                  <a:prstClr val="white"/>
                </a:solidFill>
                <a:latin typeface="Tmon몬소리 Black"/>
                <a:ea typeface="Tmon몬소리 Black"/>
              </a:rPr>
              <a:t>5</a:t>
            </a:r>
            <a:endParaRPr kumimoji="0" lang="en-US" altLang="ko-KR" sz="1100" b="0" i="0" u="none" strike="noStrike" kern="0" cap="none" spc="0" normalizeH="0" baseline="0" dirty="0">
              <a:solidFill>
                <a:prstClr val="white"/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2121" y="1096595"/>
            <a:ext cx="9980900" cy="1597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100" b="1"/>
              <a:t>사용된 데이터 파일</a:t>
            </a:r>
          </a:p>
          <a:p>
            <a:pPr>
              <a:defRPr/>
            </a:pPr>
            <a:r>
              <a:rPr lang="en-US" altLang="ko-KR" sz="1700" b="1"/>
              <a:t>1. articles (</a:t>
            </a:r>
            <a:r>
              <a:rPr lang="ko-KR" altLang="en-US" sz="1700" b="1"/>
              <a:t>상품 정보</a:t>
            </a:r>
            <a:r>
              <a:rPr lang="en-US" altLang="ko-KR" sz="1700" b="1"/>
              <a:t>)</a:t>
            </a:r>
            <a:r>
              <a:rPr lang="ko-KR" altLang="en-US" sz="1700" b="1"/>
              <a:t> </a:t>
            </a:r>
            <a:r>
              <a:rPr lang="en-US" altLang="ko-KR" sz="1700" b="1"/>
              <a:t>:</a:t>
            </a:r>
            <a:r>
              <a:rPr lang="ko-KR" altLang="en-US" sz="1700" b="1"/>
              <a:t> 카테고리</a:t>
            </a:r>
            <a:r>
              <a:rPr lang="en-US" altLang="ko-KR" sz="1700" b="1"/>
              <a:t>,</a:t>
            </a:r>
            <a:r>
              <a:rPr lang="ko-KR" altLang="en-US" sz="1700" b="1"/>
              <a:t> 색상</a:t>
            </a:r>
            <a:r>
              <a:rPr lang="en-US" altLang="ko-KR" sz="1700" b="1"/>
              <a:t>,</a:t>
            </a:r>
            <a:r>
              <a:rPr lang="ko-KR" altLang="en-US" sz="1700" b="1"/>
              <a:t> 가격 등</a:t>
            </a:r>
          </a:p>
          <a:p>
            <a:pPr>
              <a:defRPr/>
            </a:pPr>
            <a:r>
              <a:rPr lang="en-US" altLang="ko-KR" sz="1700" b="1"/>
              <a:t>2.</a:t>
            </a:r>
            <a:r>
              <a:rPr lang="ko-KR" altLang="en-US" sz="1700" b="1"/>
              <a:t> </a:t>
            </a:r>
            <a:r>
              <a:rPr lang="en-US" altLang="ko-KR" sz="1700" b="1"/>
              <a:t>customers (</a:t>
            </a:r>
            <a:r>
              <a:rPr lang="ko-KR" altLang="en-US" sz="1700" b="1"/>
              <a:t>고객 정보</a:t>
            </a:r>
            <a:r>
              <a:rPr lang="en-US" altLang="ko-KR" sz="1700" b="1"/>
              <a:t>)</a:t>
            </a:r>
            <a:r>
              <a:rPr lang="ko-KR" altLang="en-US" sz="1700" b="1"/>
              <a:t> </a:t>
            </a:r>
            <a:r>
              <a:rPr lang="en-US" altLang="ko-KR" sz="1700" b="1"/>
              <a:t>: </a:t>
            </a:r>
            <a:r>
              <a:rPr lang="ko-KR" altLang="en-US" sz="1700" b="1"/>
              <a:t>나이</a:t>
            </a:r>
            <a:r>
              <a:rPr lang="en-US" altLang="ko-KR" sz="1700" b="1"/>
              <a:t>,</a:t>
            </a:r>
            <a:r>
              <a:rPr lang="ko-KR" altLang="en-US" sz="1700" b="1"/>
              <a:t> 연령대</a:t>
            </a:r>
            <a:r>
              <a:rPr lang="en-US" altLang="ko-KR" sz="1700" b="1"/>
              <a:t>,</a:t>
            </a:r>
            <a:r>
              <a:rPr lang="ko-KR" altLang="en-US" sz="1700" b="1"/>
              <a:t> 구매력 등</a:t>
            </a:r>
          </a:p>
          <a:p>
            <a:pPr>
              <a:defRPr/>
            </a:pPr>
            <a:r>
              <a:rPr lang="en-US" altLang="ko-KR" sz="1700" b="1"/>
              <a:t>3.</a:t>
            </a:r>
            <a:r>
              <a:rPr lang="ko-KR" altLang="en-US" sz="1700" b="1"/>
              <a:t> </a:t>
            </a:r>
            <a:r>
              <a:rPr lang="en-US" altLang="ko-KR" sz="1700" b="1"/>
              <a:t>transaction_train (</a:t>
            </a:r>
            <a:r>
              <a:rPr lang="ko-KR" altLang="en-US" sz="1700" b="1"/>
              <a:t>구매 이력</a:t>
            </a:r>
            <a:r>
              <a:rPr lang="en-US" altLang="ko-KR" sz="1700" b="1"/>
              <a:t>) : </a:t>
            </a:r>
            <a:r>
              <a:rPr lang="ko-KR" altLang="en-US" sz="1700" b="1"/>
              <a:t>고객이 특정 날짜에 어떤 상품을 샀는지</a:t>
            </a:r>
          </a:p>
          <a:p>
            <a:pPr>
              <a:defRPr/>
            </a:pPr>
            <a:endParaRPr lang="ko-KR" altLang="en-US" sz="170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847930" y="2544341"/>
            <a:ext cx="3325035" cy="3735533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 cstate="print"/>
          <a:srcRect t="7240"/>
          <a:stretch>
            <a:fillRect/>
          </a:stretch>
        </p:blipFill>
        <p:spPr>
          <a:xfrm>
            <a:off x="4379951" y="2642604"/>
            <a:ext cx="3432097" cy="1572791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>
          <a:xfrm>
            <a:off x="8157555" y="2606632"/>
            <a:ext cx="3073557" cy="1644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6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436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/>
              <a:t>누적 구매 기여도 분석 - 구현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2252" y="2561483"/>
            <a:ext cx="3577168" cy="1735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/>
              <a:t>고객의 누적 구매 기여도 시각화 방법</a:t>
            </a:r>
            <a:endParaRPr lang="ko-KR" altLang="en-US" sz="1200"/>
          </a:p>
          <a:p>
            <a:pPr>
              <a:defRPr/>
            </a:pPr>
            <a:endParaRPr lang="ko-KR" altLang="en-US" sz="1200"/>
          </a:p>
          <a:p>
            <a:pPr>
              <a:defRPr/>
            </a:pPr>
            <a:r>
              <a:rPr lang="en-US" altLang="ko-KR" sz="1200"/>
              <a:t>1.</a:t>
            </a:r>
            <a:r>
              <a:rPr lang="ko-KR" altLang="en-US" sz="1200"/>
              <a:t> 고객별 구매 수 집계 후 내림차순 정렬</a:t>
            </a:r>
          </a:p>
          <a:p>
            <a:pPr>
              <a:defRPr/>
            </a:pPr>
            <a:endParaRPr lang="ko-KR" altLang="en-US" sz="1200"/>
          </a:p>
          <a:p>
            <a:pPr>
              <a:defRPr/>
            </a:pPr>
            <a:r>
              <a:rPr lang="en-US" altLang="ko-KR" sz="1200"/>
              <a:t>2.</a:t>
            </a:r>
            <a:r>
              <a:rPr lang="ko-KR" altLang="en-US" sz="1200"/>
              <a:t> 누적 구매 기여도 계산 → 전체 구매 대비 비율</a:t>
            </a:r>
          </a:p>
          <a:p>
            <a:pPr>
              <a:defRPr/>
            </a:pPr>
            <a:endParaRPr lang="ko-KR" altLang="en-US" sz="1200"/>
          </a:p>
          <a:p>
            <a:pPr>
              <a:defRPr/>
            </a:pPr>
            <a:r>
              <a:rPr lang="en-US" altLang="ko-KR" sz="1200"/>
              <a:t>3.</a:t>
            </a:r>
            <a:r>
              <a:rPr lang="ko-KR" altLang="en-US" sz="1200"/>
              <a:t> 사용자 누적 비율과 함께 선 그래프 시각화</a:t>
            </a:r>
          </a:p>
          <a:p>
            <a:pPr>
              <a:defRPr/>
            </a:pPr>
            <a:endParaRPr lang="ko-KR" altLang="en-US" sz="1200"/>
          </a:p>
          <a:p>
            <a:pPr>
              <a:defRPr/>
            </a:pPr>
            <a:r>
              <a:rPr lang="en-US" altLang="ko-KR" sz="1200"/>
              <a:t>4.</a:t>
            </a:r>
            <a:r>
              <a:rPr lang="ko-KR" altLang="en-US" sz="1200"/>
              <a:t> 상위 N%의 기여도 수치도 별도로 표기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699299" y="1911481"/>
            <a:ext cx="6833147" cy="1517519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799903" y="4222731"/>
            <a:ext cx="6838425" cy="602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7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788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300" b="1"/>
              <a:t>&lt;</a:t>
            </a:r>
            <a:r>
              <a:rPr lang="ko-KR" altLang="en-US" sz="2300" b="1"/>
              <a:t>파레토 법칙</a:t>
            </a:r>
            <a:r>
              <a:rPr lang="en-US" altLang="ko-KR" sz="2300" b="1"/>
              <a:t>&gt;</a:t>
            </a:r>
          </a:p>
          <a:p>
            <a:pPr>
              <a:defRPr/>
            </a:pPr>
            <a:r>
              <a:rPr lang="ko-KR" altLang="en-US" sz="2300" b="1"/>
              <a:t>소수 유저가 전체 매출을 주도한다</a:t>
            </a:r>
            <a:r>
              <a:rPr lang="en-US" altLang="ko-KR" sz="2300" b="1"/>
              <a:t>.</a:t>
            </a:r>
            <a:endParaRPr lang="ko-KR" altLang="en-US" sz="2300" b="1"/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814915" y="1861607"/>
            <a:ext cx="5210731" cy="360468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03817" y="5568950"/>
            <a:ext cx="5147734" cy="820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/>
              <a:t>[그래프 </a:t>
            </a:r>
            <a:r>
              <a:rPr lang="en-US" altLang="ko-KR" sz="1200" b="1"/>
              <a:t>-</a:t>
            </a:r>
            <a:r>
              <a:rPr lang="ko-KR" altLang="en-US" sz="1200" b="1"/>
              <a:t> 누적 구매 기여도 vs 사용자 비율]</a:t>
            </a:r>
          </a:p>
          <a:p>
            <a:pPr>
              <a:defRPr/>
            </a:pPr>
            <a:r>
              <a:rPr lang="ko-KR" altLang="en-US" sz="1200" b="1"/>
              <a:t>→ X축: 상위 % 사용자  </a:t>
            </a:r>
          </a:p>
          <a:p>
            <a:pPr>
              <a:defRPr/>
            </a:pPr>
            <a:r>
              <a:rPr lang="ko-KR" altLang="en-US" sz="1200" b="1"/>
              <a:t>→ Y축: 누적 구매 기여도 (%)</a:t>
            </a:r>
          </a:p>
          <a:p>
            <a:pPr>
              <a:defRPr/>
            </a:pPr>
            <a:r>
              <a:rPr lang="ko-KR" altLang="en-US" sz="1200" b="1"/>
              <a:t>→ 주요 지점: 상위 1%, 5%, 10%, 20%, 50% 지점에 점 + 수치 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6474786" y="2000223"/>
            <a:ext cx="4328805" cy="117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100" kern="0" dirty="0">
                <a:solidFill>
                  <a:prstClr val="white"/>
                </a:solidFill>
                <a:latin typeface="Tmon몬소리 Black"/>
                <a:ea typeface="Tmon몬소리 Black"/>
              </a:rPr>
              <a:t>8</a:t>
            </a:r>
            <a:endParaRPr kumimoji="0" lang="en-US" altLang="ko-KR" sz="1100" b="0" i="0" u="none" strike="noStrike" kern="0" cap="none" spc="0" normalizeH="0" baseline="0" dirty="0">
              <a:solidFill>
                <a:prstClr val="white"/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436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/>
              <a:t>연도 </a:t>
            </a:r>
            <a:r>
              <a:rPr lang="en-US" altLang="ko-KR" sz="2300" b="1"/>
              <a:t>-</a:t>
            </a:r>
            <a:r>
              <a:rPr lang="ko-KR" altLang="en-US" sz="2300" b="1"/>
              <a:t> 월 별 판매 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5855670" y="1878519"/>
            <a:ext cx="3113792" cy="805991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870827" y="1536548"/>
            <a:ext cx="4847565" cy="20406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>
          <a:xfrm>
            <a:off x="868625" y="3695700"/>
            <a:ext cx="10454751" cy="270047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801784" y="3248977"/>
            <a:ext cx="5469468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2019</a:t>
            </a:r>
            <a:r>
              <a:rPr lang="ko-KR" altLang="en-US"/>
              <a:t> </a:t>
            </a:r>
            <a:r>
              <a:rPr lang="en-US" altLang="ko-KR"/>
              <a:t>&gt;</a:t>
            </a:r>
            <a:r>
              <a:rPr lang="ko-KR" altLang="en-US"/>
              <a:t> </a:t>
            </a:r>
            <a:r>
              <a:rPr lang="en-US" altLang="ko-KR"/>
              <a:t>2020</a:t>
            </a:r>
            <a:r>
              <a:rPr lang="ko-KR" altLang="en-US"/>
              <a:t> </a:t>
            </a:r>
            <a:r>
              <a:rPr lang="en-US" altLang="ko-KR"/>
              <a:t>&gt;</a:t>
            </a:r>
            <a:r>
              <a:rPr lang="ko-KR" altLang="en-US"/>
              <a:t> </a:t>
            </a:r>
            <a:r>
              <a:rPr lang="en-US" altLang="ko-KR"/>
              <a:t>2018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100" kern="0" dirty="0">
                <a:solidFill>
                  <a:prstClr val="white"/>
                </a:solidFill>
                <a:latin typeface="Tmon몬소리 Black"/>
                <a:ea typeface="Tmon몬소리 Black"/>
              </a:rPr>
              <a:t>9</a:t>
            </a:r>
            <a:endParaRPr kumimoji="0" lang="en-US" altLang="ko-KR" sz="1100" b="0" i="0" u="none" strike="noStrike" kern="0" cap="none" spc="0" normalizeH="0" baseline="0" dirty="0">
              <a:solidFill>
                <a:prstClr val="white"/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436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/>
              <a:t>연도 </a:t>
            </a:r>
            <a:r>
              <a:rPr lang="en-US" altLang="ko-KR" sz="2300" b="1"/>
              <a:t>-</a:t>
            </a:r>
            <a:r>
              <a:rPr lang="ko-KR" altLang="en-US" sz="2300" b="1"/>
              <a:t> 월 별 판매 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719327" y="3684124"/>
            <a:ext cx="10584012" cy="2702850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797773" y="1577925"/>
            <a:ext cx="8191920" cy="1924148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>
          <a:xfrm>
            <a:off x="9383140" y="732293"/>
            <a:ext cx="1714588" cy="2895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225050" y="6330292"/>
            <a:ext cx="329918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1100" kern="0" dirty="0">
                <a:solidFill>
                  <a:prstClr val="white"/>
                </a:solidFill>
                <a:latin typeface="Tmon몬소리 Black"/>
                <a:ea typeface="Tmon몬소리 Black"/>
              </a:rPr>
              <a:t>10</a:t>
            </a:r>
            <a:endParaRPr kumimoji="0" lang="en-US" altLang="ko-KR" sz="1100" b="0" i="0" u="none" strike="noStrike" kern="0" cap="none" spc="0" normalizeH="0" baseline="0" dirty="0">
              <a:solidFill>
                <a:prstClr val="white"/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436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/>
              <a:t>연도 </a:t>
            </a:r>
            <a:r>
              <a:rPr lang="en-US" altLang="ko-KR" sz="2300" b="1"/>
              <a:t>-</a:t>
            </a:r>
            <a:r>
              <a:rPr lang="ko-KR" altLang="en-US" sz="2300" b="1"/>
              <a:t> 월 별 판매 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742732" y="1504368"/>
            <a:ext cx="8445934" cy="1854295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9418056" y="445483"/>
            <a:ext cx="2025754" cy="2902099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>
          <a:xfrm>
            <a:off x="766233" y="3426397"/>
            <a:ext cx="9969500" cy="261894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39371" y="6077278"/>
            <a:ext cx="111126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/>
              <a:t>여름에는 </a:t>
            </a:r>
            <a:r>
              <a:rPr lang="ko-KR" altLang="en-US" dirty="0" err="1" smtClean="0"/>
              <a:t>이너웨어</a:t>
            </a:r>
            <a:r>
              <a:rPr lang="ko-KR" altLang="en-US" dirty="0" smtClean="0"/>
              <a:t> 같은 저가 제품의 대량 소비가 많고</a:t>
            </a:r>
            <a:r>
              <a:rPr lang="en-US" altLang="ko-KR" dirty="0" smtClean="0"/>
              <a:t>, </a:t>
            </a:r>
          </a:p>
          <a:p>
            <a:pPr>
              <a:defRPr/>
            </a:pPr>
            <a:r>
              <a:rPr lang="ko-KR" altLang="en-US" dirty="0" smtClean="0"/>
              <a:t>가을에는 </a:t>
            </a:r>
            <a:r>
              <a:rPr lang="ko-KR" altLang="en-US" dirty="0" err="1" smtClean="0"/>
              <a:t>자켓</a:t>
            </a:r>
            <a:r>
              <a:rPr lang="en-US" altLang="ko-KR" dirty="0" smtClean="0"/>
              <a:t>,</a:t>
            </a:r>
            <a:r>
              <a:rPr lang="ko-KR" altLang="en-US" dirty="0" smtClean="0"/>
              <a:t>코트</a:t>
            </a:r>
            <a:r>
              <a:rPr lang="en-US" altLang="ko-KR" dirty="0" smtClean="0"/>
              <a:t> </a:t>
            </a:r>
            <a:r>
              <a:rPr lang="ko-KR" altLang="en-US" dirty="0" smtClean="0"/>
              <a:t>같은 고가 제품의 수요가 증가하기 때문으로 해석  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11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 dirty="0"/>
              <a:t>히트 상품 뽑아보기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748867" y="4378323"/>
            <a:ext cx="5727700" cy="31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500" b="1"/>
              <a:t>판매량 상위 </a:t>
            </a:r>
            <a:r>
              <a:rPr lang="en-US" altLang="ko-KR" sz="1500" b="1"/>
              <a:t>10%</a:t>
            </a:r>
            <a:r>
              <a:rPr lang="ko-KR" altLang="en-US" sz="1500" b="1"/>
              <a:t> 에 해당하는 상품</a:t>
            </a:r>
            <a:r>
              <a:rPr lang="en-US" altLang="ko-KR" sz="1500" b="1"/>
              <a:t> id</a:t>
            </a:r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1250844" y="1934542"/>
            <a:ext cx="4192763" cy="3608632"/>
          </a:xfrm>
          <a:prstGeom prst="rect">
            <a:avLst/>
          </a:prstGeom>
        </p:spPr>
      </p:pic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5815013" y="3227352"/>
            <a:ext cx="2459726" cy="1044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12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 dirty="0"/>
              <a:t>히트 상품 뽑아보기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792526" y="1692422"/>
            <a:ext cx="4456703" cy="3767658"/>
          </a:xfrm>
          <a:prstGeom prst="rect">
            <a:avLst/>
          </a:prstGeom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4203699" y="3752485"/>
            <a:ext cx="7569198" cy="17296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81082" y="1648880"/>
            <a:ext cx="6210702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500" b="1" dirty="0"/>
              <a:t>cv2</a:t>
            </a:r>
            <a:r>
              <a:rPr lang="ko-KR" altLang="en-US" sz="1500" b="1" dirty="0"/>
              <a:t>란 </a:t>
            </a:r>
            <a:r>
              <a:rPr lang="en-US" altLang="ko-KR" sz="1500" b="1" dirty="0"/>
              <a:t>?</a:t>
            </a:r>
            <a:r>
              <a:rPr lang="ko-KR" altLang="en-US" sz="1500" b="1" dirty="0"/>
              <a:t> </a:t>
            </a:r>
          </a:p>
          <a:p>
            <a:pPr>
              <a:defRPr/>
            </a:pPr>
            <a:r>
              <a:rPr lang="ko-KR" altLang="en-US" sz="1200" dirty="0" err="1"/>
              <a:t>OpenCV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Open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Source</a:t>
            </a:r>
            <a:r>
              <a:rPr lang="ko-KR" altLang="en-US" sz="1200" dirty="0"/>
              <a:t> Computer </a:t>
            </a:r>
            <a:r>
              <a:rPr lang="ko-KR" altLang="en-US" sz="1200" dirty="0" err="1"/>
              <a:t>Vision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Library</a:t>
            </a:r>
            <a:r>
              <a:rPr lang="ko-KR" altLang="en-US" sz="1200" dirty="0"/>
              <a:t>) 파이썬 라이브러리</a:t>
            </a:r>
            <a:endParaRPr lang="en-US" altLang="ko-KR" sz="1200" dirty="0"/>
          </a:p>
          <a:p>
            <a:pPr>
              <a:defRPr/>
            </a:pPr>
            <a:endParaRPr lang="en-US" altLang="ko-KR" sz="1200" dirty="0"/>
          </a:p>
          <a:p>
            <a:pPr>
              <a:defRPr/>
            </a:pPr>
            <a:r>
              <a:rPr lang="en-US" altLang="ko-KR" sz="1400" b="1" dirty="0" err="1"/>
              <a:t>OpenCV는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영상처리와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컴퓨터비전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분야에서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가장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널리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쓰이는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라이브러리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중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하나</a:t>
            </a:r>
            <a:r>
              <a:rPr lang="ko-KR" altLang="en-US" sz="1400" b="1" dirty="0"/>
              <a:t>이다</a:t>
            </a:r>
            <a:r>
              <a:rPr lang="en-US" altLang="ko-KR" sz="1400" b="1" dirty="0"/>
              <a:t>.</a:t>
            </a:r>
            <a:endParaRPr lang="en-US" altLang="ko-KR" sz="1400" dirty="0"/>
          </a:p>
          <a:p>
            <a:pPr>
              <a:defRPr/>
            </a:pPr>
            <a:r>
              <a:rPr lang="ko-KR" altLang="en-US" sz="1400" dirty="0"/>
              <a:t>주요 기능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</a:p>
          <a:p>
            <a:pPr>
              <a:defRPr/>
            </a:pPr>
            <a:r>
              <a:rPr lang="ko-KR" altLang="en-US" sz="1400" dirty="0"/>
              <a:t>이미지 로딩</a:t>
            </a:r>
            <a:r>
              <a:rPr lang="en-US" altLang="ko-KR" sz="1400" dirty="0"/>
              <a:t>,</a:t>
            </a:r>
            <a:r>
              <a:rPr lang="ko-KR" altLang="en-US" sz="1400" dirty="0"/>
              <a:t> 보여주기</a:t>
            </a:r>
            <a:r>
              <a:rPr lang="en-US" altLang="ko-KR" sz="1400" dirty="0"/>
              <a:t>,</a:t>
            </a:r>
            <a:r>
              <a:rPr lang="ko-KR" altLang="en-US" sz="1400" dirty="0"/>
              <a:t> 자르기</a:t>
            </a:r>
            <a:r>
              <a:rPr lang="en-US" altLang="ko-KR" sz="1400" dirty="0"/>
              <a:t>,</a:t>
            </a:r>
            <a:r>
              <a:rPr lang="ko-KR" altLang="en-US" sz="1400" dirty="0"/>
              <a:t> 필터</a:t>
            </a:r>
            <a:r>
              <a:rPr lang="en-US" altLang="ko-KR" sz="1400" dirty="0"/>
              <a:t>,</a:t>
            </a:r>
            <a:r>
              <a:rPr lang="ko-KR" altLang="en-US" sz="1400" dirty="0"/>
              <a:t> 객체 탐지</a:t>
            </a:r>
            <a:r>
              <a:rPr lang="en-US" altLang="ko-KR" sz="1400" dirty="0"/>
              <a:t>,</a:t>
            </a:r>
            <a:r>
              <a:rPr lang="ko-KR" altLang="en-US" sz="1400" dirty="0"/>
              <a:t> 영상 처리 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7888" y="1028861"/>
            <a:ext cx="99809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 dirty="0"/>
              <a:t>히트 상품 뽑아보기</a:t>
            </a:r>
          </a:p>
          <a:p>
            <a:pPr>
              <a:defRPr/>
            </a:pPr>
            <a:r>
              <a:rPr lang="en-US" altLang="ko-KR" sz="2300" b="1" dirty="0"/>
              <a:t>:</a:t>
            </a:r>
            <a:r>
              <a:rPr lang="ko-KR" altLang="en-US" sz="2300" b="1" dirty="0"/>
              <a:t>최근 일주일 인기 상품  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886620" y="1946222"/>
            <a:ext cx="7502203" cy="1482777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>
          <a:xfrm>
            <a:off x="905933" y="3704166"/>
            <a:ext cx="9032643" cy="20817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60A46CC-048F-7B81-7406-5A5A019ACB73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14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 dirty="0"/>
              <a:t>히트 상품 뽑아보기</a:t>
            </a:r>
          </a:p>
          <a:p>
            <a:pPr>
              <a:defRPr/>
            </a:pPr>
            <a:r>
              <a:rPr lang="en-US" altLang="ko-KR" sz="2300" b="1" dirty="0"/>
              <a:t>:</a:t>
            </a:r>
            <a:r>
              <a:rPr lang="ko-KR" altLang="en-US" sz="2300" b="1" dirty="0"/>
              <a:t>연령대별 히트 상품 분석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803034" y="2033967"/>
            <a:ext cx="4661617" cy="2891664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29917" y="1703916"/>
            <a:ext cx="2366433" cy="36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774699" y="4943896"/>
            <a:ext cx="5549901" cy="64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연령대 별 인기 상품 분석을 하기 전</a:t>
            </a:r>
            <a:r>
              <a:rPr lang="en-US" altLang="ko-KR"/>
              <a:t>,</a:t>
            </a:r>
          </a:p>
          <a:p>
            <a:pPr>
              <a:defRPr/>
            </a:pPr>
            <a:r>
              <a:rPr lang="ko-KR" altLang="en-US"/>
              <a:t>고객 나이 별 </a:t>
            </a:r>
            <a:r>
              <a:rPr lang="en-US" altLang="ko-KR"/>
              <a:t>h&amp;m </a:t>
            </a:r>
            <a:r>
              <a:rPr lang="ko-KR" altLang="en-US"/>
              <a:t>구매 빈도 확인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76900" y="1976437"/>
            <a:ext cx="5414434" cy="3050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000" b="1">
                <a:latin typeface="함초롬돋움"/>
                <a:ea typeface="함초롬돋움"/>
              </a:rPr>
              <a:t>분석 방식</a:t>
            </a:r>
          </a:p>
          <a:p>
            <a:pPr algn="ctr">
              <a:defRPr/>
            </a:pPr>
            <a:endParaRPr lang="ko-KR" altLang="en-US" sz="2000" b="1">
              <a:latin typeface="함초롬돋움"/>
              <a:ea typeface="함초롬돋움"/>
            </a:endParaRPr>
          </a:p>
          <a:p>
            <a:pPr>
              <a:defRPr/>
            </a:pPr>
            <a:r>
              <a:rPr lang="en-US" altLang="en-US" sz="1600"/>
              <a:t>- 거래 정보와 고객 정보 결합 (merge)</a:t>
            </a:r>
          </a:p>
          <a:p>
            <a:pPr>
              <a:defRPr/>
            </a:pPr>
            <a:r>
              <a:rPr lang="en-US" altLang="en-US" sz="1600"/>
              <a:t>- 연령대 분류 (10세 단위: 10-19, 20-29, ...)</a:t>
            </a:r>
          </a:p>
          <a:p>
            <a:pPr>
              <a:defRPr/>
            </a:pPr>
            <a:r>
              <a:rPr lang="en-US" altLang="en-US" sz="1600"/>
              <a:t>- 전체 판매량 Top 1000 제외 (기본템 제거)</a:t>
            </a:r>
          </a:p>
          <a:p>
            <a:pPr>
              <a:defRPr/>
            </a:pPr>
            <a:r>
              <a:rPr lang="en-US" altLang="en-US" sz="1600"/>
              <a:t>- 연령대별로 별도의 상위 인기 상품 추출 (Top-3)</a:t>
            </a:r>
            <a:endParaRPr lang="en-US" altLang="en-US"/>
          </a:p>
          <a:p>
            <a:pPr>
              <a:defRPr/>
            </a:pPr>
            <a:endParaRPr lang="en-US" altLang="en-US"/>
          </a:p>
          <a:p>
            <a:pPr algn="ctr">
              <a:defRPr/>
            </a:pPr>
            <a:r>
              <a:rPr lang="ko-KR" altLang="en-US" sz="2000" b="1"/>
              <a:t>의의</a:t>
            </a:r>
          </a:p>
          <a:p>
            <a:pPr algn="ctr">
              <a:defRPr/>
            </a:pPr>
            <a:endParaRPr lang="ko-KR" altLang="en-US" sz="2000" b="1"/>
          </a:p>
          <a:p>
            <a:pPr>
              <a:defRPr/>
            </a:pPr>
            <a:r>
              <a:rPr lang="ko-KR" altLang="en-US" sz="1600" b="0"/>
              <a:t>- 연령층별로 차별적인 추천 결과 도출 가능</a:t>
            </a:r>
          </a:p>
          <a:p>
            <a:pPr>
              <a:defRPr/>
            </a:pPr>
            <a:r>
              <a:rPr lang="ko-KR" altLang="en-US" sz="1600" b="0"/>
              <a:t>- 특정 연령대의 고유 소비 패턴 인사이트 확보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15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 dirty="0"/>
              <a:t>히트 상품 뽑아보기</a:t>
            </a:r>
          </a:p>
          <a:p>
            <a:pPr>
              <a:defRPr/>
            </a:pPr>
            <a:r>
              <a:rPr lang="en-US" altLang="ko-KR" sz="2300" b="1" dirty="0"/>
              <a:t>:</a:t>
            </a:r>
            <a:r>
              <a:rPr lang="ko-KR" altLang="en-US" sz="2300" b="1" dirty="0"/>
              <a:t>연령대별 히트 상품 분석 </a:t>
            </a:r>
            <a:r>
              <a:rPr lang="en-US" altLang="ko-KR" sz="2300" b="1" dirty="0"/>
              <a:t>-</a:t>
            </a:r>
            <a:r>
              <a:rPr lang="ko-KR" altLang="en-US" sz="2300" b="1" dirty="0"/>
              <a:t> 구현 방식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6529917" y="1703916"/>
            <a:ext cx="2366433" cy="36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7457016" y="1898650"/>
            <a:ext cx="33655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799836" y="1871559"/>
            <a:ext cx="8747751" cy="3424443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83430" y="5555456"/>
            <a:ext cx="7543800" cy="872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700"/>
              <a:t>- 고객 거래 데이터를 기준으로 연령 정보를 결합</a:t>
            </a:r>
          </a:p>
          <a:p>
            <a:pPr>
              <a:defRPr/>
            </a:pPr>
            <a:r>
              <a:rPr lang="ko-KR" altLang="en-US" sz="1700"/>
              <a:t>- 전체 인기 상품(Top 1000)을 제외한 후,</a:t>
            </a:r>
          </a:p>
          <a:p>
            <a:pPr>
              <a:defRPr/>
            </a:pPr>
            <a:r>
              <a:rPr lang="ko-KR" altLang="en-US" sz="1700"/>
              <a:t>- 연령대별로 고유하게 많이 팔린 상품을 추출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01.</a:t>
            </a:r>
            <a:r>
              <a:rPr kumimoji="0" lang="ko-KR" altLang="en-US" sz="20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데이터 분석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16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7888" y="1028861"/>
            <a:ext cx="99809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 dirty="0"/>
              <a:t>히트 상품 뽑아보기</a:t>
            </a:r>
          </a:p>
          <a:p>
            <a:pPr>
              <a:defRPr/>
            </a:pPr>
            <a:r>
              <a:rPr lang="en-US" altLang="ko-KR" sz="2300" b="1" dirty="0"/>
              <a:t>:</a:t>
            </a:r>
            <a:r>
              <a:rPr lang="ko-KR" altLang="en-US" sz="2300" b="1" dirty="0"/>
              <a:t>연령대별 히트 상품 분석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550" y="2114549"/>
            <a:ext cx="2205568" cy="36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669616" y="2072216"/>
            <a:ext cx="2908300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04416" y="2427816"/>
            <a:ext cx="6667501" cy="364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6529917" y="1703916"/>
            <a:ext cx="2366433" cy="36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770466" y="1920874"/>
            <a:ext cx="6231466" cy="2190750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4" cstate="print"/>
          <a:stretch>
            <a:fillRect/>
          </a:stretch>
        </p:blipFill>
        <p:spPr>
          <a:xfrm>
            <a:off x="812800" y="4210316"/>
            <a:ext cx="6236765" cy="218043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457016" y="1898650"/>
            <a:ext cx="33655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2000" b="0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950" y="2863502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7888" y="1028861"/>
            <a:ext cx="9980900" cy="436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300" b="1"/>
              <a:t>추천 시스템의 주요 알고리즘 유형</a:t>
            </a: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51367817"/>
              </p:ext>
            </p:extLst>
          </p:nvPr>
        </p:nvGraphicFramePr>
        <p:xfrm>
          <a:off x="957793" y="1621366"/>
          <a:ext cx="10467975" cy="3549453"/>
        </p:xfrm>
        <a:graphic>
          <a:graphicData uri="http://schemas.openxmlformats.org/drawingml/2006/table">
            <a:tbl>
              <a:tblPr firstRow="1" bandRow="1">
                <a:tableStyleId>{0583E2B2-CE58-4528-B6E7-A9ED766AF9EF}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974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974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974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1693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900">
                          <a:solidFill>
                            <a:schemeClr val="dk1"/>
                          </a:solidFill>
                        </a:rPr>
                        <a:t>추천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900">
                          <a:solidFill>
                            <a:schemeClr val="dk1"/>
                          </a:solidFill>
                        </a:rPr>
                        <a:t>핵심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900">
                          <a:solidFill>
                            <a:schemeClr val="dk1"/>
                          </a:solidFill>
                        </a:rPr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900">
                          <a:solidFill>
                            <a:schemeClr val="dk1"/>
                          </a:solidFill>
                        </a:rPr>
                        <a:t>단점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900">
                          <a:solidFill>
                            <a:schemeClr val="dk1"/>
                          </a:solidFill>
                        </a:rPr>
                        <a:t>예시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813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en-US" sz="1600" b="0" dirty="0"/>
                        <a:t>📖</a:t>
                      </a:r>
                      <a:r>
                        <a:rPr lang="ko-KR" altLang="en-US" sz="1600" b="1" dirty="0"/>
                        <a:t> 콘텐츠 기반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사용자가 좋아한 상품과 유사한 ‘</a:t>
                      </a:r>
                      <a:r>
                        <a:rPr lang="ko-KR" altLang="en-US" sz="1200" dirty="0" err="1"/>
                        <a:t>속성’을</a:t>
                      </a:r>
                      <a:r>
                        <a:rPr lang="ko-KR" altLang="en-US" sz="1200" dirty="0"/>
                        <a:t> 가진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 dirty="0"/>
                        <a:t>상품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Cold Start에 강함,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개별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사용자 최적화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다양성 낮음,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유사도 정의가 어려움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반팔을 좋아한 고객에게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다른 반팔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813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en-US" sz="1600" b="0" dirty="0"/>
                        <a:t>‍🤝</a:t>
                      </a:r>
                      <a:r>
                        <a:rPr lang="ko-KR" altLang="en-US" sz="1600" b="1" dirty="0"/>
                        <a:t> 협업 필터링</a:t>
                      </a:r>
                      <a:endParaRPr lang="en-US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유사한 고객/상품의 행동 패턴에 따라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개인화 강점,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별도 속성 없어도 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Cold Start 문제,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데이터 희소성 민감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나와 비슷한 사람들은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이걸 샀다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0813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600" b="0" dirty="0"/>
                        <a:t>🖇</a:t>
                      </a:r>
                      <a:r>
                        <a:rPr lang="ko-KR" altLang="en-US" sz="1600" b="1" dirty="0"/>
                        <a:t> 연관 규칙 기반️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함께 자주 구매된 상품을 연결해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직관적,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 dirty="0"/>
                        <a:t>마케팅 전략과 연계 쉬움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단순 빈도 기반,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개인화 부족</a:t>
                      </a:r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신발을 산 고객에게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양말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813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600" b="1" dirty="0"/>
                        <a:t>★ 인기 기반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전체 사용자에게 가장 많이 팔린 상품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 err="1"/>
                        <a:t>Cold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Start에</a:t>
                      </a:r>
                      <a:r>
                        <a:rPr lang="ko-KR" altLang="en-US" sz="1200" dirty="0"/>
                        <a:t> 매우 강함,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 dirty="0"/>
                        <a:t>간단함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사용자 개인화 없음,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 dirty="0"/>
                        <a:t>트렌드 편향</a:t>
                      </a:r>
                    </a:p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지금 제일 많이 팔리는 상품 보여주기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1306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600" b="1" dirty="0"/>
                        <a:t>⚙ 하이브리드️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위의 여러 방식 결합 → 약점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/>
                        <a:t>정확도,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/>
                        <a:t>다양성 둘 다 잡기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복잡한 구현, </a:t>
                      </a:r>
                    </a:p>
                    <a:p>
                      <a:pPr algn="ctr">
                        <a:defRPr/>
                      </a:pPr>
                      <a:r>
                        <a:rPr lang="ko-KR" altLang="en-US" sz="1200" dirty="0"/>
                        <a:t>리소스 부담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 err="1"/>
                        <a:t>콘텐츠+협업</a:t>
                      </a:r>
                      <a:endParaRPr lang="ko-KR" altLang="en-US" sz="1200" dirty="0"/>
                    </a:p>
                    <a:p>
                      <a:pPr algn="ctr">
                        <a:defRPr/>
                      </a:pPr>
                      <a:r>
                        <a:rPr lang="en-US" altLang="ko-KR" sz="1200" dirty="0"/>
                        <a:t>or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1200" dirty="0" err="1"/>
                        <a:t>협업+인기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혼합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BF326D6-6543-2A13-0DDB-1CD4022BAE3D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02.</a:t>
            </a:r>
            <a:r>
              <a:rPr kumimoji="0" lang="ko-KR" altLang="en-US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 </a:t>
            </a:r>
            <a:r>
              <a:rPr lang="ko-KR" altLang="en-US" sz="20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콘텐츠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기반 추천시스템</a:t>
            </a:r>
            <a:endParaRPr kumimoji="0" lang="ko-KR" altLang="en-US" sz="2000" b="0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1" y="1128182"/>
            <a:ext cx="6460066" cy="36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추천 시스템 개념 </a:t>
            </a:r>
            <a:r>
              <a:rPr lang="en-US" altLang="ko-KR" b="1"/>
              <a:t>-</a:t>
            </a:r>
            <a:r>
              <a:rPr lang="ko-KR" altLang="en-US" b="1"/>
              <a:t> 유사도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414" y="1538816"/>
            <a:ext cx="10274300" cy="488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300"/>
              <a:t>영상, 이미지, 텍스트 등 다양한 형태의 아이템 정보 데이터를 벡터화한 후, 아이템 벡터간의 유사도를 측정함</a:t>
            </a:r>
          </a:p>
          <a:p>
            <a:pPr>
              <a:defRPr/>
            </a:pPr>
            <a:r>
              <a:rPr lang="ko-KR" altLang="en-US" sz="1300"/>
              <a:t>측정된 유사도를 바탕으로 고객이 선호하는 아이템과 비교하여 유사도가 높은 아이템을 추천함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348" y="2156881"/>
            <a:ext cx="2214033" cy="367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유사도 종류</a:t>
            </a: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895349" y="2567514"/>
            <a:ext cx="4682066" cy="1878791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5938119" y="2316548"/>
            <a:ext cx="4918813" cy="37348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5153303-49F8-697A-2B1C-991D156DD842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3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02.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</a:t>
            </a:r>
            <a:r>
              <a:rPr lang="ko-KR" altLang="en-US" sz="20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콘텐츠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기반 추천시스템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365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/>
              <a:t>추천 방식 </a:t>
            </a:r>
            <a:r>
              <a:rPr lang="en-US" altLang="ko-KR" b="1" dirty="0"/>
              <a:t>-</a:t>
            </a:r>
            <a:r>
              <a:rPr lang="ko-KR" altLang="en-US" b="1" dirty="0"/>
              <a:t> 콘텐츠 기반 알고리즘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414" y="1538814"/>
            <a:ext cx="102743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/>
              <a:t>왜 콘텐츠 기반을 선택했을까</a:t>
            </a:r>
          </a:p>
          <a:p>
            <a:pPr>
              <a:defRPr/>
            </a:pPr>
            <a:endParaRPr lang="ko-KR" altLang="en-US" sz="1400" b="1" dirty="0"/>
          </a:p>
          <a:p>
            <a:pPr>
              <a:defRPr/>
            </a:pPr>
            <a:endParaRPr lang="ko-KR" altLang="en-US" sz="1400" b="1" dirty="0"/>
          </a:p>
          <a:p>
            <a:pPr>
              <a:defRPr/>
            </a:pPr>
            <a:r>
              <a:rPr lang="en-US" altLang="ko-KR" sz="1400" b="1" dirty="0"/>
              <a:t>1.</a:t>
            </a:r>
            <a:r>
              <a:rPr lang="ko-KR" altLang="en-US" sz="1400" b="1" dirty="0"/>
              <a:t>  상품 속성 정보가 풍부하기 때문</a:t>
            </a:r>
            <a:endParaRPr lang="ko-KR" altLang="en-US" sz="1400" dirty="0"/>
          </a:p>
          <a:p>
            <a:pPr>
              <a:defRPr/>
            </a:pPr>
            <a:r>
              <a:rPr lang="ko-KR" altLang="en-US" sz="1400" dirty="0"/>
              <a:t>제품에 대한 텍스트 설명(</a:t>
            </a:r>
            <a:r>
              <a:rPr lang="ko-KR" altLang="en-US" sz="1400" dirty="0" err="1"/>
              <a:t>detail_desc</a:t>
            </a:r>
            <a:r>
              <a:rPr lang="ko-KR" altLang="en-US" sz="1400" dirty="0"/>
              <a:t>)과 범주형 속성(</a:t>
            </a:r>
            <a:r>
              <a:rPr lang="ko-KR" altLang="en-US" sz="1400" dirty="0" err="1"/>
              <a:t>product_group_name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colour_group_name</a:t>
            </a:r>
            <a:r>
              <a:rPr lang="ko-KR" altLang="en-US" sz="1400" dirty="0"/>
              <a:t> 등)이 포함되어 있음 </a:t>
            </a:r>
            <a:endParaRPr lang="en-US" altLang="ko-KR" sz="1400" dirty="0"/>
          </a:p>
          <a:p>
            <a:pPr>
              <a:defRPr/>
            </a:pPr>
            <a:r>
              <a:rPr lang="en-US" altLang="ko-KR" sz="1400" dirty="0"/>
              <a:t>-&gt;</a:t>
            </a:r>
            <a:r>
              <a:rPr lang="ko-KR" altLang="en-US" sz="1400" dirty="0"/>
              <a:t> 콘텐츠 기반 추천은 이런 속성 정보가 많을수록 잘 작동함</a:t>
            </a:r>
          </a:p>
          <a:p>
            <a:pPr>
              <a:defRPr/>
            </a:pPr>
            <a:endParaRPr lang="en-US" altLang="ko-KR" sz="1400" dirty="0"/>
          </a:p>
          <a:p>
            <a:pPr>
              <a:defRPr/>
            </a:pPr>
            <a:endParaRPr lang="ko-KR" altLang="en-US" sz="1400" dirty="0"/>
          </a:p>
          <a:p>
            <a:pPr>
              <a:defRPr/>
            </a:pPr>
            <a:r>
              <a:rPr lang="en-US" altLang="ko-KR" sz="1400" b="1" dirty="0"/>
              <a:t>2.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cold start </a:t>
            </a:r>
            <a:r>
              <a:rPr lang="ko-KR" altLang="en-US" sz="1400" b="1" dirty="0"/>
              <a:t>문제를 줄이기 위함</a:t>
            </a:r>
            <a:endParaRPr lang="ko-KR" altLang="en-US" sz="1400" dirty="0"/>
          </a:p>
          <a:p>
            <a:pPr>
              <a:defRPr/>
            </a:pPr>
            <a:r>
              <a:rPr lang="ko-KR" altLang="en-US" sz="1400" dirty="0"/>
              <a:t>협업 필터링은 구매 이력이 많은 고객들만 잘 작동</a:t>
            </a:r>
            <a:endParaRPr lang="en-US" altLang="ko-KR" sz="1400" dirty="0"/>
          </a:p>
          <a:p>
            <a:pPr>
              <a:defRPr/>
            </a:pPr>
            <a:r>
              <a:rPr lang="ko-KR" altLang="en-US" sz="1400" dirty="0"/>
              <a:t>그러나</a:t>
            </a:r>
            <a:r>
              <a:rPr lang="en-US" altLang="ko-KR" sz="1400" dirty="0"/>
              <a:t>,</a:t>
            </a:r>
            <a:r>
              <a:rPr lang="ko-KR" altLang="en-US" sz="1400" dirty="0"/>
              <a:t> 우리가 가진 데이터에는 구매 이력이 드문 고객 비중이 큼</a:t>
            </a:r>
          </a:p>
          <a:p>
            <a:pPr>
              <a:defRPr/>
            </a:pPr>
            <a:r>
              <a:rPr lang="en-US" altLang="ko-KR" sz="1400" dirty="0"/>
              <a:t>-&gt; </a:t>
            </a:r>
            <a:r>
              <a:rPr lang="ko-KR" altLang="en-US" sz="1400" dirty="0"/>
              <a:t>콘텐츠 기반은 단 1개의 구매 이력만 있어도, 그 상품의 속성을 기반으로 취향 벡터를 만들 수 있음</a:t>
            </a:r>
          </a:p>
          <a:p>
            <a:pPr>
              <a:defRPr/>
            </a:pPr>
            <a:endParaRPr lang="ko-KR" altLang="en-US" sz="1400" dirty="0"/>
          </a:p>
          <a:p>
            <a:pPr>
              <a:defRPr/>
            </a:pPr>
            <a:r>
              <a:rPr lang="ko-KR" altLang="en-US" sz="1400" dirty="0"/>
              <a:t>	</a:t>
            </a:r>
          </a:p>
          <a:p>
            <a:pPr>
              <a:defRPr/>
            </a:pPr>
            <a:r>
              <a:rPr lang="en-US" altLang="ko-KR" sz="1400" dirty="0"/>
              <a:t>cold start </a:t>
            </a:r>
            <a:r>
              <a:rPr lang="ko-KR" altLang="en-US" sz="1400" dirty="0"/>
              <a:t>란</a:t>
            </a:r>
            <a:r>
              <a:rPr lang="en-US" altLang="ko-KR" sz="1400" dirty="0"/>
              <a:t>? </a:t>
            </a:r>
          </a:p>
          <a:p>
            <a:pPr>
              <a:defRPr/>
            </a:pPr>
            <a:r>
              <a:rPr lang="en-US" altLang="ko-KR" sz="1400" dirty="0" err="1"/>
              <a:t>프로그램측면에서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데이터가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없는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상태를</a:t>
            </a:r>
            <a:r>
              <a:rPr lang="en-US" altLang="ko-KR" sz="1400" dirty="0"/>
              <a:t> 의</a:t>
            </a:r>
            <a:r>
              <a:rPr lang="ko-KR" altLang="en-US" sz="1400" dirty="0"/>
              <a:t>미</a:t>
            </a:r>
          </a:p>
          <a:p>
            <a:pPr>
              <a:defRPr/>
            </a:pPr>
            <a:r>
              <a:rPr lang="en-US" altLang="ko-KR" sz="1400" dirty="0"/>
              <a:t>-&gt; </a:t>
            </a:r>
            <a:r>
              <a:rPr lang="en-US" altLang="ko-KR" sz="1400" dirty="0" err="1"/>
              <a:t>추천시스템</a:t>
            </a:r>
            <a:r>
              <a:rPr lang="ko-KR" altLang="en-US" sz="1400" dirty="0"/>
              <a:t>에서</a:t>
            </a:r>
            <a:r>
              <a:rPr lang="en-US" altLang="ko-KR" sz="1400" dirty="0" err="1"/>
              <a:t>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특정한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유저들의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데이터를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충분히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확보하지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못하여</a:t>
            </a:r>
            <a:r>
              <a:rPr lang="en-US" altLang="ko-KR" sz="1400" dirty="0"/>
              <a:t> </a:t>
            </a:r>
            <a:r>
              <a:rPr lang="ko-KR" altLang="en-US" sz="1400" dirty="0"/>
              <a:t>각 </a:t>
            </a:r>
            <a:r>
              <a:rPr lang="en-US" altLang="ko-KR" sz="1400" dirty="0" err="1"/>
              <a:t>유저에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적합한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추천을</a:t>
            </a:r>
            <a:r>
              <a:rPr lang="en-US" altLang="ko-KR" sz="1400" dirty="0"/>
              <a:t> </a:t>
            </a:r>
            <a:r>
              <a:rPr lang="en-US" altLang="ko-KR" sz="1400" dirty="0" err="1"/>
              <a:t>하지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못하는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문제</a:t>
            </a:r>
            <a:r>
              <a:rPr lang="ko-KR" altLang="en-US" sz="1400" dirty="0"/>
              <a:t> 발생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11A882F-35C6-D42B-9EAF-0E5D5F9EECBD}"/>
              </a:ext>
            </a:extLst>
          </p:cNvPr>
          <p:cNvSpPr txBox="1"/>
          <p:nvPr/>
        </p:nvSpPr>
        <p:spPr>
          <a:xfrm>
            <a:off x="823370" y="5648242"/>
            <a:ext cx="90988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/>
              <a:t>고객 </a:t>
            </a:r>
            <a:r>
              <a:rPr lang="en-US" altLang="ko-KR" b="1" dirty="0"/>
              <a:t>id</a:t>
            </a:r>
            <a:r>
              <a:rPr lang="ko-KR" altLang="en-US" b="1" dirty="0"/>
              <a:t>를 넣으면 구매한 상품과 유사한 상품들이 출력되는 미니모델을 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BF5FD2-8FCB-1A04-7581-FC7EAC2251D2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02.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</a:t>
            </a:r>
            <a:r>
              <a:rPr lang="ko-KR" altLang="en-US" sz="20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콘텐츠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기반 추천시스템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365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추천 방식 </a:t>
            </a:r>
            <a:r>
              <a:rPr lang="en-US" altLang="ko-KR" b="1"/>
              <a:t>-</a:t>
            </a:r>
            <a:r>
              <a:rPr lang="ko-KR" altLang="en-US" b="1"/>
              <a:t> 콘텐츠 기반 알고리즘</a:t>
            </a: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1011518" y="1496408"/>
            <a:ext cx="6170603" cy="184792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41914" y="3361266"/>
            <a:ext cx="9182102" cy="3279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b="1"/>
              <a:t>TF-IDF </a:t>
            </a:r>
            <a:r>
              <a:rPr lang="ko-KR" altLang="en-US" sz="1100"/>
              <a:t>란 </a:t>
            </a:r>
            <a:r>
              <a:rPr lang="en-US" altLang="ko-KR" sz="1100"/>
              <a:t>?</a:t>
            </a:r>
          </a:p>
          <a:p>
            <a:pPr>
              <a:defRPr/>
            </a:pPr>
            <a:r>
              <a:rPr lang="en-US" altLang="ko-KR" sz="1100"/>
              <a:t>Term Frequency - Inverse Document Frequency</a:t>
            </a:r>
          </a:p>
          <a:p>
            <a:pPr>
              <a:defRPr/>
            </a:pPr>
            <a:r>
              <a:rPr lang="en-US" altLang="ko-KR" sz="1100"/>
              <a:t>: 텍스트에서 자주 등장하지만 전체 문서에 흔하지 않은 단어를 강조하는 방식의 벡터화 기법</a:t>
            </a:r>
          </a:p>
          <a:p>
            <a:pPr>
              <a:defRPr/>
            </a:pPr>
            <a:endParaRPr lang="en-US" altLang="ko-KR" sz="1100"/>
          </a:p>
          <a:p>
            <a:pPr>
              <a:defRPr/>
            </a:pPr>
            <a:r>
              <a:rPr lang="en-US" altLang="ko-KR" sz="1100"/>
              <a:t>‘자주 등장하지만, 다른 상품들에서는 잘 안 나오는 단어’에 더 높은 가중치를 줌</a:t>
            </a:r>
          </a:p>
          <a:p>
            <a:pPr>
              <a:defRPr/>
            </a:pPr>
            <a:endParaRPr lang="en-US" altLang="ko-KR" sz="1100"/>
          </a:p>
          <a:p>
            <a:pPr>
              <a:defRPr/>
            </a:pPr>
            <a:r>
              <a:rPr lang="en-US" altLang="ko-KR" sz="1100"/>
              <a:t>예: “lace blouse with ruffled neckline” → “lace”, “ruffled”처럼 고유 특징을 살려줌</a:t>
            </a:r>
          </a:p>
          <a:p>
            <a:pPr>
              <a:defRPr/>
            </a:pPr>
            <a:endParaRPr lang="en-US" altLang="ko-KR" sz="1100"/>
          </a:p>
          <a:p>
            <a:pPr>
              <a:defRPr/>
            </a:pPr>
            <a:r>
              <a:rPr lang="en-US" altLang="ko-KR" sz="1100" b="1"/>
              <a:t>One-Hot Encoding</a:t>
            </a:r>
          </a:p>
          <a:p>
            <a:pPr>
              <a:defRPr/>
            </a:pPr>
            <a:r>
              <a:rPr lang="en-US" altLang="ko-KR" sz="1100"/>
              <a:t>product_group_name, colour_group_name, graphical_appearance_name은 범주형 데이터</a:t>
            </a:r>
          </a:p>
          <a:p>
            <a:pPr>
              <a:defRPr/>
            </a:pPr>
            <a:endParaRPr lang="en-US" altLang="ko-KR" sz="1100"/>
          </a:p>
          <a:p>
            <a:pPr>
              <a:defRPr/>
            </a:pPr>
            <a:r>
              <a:rPr lang="en-US" altLang="ko-KR" sz="1100"/>
              <a:t>각 카테고리를 고정된 벡터 공간으로 표현해서 TF-IDF와 함께 사용 가능하게 함</a:t>
            </a:r>
          </a:p>
          <a:p>
            <a:pPr>
              <a:defRPr/>
            </a:pPr>
            <a:endParaRPr lang="en-US" altLang="ko-KR" sz="1100"/>
          </a:p>
          <a:p>
            <a:pPr>
              <a:defRPr/>
            </a:pPr>
            <a:r>
              <a:rPr lang="en-US" altLang="ko-KR" sz="1100" b="1"/>
              <a:t>PCA는 왜 적용했나</a:t>
            </a:r>
            <a:r>
              <a:rPr lang="ko-KR" altLang="en-US" sz="1100" b="1"/>
              <a:t> </a:t>
            </a:r>
            <a:r>
              <a:rPr lang="en-US" altLang="ko-KR" sz="1100"/>
              <a:t>?</a:t>
            </a:r>
          </a:p>
          <a:p>
            <a:pPr>
              <a:defRPr/>
            </a:pPr>
            <a:r>
              <a:rPr lang="en-US" altLang="ko-KR" sz="1100"/>
              <a:t>벡터 차원이 너무 크면 계산 부담 크고 과적합 위험</a:t>
            </a:r>
          </a:p>
          <a:p>
            <a:pPr>
              <a:defRPr/>
            </a:pPr>
            <a:endParaRPr lang="en-US" altLang="ko-KR" sz="1100"/>
          </a:p>
          <a:p>
            <a:pPr>
              <a:defRPr/>
            </a:pPr>
            <a:r>
              <a:rPr lang="en-US" altLang="ko-KR" sz="1100"/>
              <a:t>TF-IDF(300) + One-Hot(수십 차원) → 합치면 수백 차원</a:t>
            </a:r>
          </a:p>
          <a:p>
            <a:pPr>
              <a:defRPr/>
            </a:pPr>
            <a:r>
              <a:rPr lang="en-US" altLang="ko-KR" sz="1100"/>
              <a:t>→ PCA로 50차원으로 축소해서 효율성과 유사도 계산 정확도 확</a:t>
            </a:r>
            <a:r>
              <a:rPr lang="ko-KR" altLang="en-US" sz="1100"/>
              <a:t>보</a:t>
            </a:r>
          </a:p>
          <a:p>
            <a:pPr>
              <a:defRPr/>
            </a:pPr>
            <a:endParaRPr lang="en-US" altLang="ko-KR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54282A-282A-3D42-01C7-92FDFC2F6E5E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02.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</a:t>
            </a:r>
            <a:r>
              <a:rPr lang="ko-KR" altLang="en-US" sz="20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콘텐츠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기반 추천시스템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365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추천 방식 </a:t>
            </a:r>
            <a:r>
              <a:rPr lang="en-US" altLang="ko-KR" b="1"/>
              <a:t>-</a:t>
            </a:r>
            <a:r>
              <a:rPr lang="ko-KR" altLang="en-US" b="1"/>
              <a:t> 콘텐츠 기반 알고리즘</a:t>
            </a: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797802" y="1564105"/>
            <a:ext cx="4411495" cy="269458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306483" y="1653116"/>
            <a:ext cx="6472768" cy="1155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/>
              <a:t>고객이 최근에 구매한 상품들의 콘텐츠 벡터를 평균내어 취향 벡터를 생성</a:t>
            </a:r>
          </a:p>
          <a:p>
            <a:pPr>
              <a:defRPr/>
            </a:pPr>
            <a:endParaRPr lang="ko-KR" altLang="en-US" sz="1400"/>
          </a:p>
          <a:p>
            <a:pPr>
              <a:defRPr/>
            </a:pPr>
            <a:r>
              <a:rPr lang="ko-KR" altLang="en-US" sz="1400"/>
              <a:t>전체 상품 벡터들과의 코사인 유사도를 계산해 유사한 상품 순으로 정렬</a:t>
            </a:r>
          </a:p>
          <a:p>
            <a:pPr>
              <a:defRPr/>
            </a:pPr>
            <a:endParaRPr lang="ko-KR" altLang="en-US" sz="1400"/>
          </a:p>
          <a:p>
            <a:pPr>
              <a:defRPr/>
            </a:pPr>
            <a:r>
              <a:rPr lang="ko-KR" altLang="en-US" sz="1400"/>
              <a:t>이미 구매한 상품을 제외한 Top-N 상품 추천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216" y="4442881"/>
            <a:ext cx="6024034" cy="191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500" b="1"/>
              <a:t>코사인 유사도 </a:t>
            </a:r>
            <a:r>
              <a:rPr lang="en-US" altLang="ko-KR" sz="1500" b="1"/>
              <a:t>?</a:t>
            </a:r>
            <a:endParaRPr lang="en-US" altLang="ko-KR" sz="1500"/>
          </a:p>
          <a:p>
            <a:pPr>
              <a:defRPr/>
            </a:pPr>
            <a:endParaRPr lang="ko-KR" altLang="en-US" sz="1500"/>
          </a:p>
          <a:p>
            <a:pPr>
              <a:defRPr/>
            </a:pPr>
            <a:r>
              <a:rPr lang="ko-KR" altLang="en-US" sz="1500"/>
              <a:t>코사인 유사도는 벡터의 방향이 얼마나 비슷한지를 측정함</a:t>
            </a:r>
          </a:p>
          <a:p>
            <a:pPr>
              <a:defRPr/>
            </a:pPr>
            <a:endParaRPr lang="ko-KR" altLang="en-US" sz="1500"/>
          </a:p>
          <a:p>
            <a:pPr>
              <a:defRPr/>
            </a:pPr>
            <a:r>
              <a:rPr lang="ko-KR" altLang="en-US" sz="1500"/>
              <a:t>콘텐츠 기반 추천에서는 상품의 속성 분포가 유사한지를 비교하는 것이 핵심이므로,</a:t>
            </a:r>
          </a:p>
          <a:p>
            <a:pPr>
              <a:defRPr/>
            </a:pPr>
            <a:endParaRPr lang="ko-KR" altLang="en-US" sz="1500"/>
          </a:p>
          <a:p>
            <a:pPr>
              <a:defRPr/>
            </a:pPr>
            <a:r>
              <a:rPr lang="ko-KR" altLang="en-US" sz="1500"/>
              <a:t>TF-IDF 기반 벡터에는 코사인 유사도가 가장 적합한 유사도 지표</a:t>
            </a: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960818" y="4595234"/>
            <a:ext cx="3891437" cy="1282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CFECCE5-3E34-25BB-4AE7-B5BA8B96964A}"/>
              </a:ext>
            </a:extLst>
          </p:cNvPr>
          <p:cNvSpPr txBox="1"/>
          <p:nvPr/>
        </p:nvSpPr>
        <p:spPr>
          <a:xfrm>
            <a:off x="175622" y="6330292"/>
            <a:ext cx="4272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02.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</a:t>
            </a:r>
            <a:r>
              <a:rPr lang="ko-KR" altLang="en-US" sz="2000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콘텐츠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 기반 추천시스템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365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/>
              <a:t>추천 방식 </a:t>
            </a:r>
            <a:r>
              <a:rPr lang="en-US" altLang="ko-KR" b="1"/>
              <a:t>-</a:t>
            </a:r>
            <a:r>
              <a:rPr lang="ko-KR" altLang="en-US" b="1"/>
              <a:t> 콘텐츠 기반 알고리즘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0316" y="1737783"/>
            <a:ext cx="2290233" cy="365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코드 결과 예시</a:t>
            </a: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787115" y="2218238"/>
            <a:ext cx="9915036" cy="980106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3" cstate="print"/>
          <a:stretch>
            <a:fillRect/>
          </a:stretch>
        </p:blipFill>
        <p:spPr>
          <a:xfrm>
            <a:off x="800099" y="4137091"/>
            <a:ext cx="8068733" cy="180837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89516" y="3661198"/>
            <a:ext cx="2290233" cy="365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추천된 상품 시각화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FDF7323-92C3-B7D4-DC27-3A2E048FE110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03.</a:t>
            </a:r>
            <a:r>
              <a:rPr kumimoji="0" lang="ko-KR" altLang="en-US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베이스라인</a:t>
            </a:r>
            <a:endParaRPr kumimoji="0" lang="ko-KR" altLang="en-US" sz="2000" b="0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b="1" dirty="0"/>
              <a:t>-</a:t>
            </a:r>
            <a:r>
              <a:rPr lang="ko-KR" altLang="en-US" sz="2200" b="1" dirty="0"/>
              <a:t> 잠재요인 </a:t>
            </a:r>
            <a:r>
              <a:rPr lang="ko-KR" altLang="en-US" sz="2200" b="1" dirty="0" err="1"/>
              <a:t>협업필터링</a:t>
            </a:r>
            <a:r>
              <a:rPr lang="en-US" altLang="ko-KR" sz="2200" b="1" dirty="0"/>
              <a:t>(ALS)</a:t>
            </a:r>
            <a:endParaRPr lang="ko-KR" altLang="en-US" sz="22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861479" y="1582560"/>
            <a:ext cx="99794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/>
              <a:t>: </a:t>
            </a:r>
            <a:r>
              <a:rPr lang="ko-KR" altLang="en-US" sz="2000" dirty="0"/>
              <a:t>잠재요인 </a:t>
            </a:r>
            <a:r>
              <a:rPr lang="ko-KR" altLang="en-US" sz="2000" dirty="0" err="1"/>
              <a:t>협업필터링은</a:t>
            </a:r>
            <a:r>
              <a:rPr lang="ko-KR" altLang="en-US" sz="2000" dirty="0"/>
              <a:t> 사용자</a:t>
            </a:r>
            <a:r>
              <a:rPr lang="en-US" altLang="ko-KR" sz="2000" dirty="0"/>
              <a:t>(user)</a:t>
            </a:r>
            <a:r>
              <a:rPr lang="ko-KR" altLang="en-US" sz="2000" dirty="0"/>
              <a:t>와 아이템</a:t>
            </a:r>
            <a:r>
              <a:rPr lang="en-US" altLang="ko-KR" sz="2000" dirty="0"/>
              <a:t>(item) </a:t>
            </a:r>
            <a:r>
              <a:rPr lang="ko-KR" altLang="en-US" sz="2000" dirty="0"/>
              <a:t>간의 숨겨진 특징</a:t>
            </a:r>
            <a:r>
              <a:rPr lang="en-US" altLang="ko-KR" sz="2000" dirty="0"/>
              <a:t>(</a:t>
            </a:r>
            <a:r>
              <a:rPr lang="ko-KR" altLang="en-US" sz="2000" dirty="0"/>
              <a:t>잠재요인</a:t>
            </a:r>
            <a:r>
              <a:rPr lang="en-US" altLang="ko-KR" sz="2000" dirty="0"/>
              <a:t>)</a:t>
            </a:r>
            <a:r>
              <a:rPr lang="ko-KR" altLang="en-US" sz="2000" dirty="0"/>
              <a:t>을 추출해서 사용자가 좋아할 만한 콘텐츠를 예측하는 방법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사용자와 아이템의 잠재요인 행렬을 </a:t>
            </a:r>
            <a:r>
              <a:rPr lang="ko-KR" altLang="en-US" sz="2000" b="1" dirty="0"/>
              <a:t>번갈아가며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교대로</a:t>
            </a:r>
            <a:r>
              <a:rPr lang="en-US" altLang="ko-KR" sz="2000" b="1" dirty="0"/>
              <a:t>)</a:t>
            </a:r>
            <a:r>
              <a:rPr lang="ko-KR" altLang="en-US" sz="2000" dirty="0"/>
              <a:t> 최적화하는 방식의 행렬 분해 알고리즘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tretch>
            <a:fillRect/>
          </a:stretch>
        </p:blipFill>
        <p:spPr>
          <a:xfrm>
            <a:off x="829448" y="2866291"/>
            <a:ext cx="6090454" cy="318842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37160" y="3666767"/>
            <a:ext cx="51420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  <a:p>
            <a:pPr>
              <a:defRPr/>
            </a:pPr>
            <a:r>
              <a:rPr lang="ko-KR" altLang="en-US" dirty="0"/>
              <a:t>최근 한 달간의 거래 데이터만 추려서</a:t>
            </a:r>
          </a:p>
          <a:p>
            <a:pPr>
              <a:defRPr/>
            </a:pPr>
            <a:r>
              <a:rPr lang="ko-KR" altLang="en-US" dirty="0"/>
              <a:t>모델에 사용할 의미 있는 학습데이터를 만듦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40448CF-A4FB-77D6-62AC-BD2FFBF645EF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5">
            <a:extLst>
              <a:ext uri="{FF2B5EF4-FFF2-40B4-BE49-F238E27FC236}">
                <a16:creationId xmlns:a16="http://schemas.microsoft.com/office/drawing/2014/main" xmlns="" id="{9101ACF4-9834-155E-5B7A-D1DC0CD2361C}"/>
              </a:ext>
            </a:extLst>
          </p:cNvPr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03.</a:t>
            </a:r>
            <a:r>
              <a:rPr kumimoji="0" lang="ko-KR" altLang="en-US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베이스라인</a:t>
            </a:r>
            <a:r>
              <a:rPr kumimoji="0" lang="en-US" altLang="ko-KR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-</a:t>
            </a: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ALS</a:t>
            </a:r>
            <a:endParaRPr kumimoji="0" lang="ko-KR" altLang="en-US" sz="2000" b="0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2" cstate="print"/>
          <a:srcRect l="5270" t="550" r="4520" b="-550"/>
          <a:stretch>
            <a:fillRect/>
          </a:stretch>
        </p:blipFill>
        <p:spPr>
          <a:xfrm>
            <a:off x="753913" y="1749670"/>
            <a:ext cx="5046316" cy="40863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835648" y="2782005"/>
            <a:ext cx="61552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문자열로 되어있는 고객과 상품의 </a:t>
            </a:r>
            <a:r>
              <a:rPr lang="ko-KR" altLang="en-US" dirty="0" err="1"/>
              <a:t>ID를</a:t>
            </a:r>
            <a:endParaRPr lang="ko-KR" altLang="en-US" dirty="0"/>
          </a:p>
          <a:p>
            <a:pPr>
              <a:defRPr/>
            </a:pPr>
            <a:r>
              <a:rPr lang="ko-KR" altLang="en-US" dirty="0"/>
              <a:t>0부터 시작하는 정수 인덱스로 변환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예측 결과를 실제 </a:t>
            </a:r>
            <a:r>
              <a:rPr lang="ko-KR" altLang="en-US" dirty="0" err="1"/>
              <a:t>ID로</a:t>
            </a:r>
            <a:r>
              <a:rPr lang="ko-KR" altLang="en-US" dirty="0"/>
              <a:t> 다시 매핑하기 위해 </a:t>
            </a:r>
            <a:endParaRPr lang="en-US" altLang="ko-KR" dirty="0"/>
          </a:p>
          <a:p>
            <a:pPr>
              <a:defRPr/>
            </a:pPr>
            <a:r>
              <a:rPr lang="ko-KR" altLang="en-US" dirty="0" err="1"/>
              <a:t>역매핑</a:t>
            </a:r>
            <a:r>
              <a:rPr lang="ko-KR" altLang="en-US" dirty="0"/>
              <a:t> 정보 추가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8C0E2F-0A12-B581-190F-81B7126E6540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03.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베이스라인</a:t>
            </a: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-ALS</a:t>
            </a:r>
            <a:endParaRPr lang="ko-KR" altLang="en-US" sz="2000" kern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</a:endParaRPr>
          </a:p>
          <a:p>
            <a:pPr marL="542925" lvl="0" latinLnBrk="0">
              <a:defRPr/>
            </a:pPr>
            <a:endParaRPr lang="ko-KR" altLang="en-US" sz="2000" kern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rcRect l="4310" t="4550" r="5580" b="3410"/>
          <a:stretch>
            <a:fillRect/>
          </a:stretch>
        </p:blipFill>
        <p:spPr>
          <a:xfrm>
            <a:off x="731527" y="1371601"/>
            <a:ext cx="6848387" cy="49027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9A3D60E-FB5C-9633-D2AC-64B470294C7C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3039D73-E3EB-D402-855B-FC7F258B62CB}"/>
              </a:ext>
            </a:extLst>
          </p:cNvPr>
          <p:cNvSpPr txBox="1"/>
          <p:nvPr/>
        </p:nvSpPr>
        <p:spPr>
          <a:xfrm>
            <a:off x="7211365" y="1726396"/>
            <a:ext cx="46993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사용자-상품 상호작용 데이터를 </a:t>
            </a:r>
            <a:r>
              <a:rPr lang="ko-KR" altLang="en-US" dirty="0" err="1"/>
              <a:t>COO형식의</a:t>
            </a:r>
            <a:r>
              <a:rPr lang="ko-KR" altLang="en-US" dirty="0"/>
              <a:t> 희소행렬로 변환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23D496D-B7D1-E799-C11F-EAA0F6AE7894}"/>
              </a:ext>
            </a:extLst>
          </p:cNvPr>
          <p:cNvSpPr txBox="1"/>
          <p:nvPr/>
        </p:nvSpPr>
        <p:spPr>
          <a:xfrm>
            <a:off x="7211365" y="3603760"/>
            <a:ext cx="4249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최근 일주일치 데이터를 검증용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그 이전 데이터를 훈련용 데이터로 설정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9095AB7-7C50-5E03-4549-1DD006F37D5B}"/>
              </a:ext>
            </a:extLst>
          </p:cNvPr>
          <p:cNvSpPr txBox="1"/>
          <p:nvPr/>
        </p:nvSpPr>
        <p:spPr>
          <a:xfrm>
            <a:off x="7153008" y="5163233"/>
            <a:ext cx="46993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학습/검증용 사용자</a:t>
            </a:r>
            <a:r>
              <a:rPr lang="en-US" altLang="ko-KR" dirty="0"/>
              <a:t>-</a:t>
            </a:r>
            <a:r>
              <a:rPr lang="ko-KR" altLang="en-US" dirty="0"/>
              <a:t>아이템 </a:t>
            </a:r>
            <a:r>
              <a:rPr lang="ko-KR" altLang="en-US" dirty="0" err="1"/>
              <a:t>COO행렬을</a:t>
            </a:r>
            <a:r>
              <a:rPr lang="ko-KR" altLang="en-US" dirty="0"/>
              <a:t> 각각 생성한 뒤</a:t>
            </a:r>
            <a:r>
              <a:rPr lang="en-US" altLang="ko-KR" dirty="0"/>
              <a:t>,</a:t>
            </a:r>
            <a:r>
              <a:rPr lang="ko-KR" altLang="en-US" dirty="0"/>
              <a:t> 이를 CSR 희소 행렬로 변환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03.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베이스라인</a:t>
            </a: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-ALS</a:t>
            </a:r>
            <a:endParaRPr lang="ko-KR" altLang="en-US" sz="2000" kern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</a:endParaRPr>
          </a:p>
          <a:p>
            <a:pPr marL="542925" lvl="0" latinLnBrk="0">
              <a:defRPr/>
            </a:pPr>
            <a:endParaRPr lang="ko-KR" altLang="en-US" sz="2000" kern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 err="1"/>
              <a:t>하이퍼파라미터</a:t>
            </a:r>
            <a:r>
              <a:rPr lang="ko-KR" altLang="en-US" b="1" dirty="0"/>
              <a:t> 튜닝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ko-KR" altLang="en-US" dirty="0"/>
              <a:t>추천 정확도 최적화를 위한 단계</a:t>
            </a:r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2" cstate="print"/>
          <a:srcRect l="1110" t="2340" r="4440" b="-1170"/>
          <a:stretch>
            <a:fillRect/>
          </a:stretch>
        </p:blipFill>
        <p:spPr>
          <a:xfrm>
            <a:off x="714363" y="1842742"/>
            <a:ext cx="10763273" cy="3566651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 cstate="print"/>
          <a:srcRect r="9260" b="14240"/>
          <a:stretch>
            <a:fillRect/>
          </a:stretch>
        </p:blipFill>
        <p:spPr>
          <a:xfrm>
            <a:off x="670463" y="5489187"/>
            <a:ext cx="5425536" cy="8973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719232" y="1216066"/>
            <a:ext cx="6472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다양한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조합으로 </a:t>
            </a:r>
            <a:r>
              <a:rPr lang="ko-KR" altLang="en-US" dirty="0" err="1"/>
              <a:t>ALS모델을</a:t>
            </a:r>
            <a:r>
              <a:rPr lang="ko-KR" altLang="en-US" dirty="0"/>
              <a:t> 학습하고,</a:t>
            </a:r>
          </a:p>
          <a:p>
            <a:pPr>
              <a:defRPr/>
            </a:pPr>
            <a:r>
              <a:rPr lang="ko-KR" altLang="en-US" dirty="0"/>
              <a:t>검증 데이터에 대한 MAP12를 계산하여</a:t>
            </a:r>
          </a:p>
          <a:p>
            <a:pPr>
              <a:defRPr/>
            </a:pPr>
            <a:r>
              <a:rPr lang="ko-KR" altLang="en-US" dirty="0"/>
              <a:t>가장 성능이 좋은 파라미터 조합을 선택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C8B0708-294B-8BB2-5EE4-2B2928DF7571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03.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베이스라인</a:t>
            </a: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-ALS</a:t>
            </a:r>
            <a:endParaRPr lang="ko-KR" altLang="en-US" sz="2000" kern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128182"/>
            <a:ext cx="6460066" cy="365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/>
              <a:t>전체 데이터(최근 1달치 데이터)로 모델링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rcRect l="6470" t="17630" b="5880"/>
          <a:stretch>
            <a:fillRect/>
          </a:stretch>
        </p:blipFill>
        <p:spPr>
          <a:xfrm>
            <a:off x="817240" y="2249579"/>
            <a:ext cx="9037154" cy="348542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793533" y="1797163"/>
            <a:ext cx="60240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최근 한 달 데이터를 최적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(</a:t>
            </a:r>
            <a:r>
              <a:rPr lang="ko-KR" altLang="en-US" dirty="0" err="1"/>
              <a:t>best_params</a:t>
            </a:r>
            <a:r>
              <a:rPr lang="ko-KR" altLang="en-US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사용해 최종 ALS 추천 모델을 학습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3D287C-69A7-504D-4665-E17DC42C989F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03.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베이스라인</a:t>
            </a: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-ALS</a:t>
            </a:r>
            <a:endParaRPr lang="ko-KR" altLang="en-US" sz="2000" kern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</a:endParaRP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0068021-EE0F-37F3-3982-73B21D490C1A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01DFCE3-1C87-2545-9FCA-27135EDA2FCC}"/>
              </a:ext>
            </a:extLst>
          </p:cNvPr>
          <p:cNvSpPr txBox="1"/>
          <p:nvPr/>
        </p:nvSpPr>
        <p:spPr>
          <a:xfrm>
            <a:off x="764657" y="1170510"/>
            <a:ext cx="6024033" cy="444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b="1" dirty="0"/>
              <a:t>submission</a:t>
            </a: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515" y="1712967"/>
            <a:ext cx="8352693" cy="473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EFB20BD-3526-91AC-AE43-50535A51C9E7}"/>
              </a:ext>
            </a:extLst>
          </p:cNvPr>
          <p:cNvSpPr txBox="1"/>
          <p:nvPr/>
        </p:nvSpPr>
        <p:spPr>
          <a:xfrm>
            <a:off x="6785963" y="2182605"/>
            <a:ext cx="6472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학습된 ALS 모델을 기반으로 모든 사용자에</a:t>
            </a:r>
          </a:p>
          <a:p>
            <a:pPr>
              <a:defRPr/>
            </a:pPr>
            <a:r>
              <a:rPr lang="ko-KR" altLang="en-US" dirty="0"/>
              <a:t>대해</a:t>
            </a:r>
            <a:r>
              <a:rPr lang="en-US" altLang="ko-KR" dirty="0"/>
              <a:t> </a:t>
            </a:r>
            <a:r>
              <a:rPr lang="ko-KR" altLang="en-US" dirty="0"/>
              <a:t>Top-12 추천 상품을 생성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1FC8B9E3-536C-9074-AF64-D782596636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27683" r="26616"/>
          <a:stretch/>
        </p:blipFill>
        <p:spPr>
          <a:xfrm>
            <a:off x="8008491" y="4828676"/>
            <a:ext cx="3645436" cy="1580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F49B645-CDD8-C32F-309E-F237E361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xmlns="" id="{56B7F528-5050-34CE-BAB4-E85D113592B6}"/>
              </a:ext>
            </a:extLst>
          </p:cNvPr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04.</a:t>
            </a:r>
            <a:r>
              <a:rPr kumimoji="0" lang="ko-KR" altLang="en-US" sz="2000" b="0" i="0" u="none" strike="noStrike" kern="0" cap="none" spc="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성능개선</a:t>
            </a:r>
            <a:endParaRPr kumimoji="0" lang="ko-KR" altLang="en-US" sz="2000" b="0" i="0" u="none" strike="noStrike" kern="0" cap="none" spc="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Tmon몬소리 Black"/>
              <a:ea typeface="Tmon몬소리 Black"/>
              <a:cs typeface="+mn-cs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xmlns="" id="{93ACC063-D905-9EC7-6B47-394231C7AE6C}"/>
              </a:ext>
            </a:extLst>
          </p:cNvPr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xmlns="" id="{E57DEC3B-7400-3EFD-487C-2FC4833117AB}"/>
              </a:ext>
            </a:extLst>
          </p:cNvPr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FFD2A006-D770-31AA-4FFE-73E4C2884233}"/>
              </a:ext>
            </a:extLst>
          </p:cNvPr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xmlns="" id="{AFAE4FC5-0F0A-CEE9-0C6D-99651847BE82}"/>
                </a:ext>
              </a:extLst>
            </p:cNvPr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xmlns="" id="{AA978993-C882-2368-4E98-32529611A662}"/>
                </a:ext>
              </a:extLst>
            </p:cNvPr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xmlns="" id="{9C717D6A-F4A8-B55F-5572-ECAA82DD5DEC}"/>
                  </a:ext>
                </a:extLst>
              </p:cNvPr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xmlns="" id="{926F1318-53E9-3508-2834-4F3352A88342}"/>
                  </a:ext>
                </a:extLst>
              </p:cNvPr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xmlns="" id="{93554B0D-B66C-6F08-FACA-653F2B1A5235}"/>
                  </a:ext>
                </a:extLst>
              </p:cNvPr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774CC8E-9AF1-E964-455F-9F234224F5F1}"/>
              </a:ext>
            </a:extLst>
          </p:cNvPr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5E006331-24CF-9E4B-F338-093C4A84D24A}"/>
              </a:ext>
            </a:extLst>
          </p:cNvPr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047C5D68-2EDF-583A-9639-EF0BEC878523}"/>
              </a:ext>
            </a:extLst>
          </p:cNvPr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4A8B8E8-38B0-D018-ECCE-9A3316F6D32F}"/>
              </a:ext>
            </a:extLst>
          </p:cNvPr>
          <p:cNvSpPr txBox="1"/>
          <p:nvPr/>
        </p:nvSpPr>
        <p:spPr>
          <a:xfrm>
            <a:off x="175622" y="6330292"/>
            <a:ext cx="4272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29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15FD4CA-C55C-8E9E-9398-848304378B33}"/>
              </a:ext>
            </a:extLst>
          </p:cNvPr>
          <p:cNvSpPr txBox="1"/>
          <p:nvPr/>
        </p:nvSpPr>
        <p:spPr>
          <a:xfrm>
            <a:off x="929014" y="1369717"/>
            <a:ext cx="107536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000" b="1" dirty="0"/>
              <a:t>고객별로 가장 최근의 </a:t>
            </a:r>
            <a:r>
              <a:rPr lang="ko-KR" altLang="en-US" sz="2000" b="1" dirty="0" err="1"/>
              <a:t>구매일을</a:t>
            </a:r>
            <a:r>
              <a:rPr lang="ko-KR" altLang="en-US" sz="2000" b="1" dirty="0"/>
              <a:t> 계산하고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 마지막 구매일로부터 </a:t>
            </a:r>
            <a:r>
              <a:rPr lang="en-US" altLang="ko-KR" sz="2000" b="1" dirty="0"/>
              <a:t>6</a:t>
            </a:r>
            <a:r>
              <a:rPr lang="ko-KR" altLang="en-US" sz="2000" b="1" dirty="0"/>
              <a:t>일 이내의 거래만을 필터링</a:t>
            </a: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7C6CE692-CCD0-5B30-5AB2-C0965BD501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7350" t="15380" r="5980"/>
          <a:stretch>
            <a:fillRect/>
          </a:stretch>
        </p:blipFill>
        <p:spPr>
          <a:xfrm>
            <a:off x="614754" y="1995854"/>
            <a:ext cx="6280475" cy="42496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8C60CBC-1296-14DF-974C-CC2106DC8878}"/>
              </a:ext>
            </a:extLst>
          </p:cNvPr>
          <p:cNvSpPr txBox="1"/>
          <p:nvPr/>
        </p:nvSpPr>
        <p:spPr>
          <a:xfrm>
            <a:off x="5887800" y="4322006"/>
            <a:ext cx="5749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고객의 최신 행동을 반영한 학습/검증 데이터 생성해</a:t>
            </a:r>
          </a:p>
          <a:p>
            <a:pPr>
              <a:defRPr/>
            </a:pPr>
            <a:r>
              <a:rPr lang="ko-KR" altLang="en-US" dirty="0"/>
              <a:t>모델이 최근 구매 트렌드에 더 집중하도록 유도</a:t>
            </a:r>
          </a:p>
        </p:txBody>
      </p:sp>
    </p:spTree>
    <p:extLst>
      <p:ext uri="{BB962C8B-B14F-4D97-AF65-F5344CB8AC3E}">
        <p14:creationId xmlns:p14="http://schemas.microsoft.com/office/powerpoint/2010/main" xmlns="" val="28000850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04.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성능개선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73887" y="1011072"/>
            <a:ext cx="6460066" cy="418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200" b="1"/>
              <a:t>1.</a:t>
            </a:r>
            <a:r>
              <a:rPr lang="ko-KR" altLang="en-US" sz="2200" b="1"/>
              <a:t> 고객이 자주 구매한 상품 추천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rcRect l="6760" t="19910" r="13230" b="2900"/>
          <a:stretch>
            <a:fillRect/>
          </a:stretch>
        </p:blipFill>
        <p:spPr>
          <a:xfrm>
            <a:off x="632467" y="1539929"/>
            <a:ext cx="7467247" cy="510796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547534" y="2969769"/>
            <a:ext cx="5524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고객이 같은 상품을 몇 번 구매했는지 카운트하고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</a:p>
          <a:p>
            <a:pPr>
              <a:defRPr/>
            </a:pPr>
            <a:r>
              <a:rPr lang="ko-KR" altLang="en-US" dirty="0"/>
              <a:t>자주, 최근에 산 상품 순으로 정렬 후 중복 제거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0D9B244-50D4-7E99-2C00-DD94B594E7A7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04.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성능개선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015442"/>
            <a:ext cx="8427525" cy="418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b="1"/>
              <a:t>2. 함께 자주 구매되는 상품 쌍(pairs) - 연관 기반 추천 시스템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rcRect l="5270" t="19230" r="11790" b="2750"/>
          <a:stretch>
            <a:fillRect/>
          </a:stretch>
        </p:blipFill>
        <p:spPr>
          <a:xfrm>
            <a:off x="639735" y="1486360"/>
            <a:ext cx="8155670" cy="519691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096000" y="2863502"/>
            <a:ext cx="56407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dirty="0"/>
              <a:t>상위 판매 아이템 중 1000~1032번째 아이템 기준으로, 이 아이템을 산 고객들이 함께 산 다른 아이템 3개를 추출하여 연관 추천 쌍 생성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7676DCD-5847-B782-5502-7D5227BFC6EF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04.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성능개선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23370" y="1015442"/>
            <a:ext cx="8427525" cy="418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b="1"/>
              <a:t>2. 함께 자주 구매되는 상품 쌍(pairs) - 연관 기반 추천 시스템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7676DCD-5847-B782-5502-7D5227BFC6EF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32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8B76CED-5CCD-9C2A-7DC8-45EA21B55263}"/>
              </a:ext>
            </a:extLst>
          </p:cNvPr>
          <p:cNvSpPr txBox="1"/>
          <p:nvPr/>
        </p:nvSpPr>
        <p:spPr>
          <a:xfrm>
            <a:off x="6199769" y="1899841"/>
            <a:ext cx="5351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"고객이 </a:t>
            </a:r>
            <a:r>
              <a:rPr lang="ko-KR" altLang="en-US" dirty="0" err="1"/>
              <a:t>A</a:t>
            </a:r>
            <a:r>
              <a:rPr lang="ko-KR" altLang="en-US" dirty="0"/>
              <a:t> 상품을 샀다면 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→ </a:t>
            </a:r>
            <a:r>
              <a:rPr lang="ko-KR" altLang="en-US" dirty="0" err="1"/>
              <a:t>A와</a:t>
            </a:r>
            <a:r>
              <a:rPr lang="ko-KR" altLang="en-US" dirty="0"/>
              <a:t> 자주 같이 팔린 </a:t>
            </a:r>
            <a:r>
              <a:rPr lang="ko-KR" altLang="en-US" dirty="0" err="1"/>
              <a:t>B</a:t>
            </a:r>
            <a:r>
              <a:rPr lang="ko-KR" altLang="en-US" dirty="0"/>
              <a:t>, C, </a:t>
            </a:r>
            <a:r>
              <a:rPr lang="ko-KR" altLang="en-US" dirty="0" err="1"/>
              <a:t>D도</a:t>
            </a:r>
            <a:r>
              <a:rPr lang="ko-KR" altLang="en-US" dirty="0"/>
              <a:t> 같이 샀다고 </a:t>
            </a:r>
            <a:r>
              <a:rPr lang="ko-KR" altLang="en-US" dirty="0" err="1"/>
              <a:t>간주”하여</a:t>
            </a:r>
            <a:r>
              <a:rPr lang="ko-KR" altLang="en-US" dirty="0"/>
              <a:t> </a:t>
            </a:r>
            <a:r>
              <a:rPr lang="en-US" altLang="ko-KR" dirty="0"/>
              <a:t>pairs</a:t>
            </a:r>
            <a:r>
              <a:rPr lang="ko-KR" altLang="en-US" dirty="0"/>
              <a:t> </a:t>
            </a:r>
            <a:r>
              <a:rPr lang="ko-KR" altLang="en-US" dirty="0" err="1"/>
              <a:t>딕셔너리</a:t>
            </a:r>
            <a:r>
              <a:rPr lang="ko-KR" altLang="en-US" dirty="0"/>
              <a:t> 생성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  <a:p>
            <a:pPr>
              <a:defRPr/>
            </a:pPr>
            <a:r>
              <a:rPr lang="ko-KR" altLang="en-US" dirty="0"/>
              <a:t>즉, 실제 구매 외에 유사 구매(연관 상품)</a:t>
            </a:r>
            <a:r>
              <a:rPr lang="ko-KR" altLang="en-US" dirty="0" err="1"/>
              <a:t>를</a:t>
            </a:r>
            <a:r>
              <a:rPr lang="ko-KR" altLang="en-US" dirty="0"/>
              <a:t> 추가하여 모델 학습 데이터를 보강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3D29FC59-0513-D561-FD05-86EFA10C320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9235" t="10345" r="39685" b="56245"/>
          <a:stretch/>
        </p:blipFill>
        <p:spPr>
          <a:xfrm>
            <a:off x="823370" y="1595465"/>
            <a:ext cx="5142284" cy="23630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D2419236-3A1B-9A9F-5B27-C1D59FB8ED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4340" t="40335" r="13760" b="4710"/>
          <a:stretch/>
        </p:blipFill>
        <p:spPr>
          <a:xfrm>
            <a:off x="5442279" y="4071228"/>
            <a:ext cx="6155559" cy="2225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04.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성능개선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3A52B65-9659-21BD-ECA7-DB9DCD249B6B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33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EE30FB3-A63C-953C-62F4-0FCE837B09AF}"/>
              </a:ext>
            </a:extLst>
          </p:cNvPr>
          <p:cNvSpPr txBox="1"/>
          <p:nvPr/>
        </p:nvSpPr>
        <p:spPr>
          <a:xfrm>
            <a:off x="972608" y="1462616"/>
            <a:ext cx="92985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/>
              <a:t>1.</a:t>
            </a:r>
            <a:r>
              <a:rPr lang="ko-KR" altLang="en-US" dirty="0"/>
              <a:t> 고객의 이전 구매 상품 추천 &amp; 2. 그 상품과 함께 자주 구매된 상품 추천으로도 충분하지 않은 (</a:t>
            </a:r>
            <a:r>
              <a:rPr lang="ko-KR" altLang="en-US" dirty="0" err="1"/>
              <a:t>cold-start</a:t>
            </a:r>
            <a:r>
              <a:rPr lang="ko-KR" altLang="en-US" dirty="0"/>
              <a:t>) 고객에게는 최근 1주간 가장 많이 팔린 상품 12개로 추천 보충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EC8C45DB-E7A9-05B0-C751-CB7DD6D206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4910" t="40733" r="12280" b="35393"/>
          <a:stretch/>
        </p:blipFill>
        <p:spPr>
          <a:xfrm>
            <a:off x="869858" y="2293377"/>
            <a:ext cx="10908641" cy="1294776"/>
          </a:xfrm>
          <a:prstGeom prst="rect">
            <a:avLst/>
          </a:prstGeom>
        </p:spPr>
      </p:pic>
      <p:sp>
        <p:nvSpPr>
          <p:cNvPr id="15" name="TextBox 46">
            <a:extLst>
              <a:ext uri="{FF2B5EF4-FFF2-40B4-BE49-F238E27FC236}">
                <a16:creationId xmlns:a16="http://schemas.microsoft.com/office/drawing/2014/main" xmlns="" id="{BAE819D0-4D92-0551-EFD4-CFC9E2D19D20}"/>
              </a:ext>
            </a:extLst>
          </p:cNvPr>
          <p:cNvSpPr txBox="1"/>
          <p:nvPr/>
        </p:nvSpPr>
        <p:spPr>
          <a:xfrm>
            <a:off x="823370" y="1015442"/>
            <a:ext cx="842752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200" b="1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최근 일주일 인기 상품 12개 추천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8639583F-6E74-D915-ADB0-E0287412F57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6170" t="11000" r="6170" b="40360"/>
          <a:stretch/>
        </p:blipFill>
        <p:spPr>
          <a:xfrm>
            <a:off x="1105123" y="4051867"/>
            <a:ext cx="6999327" cy="2149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/>
          <p:cNvSpPr/>
          <p:nvPr/>
        </p:nvSpPr>
        <p:spPr>
          <a:xfrm>
            <a:off x="197368" y="135294"/>
            <a:ext cx="11797264" cy="6587412"/>
          </a:xfrm>
          <a:prstGeom prst="roundRect">
            <a:avLst>
              <a:gd name="adj" fmla="val 2786"/>
            </a:avLst>
          </a:prstGeom>
          <a:solidFill>
            <a:srgbClr val="F4F5FA"/>
          </a:solidFill>
          <a:ln>
            <a:noFill/>
          </a:ln>
          <a:effectLst>
            <a:outerShdw blurRad="469900" dist="1206500" dir="5400000" sx="90000" sy="9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anchor="t"/>
          <a:lstStyle/>
          <a:p>
            <a:pPr marL="542925" lvl="0" latinLnBrk="0">
              <a:defRPr/>
            </a:pPr>
            <a:r>
              <a:rPr lang="en-US" altLang="ko-KR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04.</a:t>
            </a:r>
            <a:r>
              <a:rPr lang="ko-KR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mon몬소리 Black"/>
                <a:ea typeface="Tmon몬소리 Black"/>
              </a:rPr>
              <a:t>성능개선</a:t>
            </a:r>
          </a:p>
        </p:txBody>
      </p:sp>
      <p:sp>
        <p:nvSpPr>
          <p:cNvPr id="7" name="사각형: 둥근 위쪽 모서리 6"/>
          <p:cNvSpPr/>
          <p:nvPr/>
        </p:nvSpPr>
        <p:spPr>
          <a:xfrm rot="16200000">
            <a:off x="-2900396" y="3233057"/>
            <a:ext cx="6587413" cy="391888"/>
          </a:xfrm>
          <a:prstGeom prst="round2SameRect">
            <a:avLst>
              <a:gd name="adj1" fmla="val 44706"/>
              <a:gd name="adj2" fmla="val 0"/>
            </a:avLst>
          </a:prstGeom>
          <a:solidFill>
            <a:srgbClr val="FF896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KUGGLE</a:t>
            </a:r>
            <a:endParaRPr kumimoji="0" lang="en-US" altLang="ko-KR" sz="900" b="1" i="0" u="none" strike="noStrike" kern="1200" cap="none" spc="0" normalizeH="0" baseline="0">
              <a:solidFill>
                <a:prstClr val="white"/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사각형: 둥근 모서리 7"/>
          <p:cNvSpPr/>
          <p:nvPr/>
        </p:nvSpPr>
        <p:spPr>
          <a:xfrm>
            <a:off x="869858" y="291581"/>
            <a:ext cx="751826" cy="203525"/>
          </a:xfrm>
          <a:prstGeom prst="roundRect">
            <a:avLst>
              <a:gd name="adj" fmla="val 21347"/>
            </a:avLst>
          </a:prstGeom>
          <a:solidFill>
            <a:srgbClr val="FF8961"/>
          </a:solidFill>
          <a:ln>
            <a:noFill/>
          </a:ln>
          <a:effectLst>
            <a:outerShdw blurRad="50800" dist="38100" dir="5400000" algn="t" rotWithShape="0">
              <a:srgbClr val="FF896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800" b="1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CONTENTS</a:t>
            </a:r>
            <a:endParaRPr kumimoji="0" lang="ko-KR" altLang="en-US" sz="800" b="1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 rot="16200000">
            <a:off x="301625" y="988328"/>
            <a:ext cx="177152" cy="177152"/>
            <a:chOff x="2637191" y="3722003"/>
            <a:chExt cx="609320" cy="609320"/>
          </a:xfrm>
        </p:grpSpPr>
        <p:sp>
          <p:nvSpPr>
            <p:cNvPr id="13" name="타원 12"/>
            <p:cNvSpPr/>
            <p:nvPr/>
          </p:nvSpPr>
          <p:spPr>
            <a:xfrm>
              <a:off x="2637191" y="3722003"/>
              <a:ext cx="609320" cy="609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819764" y="3859767"/>
              <a:ext cx="279036" cy="332836"/>
              <a:chOff x="5199725" y="1785802"/>
              <a:chExt cx="1768077" cy="2108976"/>
            </a:xfrm>
            <a:solidFill>
              <a:srgbClr val="FF8961"/>
            </a:solidFill>
          </p:grpSpPr>
          <p:sp>
            <p:nvSpPr>
              <p:cNvPr id="10" name="자유형: 도형 9"/>
              <p:cNvSpPr/>
              <p:nvPr/>
            </p:nvSpPr>
            <p:spPr>
              <a:xfrm rot="5400000" flipH="1">
                <a:off x="6516322" y="3440993"/>
                <a:ext cx="432896" cy="470061"/>
              </a:xfrm>
              <a:custGeom>
                <a:avLst/>
                <a:gdLst>
                  <a:gd name="connsiteX0" fmla="*/ 432896 w 432896"/>
                  <a:gd name="connsiteY0" fmla="*/ 19392 h 470061"/>
                  <a:gd name="connsiteX1" fmla="*/ 432896 w 432896"/>
                  <a:gd name="connsiteY1" fmla="*/ 0 h 470061"/>
                  <a:gd name="connsiteX2" fmla="*/ 0 w 432896"/>
                  <a:gd name="connsiteY2" fmla="*/ 0 h 470061"/>
                  <a:gd name="connsiteX3" fmla="*/ 0 w 432896"/>
                  <a:gd name="connsiteY3" fmla="*/ 470061 h 470061"/>
                  <a:gd name="connsiteX4" fmla="*/ 24495 w 432896"/>
                  <a:gd name="connsiteY4" fmla="*/ 419212 h 470061"/>
                  <a:gd name="connsiteX5" fmla="*/ 416339 w 432896"/>
                  <a:gd name="connsiteY5" fmla="*/ 27368 h 47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2896" h="470061">
                    <a:moveTo>
                      <a:pt x="432896" y="19392"/>
                    </a:moveTo>
                    <a:lnTo>
                      <a:pt x="432896" y="0"/>
                    </a:lnTo>
                    <a:lnTo>
                      <a:pt x="0" y="0"/>
                    </a:lnTo>
                    <a:lnTo>
                      <a:pt x="0" y="470061"/>
                    </a:lnTo>
                    <a:lnTo>
                      <a:pt x="24495" y="419212"/>
                    </a:lnTo>
                    <a:cubicBezTo>
                      <a:pt x="114384" y="253742"/>
                      <a:pt x="250869" y="117257"/>
                      <a:pt x="416339" y="273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5199725" y="1785802"/>
                <a:ext cx="824275" cy="2106670"/>
              </a:xfrm>
              <a:custGeom>
                <a:avLst/>
                <a:gdLst>
                  <a:gd name="connsiteX0" fmla="*/ 0 w 824275"/>
                  <a:gd name="connsiteY0" fmla="*/ 0 h 2106670"/>
                  <a:gd name="connsiteX1" fmla="*/ 217180 w 824275"/>
                  <a:gd name="connsiteY1" fmla="*/ 0 h 2106670"/>
                  <a:gd name="connsiteX2" fmla="*/ 434360 w 824275"/>
                  <a:gd name="connsiteY2" fmla="*/ 217180 h 2106670"/>
                  <a:gd name="connsiteX3" fmla="*/ 434360 w 824275"/>
                  <a:gd name="connsiteY3" fmla="*/ 343374 h 2106670"/>
                  <a:gd name="connsiteX4" fmla="*/ 824275 w 824275"/>
                  <a:gd name="connsiteY4" fmla="*/ 343374 h 2106670"/>
                  <a:gd name="connsiteX5" fmla="*/ 824275 w 824275"/>
                  <a:gd name="connsiteY5" fmla="*/ 775827 h 2106670"/>
                  <a:gd name="connsiteX6" fmla="*/ 434360 w 824275"/>
                  <a:gd name="connsiteY6" fmla="*/ 775827 h 2106670"/>
                  <a:gd name="connsiteX7" fmla="*/ 434360 w 824275"/>
                  <a:gd name="connsiteY7" fmla="*/ 1226458 h 2106670"/>
                  <a:gd name="connsiteX8" fmla="*/ 794173 w 824275"/>
                  <a:gd name="connsiteY8" fmla="*/ 1667934 h 2106670"/>
                  <a:gd name="connsiteX9" fmla="*/ 824275 w 824275"/>
                  <a:gd name="connsiteY9" fmla="*/ 1670969 h 2106670"/>
                  <a:gd name="connsiteX10" fmla="*/ 824275 w 824275"/>
                  <a:gd name="connsiteY10" fmla="*/ 2106670 h 2106670"/>
                  <a:gd name="connsiteX11" fmla="*/ 800273 w 824275"/>
                  <a:gd name="connsiteY11" fmla="*/ 2105533 h 2106670"/>
                  <a:gd name="connsiteX12" fmla="*/ 6467 w 824275"/>
                  <a:gd name="connsiteY12" fmla="*/ 1316749 h 2106670"/>
                  <a:gd name="connsiteX13" fmla="*/ 2572 w 824275"/>
                  <a:gd name="connsiteY13" fmla="*/ 1239630 h 2106670"/>
                  <a:gd name="connsiteX14" fmla="*/ 0 w 824275"/>
                  <a:gd name="connsiteY14" fmla="*/ 1239630 h 2106670"/>
                  <a:gd name="connsiteX15" fmla="*/ 0 w 824275"/>
                  <a:gd name="connsiteY15" fmla="*/ 0 h 210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4275" h="2106670">
                    <a:moveTo>
                      <a:pt x="0" y="0"/>
                    </a:moveTo>
                    <a:lnTo>
                      <a:pt x="217180" y="0"/>
                    </a:lnTo>
                    <a:cubicBezTo>
                      <a:pt x="337125" y="0"/>
                      <a:pt x="434360" y="97235"/>
                      <a:pt x="434360" y="217180"/>
                    </a:cubicBezTo>
                    <a:lnTo>
                      <a:pt x="434360" y="343374"/>
                    </a:lnTo>
                    <a:lnTo>
                      <a:pt x="824275" y="343374"/>
                    </a:lnTo>
                    <a:lnTo>
                      <a:pt x="824275" y="775827"/>
                    </a:lnTo>
                    <a:lnTo>
                      <a:pt x="434360" y="775827"/>
                    </a:lnTo>
                    <a:lnTo>
                      <a:pt x="434360" y="1226458"/>
                    </a:lnTo>
                    <a:cubicBezTo>
                      <a:pt x="434360" y="1444226"/>
                      <a:pt x="588828" y="1625914"/>
                      <a:pt x="794173" y="1667934"/>
                    </a:cubicBezTo>
                    <a:lnTo>
                      <a:pt x="824275" y="1670969"/>
                    </a:lnTo>
                    <a:lnTo>
                      <a:pt x="824275" y="2106670"/>
                    </a:lnTo>
                    <a:lnTo>
                      <a:pt x="800273" y="2105533"/>
                    </a:lnTo>
                    <a:cubicBezTo>
                      <a:pt x="382044" y="2065725"/>
                      <a:pt x="48863" y="1734219"/>
                      <a:pt x="6467" y="1316749"/>
                    </a:cubicBezTo>
                    <a:lnTo>
                      <a:pt x="2572" y="1239630"/>
                    </a:lnTo>
                    <a:lnTo>
                      <a:pt x="0" y="12396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6096000" y="2129177"/>
                <a:ext cx="871802" cy="1765601"/>
              </a:xfrm>
              <a:custGeom>
                <a:avLst/>
                <a:gdLst>
                  <a:gd name="connsiteX0" fmla="*/ 0 w 871802"/>
                  <a:gd name="connsiteY0" fmla="*/ 0 h 1765601"/>
                  <a:gd name="connsiteX1" fmla="*/ 4988 w 871802"/>
                  <a:gd name="connsiteY1" fmla="*/ 0 h 1765601"/>
                  <a:gd name="connsiteX2" fmla="*/ 4988 w 871802"/>
                  <a:gd name="connsiteY2" fmla="*/ 822 h 1765601"/>
                  <a:gd name="connsiteX3" fmla="*/ 79007 w 871802"/>
                  <a:gd name="connsiteY3" fmla="*/ 4559 h 1765601"/>
                  <a:gd name="connsiteX4" fmla="*/ 871802 w 871802"/>
                  <a:gd name="connsiteY4" fmla="*/ 883085 h 1765601"/>
                  <a:gd name="connsiteX5" fmla="*/ 79007 w 871802"/>
                  <a:gd name="connsiteY5" fmla="*/ 1761611 h 1765601"/>
                  <a:gd name="connsiteX6" fmla="*/ 0 w 871802"/>
                  <a:gd name="connsiteY6" fmla="*/ 1765601 h 1765601"/>
                  <a:gd name="connsiteX7" fmla="*/ 0 w 871802"/>
                  <a:gd name="connsiteY7" fmla="*/ 1332578 h 1765601"/>
                  <a:gd name="connsiteX8" fmla="*/ 79534 w 871802"/>
                  <a:gd name="connsiteY8" fmla="*/ 1324560 h 1765601"/>
                  <a:gd name="connsiteX9" fmla="*/ 439347 w 871802"/>
                  <a:gd name="connsiteY9" fmla="*/ 883084 h 1765601"/>
                  <a:gd name="connsiteX10" fmla="*/ 79534 w 871802"/>
                  <a:gd name="connsiteY10" fmla="*/ 441608 h 1765601"/>
                  <a:gd name="connsiteX11" fmla="*/ 0 w 871802"/>
                  <a:gd name="connsiteY11" fmla="*/ 433591 h 1765601"/>
                  <a:gd name="connsiteX12" fmla="*/ 0 w 871802"/>
                  <a:gd name="connsiteY12" fmla="*/ 0 h 1765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1802" h="1765601">
                    <a:moveTo>
                      <a:pt x="0" y="0"/>
                    </a:moveTo>
                    <a:lnTo>
                      <a:pt x="4988" y="0"/>
                    </a:lnTo>
                    <a:lnTo>
                      <a:pt x="4988" y="822"/>
                    </a:lnTo>
                    <a:lnTo>
                      <a:pt x="79007" y="4559"/>
                    </a:lnTo>
                    <a:cubicBezTo>
                      <a:pt x="524308" y="49782"/>
                      <a:pt x="871802" y="425853"/>
                      <a:pt x="871802" y="883085"/>
                    </a:cubicBezTo>
                    <a:cubicBezTo>
                      <a:pt x="871802" y="1340317"/>
                      <a:pt x="524308" y="1716388"/>
                      <a:pt x="79007" y="1761611"/>
                    </a:cubicBezTo>
                    <a:lnTo>
                      <a:pt x="0" y="1765601"/>
                    </a:lnTo>
                    <a:lnTo>
                      <a:pt x="0" y="1332578"/>
                    </a:lnTo>
                    <a:lnTo>
                      <a:pt x="79534" y="1324560"/>
                    </a:lnTo>
                    <a:cubicBezTo>
                      <a:pt x="284879" y="1282540"/>
                      <a:pt x="439347" y="1100852"/>
                      <a:pt x="439347" y="883084"/>
                    </a:cubicBezTo>
                    <a:cubicBezTo>
                      <a:pt x="439347" y="665317"/>
                      <a:pt x="284879" y="483628"/>
                      <a:pt x="79534" y="441608"/>
                    </a:cubicBezTo>
                    <a:lnTo>
                      <a:pt x="0" y="43359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/>
                  <a:cs typeface="+mn-cs"/>
                </a:endParaRPr>
              </a:p>
            </p:txBody>
          </p:sp>
        </p:grpSp>
      </p:grpSp>
      <p:sp>
        <p:nvSpPr>
          <p:cNvPr id="5" name="직사각형 4"/>
          <p:cNvSpPr/>
          <p:nvPr/>
        </p:nvSpPr>
        <p:spPr>
          <a:xfrm>
            <a:off x="4604787" y="2863502"/>
            <a:ext cx="458703" cy="1002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6000" b="1" i="1" u="none" strike="noStrike" kern="1200" cap="none" spc="0" normalizeH="0" baseline="0"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7200" b="0" i="1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439850" y="2791535"/>
            <a:ext cx="1346845" cy="1002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1" u="none" strike="noStrike" kern="120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783" y="1708150"/>
            <a:ext cx="4470400" cy="36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1061495" y="1128182"/>
            <a:ext cx="6460066" cy="422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b="1"/>
              <a:t>최종 점수</a:t>
            </a: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 cstate="print"/>
          <a:srcRect l="1500" t="63670" r="61390" b="4170"/>
          <a:stretch>
            <a:fillRect/>
          </a:stretch>
        </p:blipFill>
        <p:spPr>
          <a:xfrm>
            <a:off x="3297642" y="3889372"/>
            <a:ext cx="5596715" cy="2325387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 cstate="print"/>
          <a:srcRect t="27500" r="23560"/>
          <a:stretch>
            <a:fillRect/>
          </a:stretch>
        </p:blipFill>
        <p:spPr>
          <a:xfrm>
            <a:off x="3965977" y="1651450"/>
            <a:ext cx="4260044" cy="177754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447240" y="3354858"/>
            <a:ext cx="1297520" cy="545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3000" dirty="0"/>
              <a:t>↓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3EAD9BF-7189-B9FB-70CC-4211DBE3E60B}"/>
              </a:ext>
            </a:extLst>
          </p:cNvPr>
          <p:cNvSpPr txBox="1"/>
          <p:nvPr/>
        </p:nvSpPr>
        <p:spPr>
          <a:xfrm>
            <a:off x="175622" y="6330292"/>
            <a:ext cx="427284" cy="25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1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Tmon몬소리 Black"/>
                <a:ea typeface="Tmon몬소리 Black"/>
                <a:cs typeface="+mn-cs"/>
              </a:rPr>
              <a:t>34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/>
    </mc:Choice>
    <mc:Fallback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1716</Words>
  <Application>Microsoft Office PowerPoint</Application>
  <PresentationFormat>사용자 지정</PresentationFormat>
  <Paragraphs>420</Paragraphs>
  <Slides>34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5" baseType="lpstr">
      <vt:lpstr>1_Office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현석 조</dc:creator>
  <cp:lastModifiedBy>강유진</cp:lastModifiedBy>
  <cp:revision>150</cp:revision>
  <dcterms:created xsi:type="dcterms:W3CDTF">2025-04-04T01:21:13Z</dcterms:created>
  <dcterms:modified xsi:type="dcterms:W3CDTF">2025-05-28T00:05:35Z</dcterms:modified>
  <cp:version>1000.0000.01</cp:version>
</cp:coreProperties>
</file>