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2" r:id="rId4"/>
    <p:sldId id="275" r:id="rId5"/>
    <p:sldId id="276" r:id="rId6"/>
    <p:sldId id="259" r:id="rId7"/>
    <p:sldId id="278" r:id="rId8"/>
    <p:sldId id="277" r:id="rId9"/>
    <p:sldId id="263" r:id="rId10"/>
    <p:sldId id="264" r:id="rId11"/>
    <p:sldId id="273" r:id="rId12"/>
    <p:sldId id="280" r:id="rId13"/>
    <p:sldId id="265" r:id="rId14"/>
    <p:sldId id="267" r:id="rId15"/>
    <p:sldId id="268" r:id="rId16"/>
    <p:sldId id="274" r:id="rId17"/>
    <p:sldId id="269" r:id="rId18"/>
    <p:sldId id="270" r:id="rId19"/>
    <p:sldId id="279" r:id="rId20"/>
    <p:sldId id="271" r:id="rId21"/>
  </p:sldIdLst>
  <p:sldSz cx="18288000" cy="10287000"/>
  <p:notesSz cx="6858000" cy="9144000"/>
  <p:embeddedFontLst>
    <p:embeddedFont>
      <p:font typeface="맑은 고딕" pitchFamily="50" charset="-127"/>
      <p:regular r:id="rId23"/>
      <p:bold r:id="rId24"/>
    </p:embeddedFont>
    <p:embeddedFont>
      <p:font typeface="Calibri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94743" autoAdjust="0"/>
  </p:normalViewPr>
  <p:slideViewPr>
    <p:cSldViewPr>
      <p:cViewPr varScale="1">
        <p:scale>
          <a:sx n="71" d="100"/>
          <a:sy n="71" d="100"/>
        </p:scale>
        <p:origin x="10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4AAF3-BE3B-4061-9969-3D21CA7FA474}" type="datetimeFigureOut">
              <a:rPr lang="ko-KR" altLang="en-US" smtClean="0"/>
              <a:pPr/>
              <a:t>2025-06-16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B5F62-B992-4D6A-A7E7-FE14E73739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 latinLnBrk="1">
              <a:buFont typeface="Arial" pitchFamily="34" charset="0"/>
              <a:buChar char="•"/>
            </a:pPr>
            <a:r>
              <a:rPr lang="en-US" altLang="ko-KR" dirty="0" smtClean="0"/>
              <a:t>L1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L4</a:t>
            </a:r>
            <a:r>
              <a:rPr lang="ko-KR" altLang="en-US" dirty="0" smtClean="0"/>
              <a:t>까지는 모두 </a:t>
            </a:r>
            <a:r>
              <a:rPr lang="en-US" altLang="ko-KR" dirty="0" smtClean="0"/>
              <a:t>Paired-End (PE), L5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L7</a:t>
            </a:r>
            <a:r>
              <a:rPr lang="ko-KR" altLang="en-US" dirty="0" smtClean="0"/>
              <a:t>까지는 대체로 </a:t>
            </a:r>
            <a:r>
              <a:rPr lang="en-US" altLang="ko-KR" dirty="0" smtClean="0"/>
              <a:t>Mate-Pair (MP)</a:t>
            </a:r>
            <a:r>
              <a:rPr lang="ko-KR" altLang="en-US" dirty="0" smtClean="0"/>
              <a:t>로 구성</a:t>
            </a:r>
            <a:endParaRPr lang="en-US" altLang="ko-KR" dirty="0" smtClean="0"/>
          </a:p>
          <a:p>
            <a:pPr fontAlgn="base" latinLnBrk="1">
              <a:buFont typeface="Arial" pitchFamily="34" charset="0"/>
              <a:buChar char="•"/>
            </a:pPr>
            <a:r>
              <a:rPr lang="ko-KR" altLang="en-US" dirty="0" smtClean="0"/>
              <a:t> </a:t>
            </a:r>
            <a:r>
              <a:rPr lang="en-US" altLang="ko-KR" dirty="0" smtClean="0"/>
              <a:t>L1~L4</a:t>
            </a:r>
            <a:r>
              <a:rPr lang="ko-KR" altLang="en-US" dirty="0" smtClean="0"/>
              <a:t>는 모두 약 </a:t>
            </a:r>
            <a:r>
              <a:rPr lang="en-US" altLang="ko-KR" dirty="0" smtClean="0"/>
              <a:t>1,420</a:t>
            </a:r>
            <a:r>
              <a:rPr lang="ko-KR" altLang="en-US" dirty="0" smtClean="0"/>
              <a:t>만 개 이상의 </a:t>
            </a:r>
            <a:r>
              <a:rPr lang="en-US" altLang="ko-KR" dirty="0" smtClean="0"/>
              <a:t>read pairs</a:t>
            </a:r>
            <a:r>
              <a:rPr lang="ko-KR" altLang="en-US" dirty="0" smtClean="0"/>
              <a:t>를 보유하고 있으며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그중</a:t>
            </a:r>
            <a:r>
              <a:rPr lang="ko-KR" altLang="en-US" dirty="0" smtClean="0"/>
              <a:t> 대체로 정확하게 </a:t>
            </a:r>
            <a:r>
              <a:rPr lang="ko-KR" altLang="en-US" dirty="0" err="1" smtClean="0"/>
              <a:t>매핑되어</a:t>
            </a:r>
            <a:r>
              <a:rPr lang="ko-KR" altLang="en-US" dirty="0" smtClean="0"/>
              <a:t> 매우 높은 </a:t>
            </a:r>
            <a:r>
              <a:rPr lang="en-US" altLang="ko-KR" dirty="0" smtClean="0"/>
              <a:t>alignment </a:t>
            </a:r>
            <a:r>
              <a:rPr lang="ko-KR" altLang="en-US" dirty="0" smtClean="0"/>
              <a:t>품질을 보여주고 있습니다</a:t>
            </a:r>
            <a:r>
              <a:rPr lang="en-US" altLang="ko-KR" dirty="0" smtClean="0"/>
              <a:t>. </a:t>
            </a:r>
          </a:p>
          <a:p>
            <a:pPr fontAlgn="base" latinLnBrk="1">
              <a:buFont typeface="Arial" pitchFamily="34" charset="0"/>
              <a:buChar char="•"/>
            </a:pPr>
            <a:r>
              <a:rPr lang="en-US" altLang="ko-KR" dirty="0" smtClean="0"/>
              <a:t>PE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tlen</a:t>
            </a:r>
            <a:r>
              <a:rPr lang="en-US" altLang="ko-KR" dirty="0" smtClean="0"/>
              <a:t> </a:t>
            </a:r>
            <a:r>
              <a:rPr lang="ko-KR" altLang="en-US" dirty="0" smtClean="0"/>
              <a:t>점차 증가</a:t>
            </a:r>
          </a:p>
          <a:p>
            <a:pPr fontAlgn="base" latinLnBrk="1">
              <a:buFont typeface="Arial" pitchFamily="34" charset="0"/>
              <a:buChar char="•"/>
            </a:pPr>
            <a:r>
              <a:rPr lang="ko-KR" altLang="en-US" dirty="0" smtClean="0"/>
              <a:t> </a:t>
            </a:r>
            <a:r>
              <a:rPr lang="en-US" altLang="ko-KR" dirty="0" smtClean="0"/>
              <a:t>L5~L7</a:t>
            </a:r>
            <a:r>
              <a:rPr lang="ko-KR" altLang="en-US" dirty="0" smtClean="0"/>
              <a:t>은 약 </a:t>
            </a:r>
            <a:r>
              <a:rPr lang="en-US" altLang="ko-KR" dirty="0" smtClean="0"/>
              <a:t>1100</a:t>
            </a:r>
            <a:r>
              <a:rPr lang="ko-KR" altLang="en-US" dirty="0" smtClean="0"/>
              <a:t>만 개 이상의 </a:t>
            </a:r>
            <a:r>
              <a:rPr lang="en-US" altLang="ko-KR" dirty="0" smtClean="0"/>
              <a:t>read pair </a:t>
            </a:r>
            <a:r>
              <a:rPr lang="ko-KR" altLang="en-US" dirty="0" smtClean="0"/>
              <a:t>중 대부분 잘 </a:t>
            </a:r>
            <a:r>
              <a:rPr lang="ko-KR" altLang="en-US" dirty="0" err="1" smtClean="0"/>
              <a:t>매핑되어</a:t>
            </a:r>
            <a:r>
              <a:rPr lang="ko-KR" altLang="en-US" dirty="0" smtClean="0"/>
              <a:t> 있는 것을 알 수 있습니다</a:t>
            </a:r>
            <a:r>
              <a:rPr lang="en-US" altLang="ko-KR" dirty="0" smtClean="0"/>
              <a:t>. </a:t>
            </a:r>
          </a:p>
          <a:p>
            <a:pPr fontAlgn="base" latinLnBrk="1">
              <a:buFont typeface="Arial" pitchFamily="34" charset="0"/>
              <a:buChar char="•"/>
            </a:pPr>
            <a:r>
              <a:rPr lang="en-US" altLang="ko-KR" dirty="0" smtClean="0"/>
              <a:t>MP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tlen</a:t>
            </a:r>
            <a:r>
              <a:rPr lang="en-US" altLang="ko-KR" dirty="0" smtClean="0"/>
              <a:t> </a:t>
            </a:r>
            <a:r>
              <a:rPr lang="ko-KR" altLang="en-US" dirty="0" smtClean="0"/>
              <a:t>평균길이가도　점차　증가하고　있으며，중장거리 데이터임을 알 수 있습니다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Ｃｈｒ１８과　ｃｈｒ１９에서　가장　많은　변이가　관찰되었고，　１００건이　넘는　ｓｕｂｓｔｉｔｕｔｉｏｎ과　１０건　이상의　ｉｎｓｅｒｔｉｏｎ과　ｄｅｌｅｔｉｏｎ　발생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 외 </a:t>
            </a:r>
            <a:r>
              <a:rPr lang="en-US" altLang="ko-KR" dirty="0" smtClean="0"/>
              <a:t>chr22, chr20, chr21</a:t>
            </a:r>
            <a:r>
              <a:rPr lang="ko-KR" altLang="en-US" dirty="0" smtClean="0"/>
              <a:t>에서도 </a:t>
            </a:r>
            <a:r>
              <a:rPr lang="en-US" altLang="ko-KR" dirty="0" smtClean="0"/>
              <a:t>50</a:t>
            </a:r>
            <a:r>
              <a:rPr lang="ko-KR" altLang="en-US" dirty="0" smtClean="0"/>
              <a:t>건 이상의 변이가 관찰되었습니다</a:t>
            </a:r>
            <a:r>
              <a:rPr lang="en-US" altLang="ko-KR" dirty="0" smtClean="0"/>
              <a:t>. </a:t>
            </a:r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dirty="0" smtClean="0"/>
              <a:t>chr1, chr5, chr14</a:t>
            </a:r>
            <a:r>
              <a:rPr lang="ko-KR" altLang="en-US" dirty="0" smtClean="0"/>
              <a:t>에서는 소수의 </a:t>
            </a:r>
            <a:r>
              <a:rPr lang="en-US" altLang="ko-KR" dirty="0" smtClean="0"/>
              <a:t>substitution</a:t>
            </a:r>
            <a:r>
              <a:rPr lang="ko-KR" altLang="en-US" dirty="0" smtClean="0"/>
              <a:t>만이 발견되었고</a:t>
            </a:r>
            <a:r>
              <a:rPr lang="en-US" altLang="ko-KR" dirty="0" smtClean="0"/>
              <a:t>, insertion</a:t>
            </a:r>
            <a:r>
              <a:rPr lang="ko-KR" altLang="en-US" dirty="0" smtClean="0"/>
              <a:t>이나 </a:t>
            </a:r>
            <a:r>
              <a:rPr lang="en-US" altLang="ko-KR" dirty="0" smtClean="0"/>
              <a:t>deletion</a:t>
            </a:r>
            <a:r>
              <a:rPr lang="ko-KR" altLang="en-US" dirty="0" smtClean="0"/>
              <a:t>은 거의 없었습니다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별도의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trimming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을 거치지 않고 진행되었으며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ko-KR" altLang="en-US" dirty="0" smtClean="0"/>
              <a:t> </a:t>
            </a:r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3B5F62-B992-4D6A-A7E7-FE14E73739C5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32371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48557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0" y="762000"/>
            <a:ext cx="482600" cy="1511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54100" y="9093200"/>
            <a:ext cx="26289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+mn-ea"/>
              </a:rPr>
              <a:t>202110456 </a:t>
            </a:r>
            <a:r>
              <a:rPr lang="ko-KR" sz="2400" b="0" i="0" u="none" strike="noStrike" dirty="0">
                <a:solidFill>
                  <a:srgbClr val="000000"/>
                </a:solidFill>
                <a:latin typeface="+mn-ea"/>
              </a:rPr>
              <a:t>강유진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" y="3784600"/>
            <a:ext cx="165862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83000"/>
              </a:lnSpc>
            </a:pPr>
            <a:r>
              <a:rPr lang="en-US" sz="7200" b="1" i="0" u="none" strike="noStrike" spc="100" dirty="0">
                <a:solidFill>
                  <a:srgbClr val="000000"/>
                </a:solidFill>
                <a:latin typeface="+mj-ea"/>
                <a:ea typeface="+mj-ea"/>
              </a:rPr>
              <a:t>&lt;BIOMEDICAL DATA </a:t>
            </a:r>
          </a:p>
          <a:p>
            <a:pPr lvl="0" algn="l">
              <a:lnSpc>
                <a:spcPct val="83000"/>
              </a:lnSpc>
            </a:pPr>
            <a:r>
              <a:rPr lang="en-US" sz="7200" b="1" i="0" u="none" strike="noStrike" spc="100" dirty="0">
                <a:solidFill>
                  <a:srgbClr val="000000"/>
                </a:solidFill>
                <a:latin typeface="+mj-ea"/>
                <a:ea typeface="+mj-ea"/>
              </a:rPr>
              <a:t>PROCESSING PROJECTS&gt;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-5400000">
            <a:off x="1562100" y="8534400"/>
            <a:ext cx="482600" cy="151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0" y="762000"/>
            <a:ext cx="482600" cy="1511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 cstate="print">
            <a:alphaModFix amt="20000"/>
          </a:blip>
          <a:stretch>
            <a:fillRect/>
          </a:stretch>
        </p:blipFill>
        <p:spPr>
          <a:xfrm rot="5400000">
            <a:off x="9245600" y="6134100"/>
            <a:ext cx="4191000" cy="12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 cstate="print">
            <a:alphaModFix amt="20000"/>
          </a:blip>
          <a:stretch>
            <a:fillRect/>
          </a:stretch>
        </p:blipFill>
        <p:spPr>
          <a:xfrm rot="5400000">
            <a:off x="5892800" y="6134100"/>
            <a:ext cx="41910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1836400" y="5473700"/>
            <a:ext cx="22225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8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GENOME ASSEMBLY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96300" y="5549900"/>
            <a:ext cx="2908300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Pretendard ExtraBold"/>
              </a:rPr>
              <a:t> </a:t>
            </a:r>
            <a:r>
              <a:rPr lang="en-US" sz="2800" b="1" i="0" u="none" strike="noStrike" dirty="0" smtClean="0">
                <a:solidFill>
                  <a:srgbClr val="000000"/>
                </a:solidFill>
                <a:latin typeface="+mj-ea"/>
                <a:ea typeface="+mj-ea"/>
              </a:rPr>
              <a:t>DEG</a:t>
            </a:r>
            <a:endParaRPr lang="en-US" sz="2800" b="1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0" algn="l">
              <a:lnSpc>
                <a:spcPct val="124499"/>
              </a:lnSpc>
            </a:pPr>
            <a:r>
              <a:rPr lang="en-US" sz="2800" b="1" i="0" u="none" strike="noStrike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sz="28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3500" y="5448300"/>
            <a:ext cx="22225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2800" b="1" i="0" u="none" strike="noStrike" dirty="0">
                <a:solidFill>
                  <a:srgbClr val="000000"/>
                </a:solidFill>
                <a:latin typeface="+mn-ea"/>
              </a:rPr>
              <a:t>GENOMIC VARIANT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36400" y="3543300"/>
            <a:ext cx="2463800" cy="213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2000" b="1" i="0" u="none" strike="noStrike" dirty="0">
                <a:solidFill>
                  <a:srgbClr val="11359A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6300" y="3543300"/>
            <a:ext cx="2463800" cy="213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2000" b="1" i="0" u="none" strike="noStrike" dirty="0">
                <a:solidFill>
                  <a:srgbClr val="11359A"/>
                </a:solidFill>
                <a:latin typeface="+mj-ea"/>
                <a:ea typeface="+mj-ea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43500" y="3543300"/>
            <a:ext cx="2463800" cy="213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en-US" sz="12000" b="1" i="0" u="none" strike="noStrike" dirty="0">
                <a:solidFill>
                  <a:srgbClr val="11359A"/>
                </a:solidFill>
                <a:latin typeface="+mj-ea"/>
                <a:ea typeface="+mj-ea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64000" y="1917700"/>
            <a:ext cx="10147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목차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24300" y="9144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CONTENTS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32371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48557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64000" y="762000"/>
            <a:ext cx="482600" cy="1511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38200" y="3784600"/>
            <a:ext cx="165862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83000"/>
              </a:lnSpc>
            </a:pPr>
            <a:r>
              <a:rPr lang="en-US" altLang="ko-KR" sz="7200" b="1" dirty="0" smtClean="0">
                <a:solidFill>
                  <a:srgbClr val="000000"/>
                </a:solidFill>
                <a:latin typeface="+mn-ea"/>
              </a:rPr>
              <a:t>1.GENOMIC VARIANT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6134100"/>
            <a:ext cx="16459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2800" dirty="0" smtClean="0">
                <a:latin typeface="+mn-ea"/>
              </a:rPr>
              <a:t>Data: </a:t>
            </a:r>
            <a:r>
              <a:rPr lang="en-US" altLang="ko-KR" sz="2800" dirty="0" err="1" smtClean="0">
                <a:latin typeface="+mn-ea"/>
              </a:rPr>
              <a:t>Illumina</a:t>
            </a:r>
            <a:r>
              <a:rPr lang="ko-KR" altLang="en-US" sz="2800" dirty="0" smtClean="0">
                <a:latin typeface="+mn-ea"/>
              </a:rPr>
              <a:t>기술 이용한</a:t>
            </a:r>
            <a:r>
              <a:rPr lang="en-US" altLang="ko-KR" sz="2800" dirty="0" smtClean="0">
                <a:latin typeface="+mn-ea"/>
              </a:rPr>
              <a:t> </a:t>
            </a:r>
            <a:r>
              <a:rPr lang="en-US" altLang="ko-KR" sz="2800" dirty="0" err="1" smtClean="0">
                <a:latin typeface="+mn-ea"/>
              </a:rPr>
              <a:t>dna</a:t>
            </a:r>
            <a:r>
              <a:rPr lang="en-US" altLang="ko-KR" sz="2800" dirty="0" smtClean="0">
                <a:latin typeface="+mn-ea"/>
              </a:rPr>
              <a:t> </a:t>
            </a:r>
            <a:r>
              <a:rPr lang="ko-KR" altLang="en-US" sz="2800" dirty="0" smtClean="0">
                <a:latin typeface="+mn-ea"/>
              </a:rPr>
              <a:t>샘플 데이터 ７개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err="1" smtClean="0">
                <a:latin typeface="+mn-ea"/>
              </a:rPr>
              <a:t>FastQC</a:t>
            </a:r>
            <a:r>
              <a:rPr lang="ko-KR" altLang="en-US" sz="2800" dirty="0" smtClean="0">
                <a:latin typeface="+mn-ea"/>
              </a:rPr>
              <a:t> </a:t>
            </a:r>
            <a:r>
              <a:rPr lang="en-US" altLang="ko-KR" sz="2800" dirty="0" smtClean="0">
                <a:latin typeface="+mn-ea"/>
              </a:rPr>
              <a:t>-&gt; </a:t>
            </a:r>
            <a:r>
              <a:rPr lang="ko-KR" altLang="en-US" sz="2800" dirty="0" smtClean="0">
                <a:latin typeface="+mn-ea"/>
              </a:rPr>
              <a:t>각 </a:t>
            </a:r>
            <a:r>
              <a:rPr lang="en-US" altLang="ko-KR" sz="2800" dirty="0" smtClean="0">
                <a:latin typeface="+mn-ea"/>
              </a:rPr>
              <a:t>read</a:t>
            </a:r>
            <a:r>
              <a:rPr lang="ko-KR" altLang="en-US" sz="2800" dirty="0" smtClean="0">
                <a:latin typeface="+mn-ea"/>
              </a:rPr>
              <a:t>의 품질을 평가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err="1" smtClean="0">
                <a:latin typeface="+mn-ea"/>
              </a:rPr>
              <a:t>Trimmomatic</a:t>
            </a:r>
            <a:r>
              <a:rPr lang="ko-KR" altLang="en-US" sz="2800" dirty="0" smtClean="0">
                <a:latin typeface="+mn-ea"/>
              </a:rPr>
              <a:t> </a:t>
            </a:r>
            <a:r>
              <a:rPr lang="en-US" altLang="ko-KR" sz="2800" dirty="0" smtClean="0">
                <a:latin typeface="+mn-ea"/>
              </a:rPr>
              <a:t>-&gt;</a:t>
            </a:r>
            <a:r>
              <a:rPr lang="ko-KR" altLang="en-US" sz="2800" dirty="0" smtClean="0">
                <a:latin typeface="+mn-ea"/>
              </a:rPr>
              <a:t> </a:t>
            </a:r>
            <a:r>
              <a:rPr lang="en-US" altLang="ko-KR" sz="2800" dirty="0" smtClean="0">
                <a:latin typeface="+mn-ea"/>
              </a:rPr>
              <a:t>trimming</a:t>
            </a:r>
            <a:r>
              <a:rPr lang="ko-KR" altLang="en-US" sz="2800" dirty="0" smtClean="0">
                <a:latin typeface="+mn-ea"/>
              </a:rPr>
              <a:t>을 수행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smtClean="0">
                <a:latin typeface="+mn-ea"/>
              </a:rPr>
              <a:t>BWA</a:t>
            </a:r>
            <a:r>
              <a:rPr lang="ko-KR" altLang="en-US" sz="2800" dirty="0" smtClean="0">
                <a:latin typeface="+mn-ea"/>
              </a:rPr>
              <a:t> </a:t>
            </a:r>
            <a:r>
              <a:rPr lang="en-US" altLang="ko-KR" sz="2800" dirty="0" smtClean="0">
                <a:latin typeface="+mn-ea"/>
              </a:rPr>
              <a:t>-&gt; </a:t>
            </a:r>
            <a:r>
              <a:rPr lang="ko-KR" altLang="en-US" sz="2800" dirty="0" smtClean="0">
                <a:latin typeface="+mn-ea"/>
              </a:rPr>
              <a:t>인간 참조 게놈</a:t>
            </a:r>
            <a:r>
              <a:rPr lang="en-US" altLang="ko-KR" sz="2800" dirty="0" smtClean="0">
                <a:latin typeface="+mn-ea"/>
              </a:rPr>
              <a:t>(hg38)</a:t>
            </a:r>
            <a:r>
              <a:rPr lang="ko-KR" altLang="en-US" sz="2800" dirty="0" smtClean="0">
                <a:latin typeface="+mn-ea"/>
              </a:rPr>
              <a:t>에 정렬한 후 </a:t>
            </a:r>
            <a:r>
              <a:rPr lang="en-US" altLang="ko-KR" sz="2800" dirty="0" smtClean="0">
                <a:latin typeface="+mn-ea"/>
              </a:rPr>
              <a:t>SAM </a:t>
            </a:r>
            <a:r>
              <a:rPr lang="ko-KR" altLang="en-US" sz="2800" dirty="0" smtClean="0">
                <a:latin typeface="+mn-ea"/>
              </a:rPr>
              <a:t> 파일 분석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err="1" smtClean="0">
                <a:latin typeface="+mn-ea"/>
              </a:rPr>
              <a:t>Samtools</a:t>
            </a:r>
            <a:r>
              <a:rPr lang="ko-KR" altLang="en-US" sz="2800" dirty="0" smtClean="0">
                <a:latin typeface="+mn-ea"/>
              </a:rPr>
              <a:t> </a:t>
            </a:r>
            <a:r>
              <a:rPr lang="en-US" altLang="ko-KR" sz="2800" dirty="0" smtClean="0">
                <a:latin typeface="+mn-ea"/>
              </a:rPr>
              <a:t>-&gt;</a:t>
            </a:r>
            <a:r>
              <a:rPr lang="ko-KR" altLang="en-US" sz="2800" dirty="0" smtClean="0">
                <a:latin typeface="+mn-ea"/>
              </a:rPr>
              <a:t> </a:t>
            </a:r>
            <a:r>
              <a:rPr lang="en-US" altLang="ko-KR" sz="2800" dirty="0" smtClean="0">
                <a:latin typeface="+mn-ea"/>
              </a:rPr>
              <a:t>SAM </a:t>
            </a:r>
            <a:r>
              <a:rPr lang="ko-KR" altLang="en-US" sz="2800" dirty="0" smtClean="0">
                <a:latin typeface="+mn-ea"/>
              </a:rPr>
              <a:t>파일을 압축 및 정렬하여 </a:t>
            </a:r>
            <a:r>
              <a:rPr lang="en-US" altLang="ko-KR" sz="2800" dirty="0" smtClean="0">
                <a:latin typeface="+mn-ea"/>
              </a:rPr>
              <a:t>BAM </a:t>
            </a:r>
            <a:r>
              <a:rPr lang="ko-KR" altLang="en-US" sz="2800" dirty="0" smtClean="0">
                <a:latin typeface="+mn-ea"/>
              </a:rPr>
              <a:t>형식으로 변환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err="1" smtClean="0">
                <a:latin typeface="+mn-ea"/>
              </a:rPr>
              <a:t>bcftools</a:t>
            </a:r>
            <a:r>
              <a:rPr lang="en-US" altLang="ko-KR" sz="2800" dirty="0" smtClean="0">
                <a:latin typeface="+mn-ea"/>
              </a:rPr>
              <a:t> -&gt; </a:t>
            </a:r>
            <a:r>
              <a:rPr lang="ko-KR" altLang="en-US" sz="2800" dirty="0" smtClean="0">
                <a:latin typeface="+mn-ea"/>
              </a:rPr>
              <a:t>통해 최종 변이</a:t>
            </a:r>
            <a:r>
              <a:rPr lang="en-US" altLang="ko-KR" sz="2800" dirty="0" smtClean="0">
                <a:latin typeface="+mn-ea"/>
              </a:rPr>
              <a:t>(VARIANT)</a:t>
            </a:r>
            <a:r>
              <a:rPr lang="ko-KR" altLang="en-US" sz="2800" dirty="0" smtClean="0">
                <a:latin typeface="+mn-ea"/>
              </a:rPr>
              <a:t>를 </a:t>
            </a:r>
            <a:r>
              <a:rPr lang="en-US" altLang="ko-KR" sz="2800" dirty="0" smtClean="0">
                <a:latin typeface="+mn-ea"/>
              </a:rPr>
              <a:t>BCF </a:t>
            </a:r>
            <a:r>
              <a:rPr lang="ko-KR" altLang="en-US" sz="2800" dirty="0" smtClean="0">
                <a:latin typeface="+mn-ea"/>
              </a:rPr>
              <a:t>형식으로 저장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sz="2800" dirty="0" smtClean="0">
                <a:latin typeface="+mn-ea"/>
              </a:rPr>
              <a:t>이후 </a:t>
            </a:r>
            <a:r>
              <a:rPr lang="en-US" altLang="ko-KR" sz="2800" dirty="0" smtClean="0">
                <a:latin typeface="+mn-ea"/>
              </a:rPr>
              <a:t>VCF </a:t>
            </a:r>
            <a:r>
              <a:rPr lang="ko-KR" altLang="en-US" sz="2800" dirty="0" smtClean="0">
                <a:latin typeface="+mn-ea"/>
              </a:rPr>
              <a:t>형식으로 변형하여 파일 분석</a:t>
            </a:r>
            <a:endParaRPr lang="ko-KR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43757"/>
            <a:ext cx="6656730" cy="350934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-50800" y="139700"/>
            <a:ext cx="4191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1.GENOMIC VARIANT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1485900"/>
            <a:ext cx="85471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&lt;202110456.L11.fq.gz  ~ 202110456.L42.fq.gz&gt;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FASTQC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62800" y="2019300"/>
            <a:ext cx="5468112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649200" y="2019300"/>
            <a:ext cx="546735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9600" y="6134100"/>
            <a:ext cx="5534025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48400" y="6134100"/>
            <a:ext cx="58674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12420600" y="6667500"/>
            <a:ext cx="632460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buFont typeface="Arial" pitchFamily="34" charset="0"/>
              <a:buChar char="•"/>
            </a:pPr>
            <a:r>
              <a:rPr lang="ko-KR" altLang="en-US" sz="2500" dirty="0" smtClean="0">
                <a:latin typeface="+mn-ea"/>
              </a:rPr>
              <a:t>시퀀스 수</a:t>
            </a:r>
            <a:r>
              <a:rPr lang="en-US" altLang="ko-KR" sz="2500" dirty="0" smtClean="0">
                <a:latin typeface="+mn-ea"/>
              </a:rPr>
              <a:t>: </a:t>
            </a:r>
            <a:r>
              <a:rPr lang="ko-KR" altLang="en-US" sz="2500" dirty="0" smtClean="0">
                <a:latin typeface="+mn-ea"/>
              </a:rPr>
              <a:t>약 </a:t>
            </a:r>
            <a:r>
              <a:rPr lang="en-US" altLang="ko-KR" sz="2500" dirty="0" smtClean="0">
                <a:latin typeface="+mn-ea"/>
              </a:rPr>
              <a:t>2</a:t>
            </a:r>
            <a:r>
              <a:rPr lang="ko-KR" altLang="en-US" sz="2500" dirty="0" smtClean="0">
                <a:latin typeface="+mn-ea"/>
              </a:rPr>
              <a:t>천만 개의 </a:t>
            </a:r>
            <a:r>
              <a:rPr lang="en-US" altLang="ko-KR" sz="2500" dirty="0" smtClean="0">
                <a:latin typeface="+mn-ea"/>
              </a:rPr>
              <a:t>read</a:t>
            </a:r>
          </a:p>
          <a:p>
            <a:pPr lvl="0" fontAlgn="base" latinLnBrk="1">
              <a:buFont typeface="Arial" pitchFamily="34" charset="0"/>
              <a:buChar char="•"/>
            </a:pPr>
            <a:r>
              <a:rPr lang="en-US" altLang="ko-KR" sz="2500" dirty="0" smtClean="0">
                <a:latin typeface="+mn-ea"/>
              </a:rPr>
              <a:t>Read </a:t>
            </a:r>
            <a:r>
              <a:rPr lang="ko-KR" altLang="en-US" sz="2500" dirty="0" smtClean="0">
                <a:latin typeface="+mn-ea"/>
              </a:rPr>
              <a:t>품질</a:t>
            </a:r>
            <a:r>
              <a:rPr lang="en-US" altLang="ko-KR" sz="2500" dirty="0" smtClean="0">
                <a:latin typeface="+mn-ea"/>
              </a:rPr>
              <a:t>:</a:t>
            </a:r>
            <a:endParaRPr lang="ko-KR" altLang="en-US" sz="2500" dirty="0" smtClean="0">
              <a:latin typeface="+mn-ea"/>
            </a:endParaRPr>
          </a:p>
          <a:p>
            <a:pPr fontAlgn="base" latinLnBrk="1"/>
            <a:r>
              <a:rPr lang="en-US" altLang="ko-KR" sz="2500" dirty="0" smtClean="0">
                <a:latin typeface="+mn-ea"/>
              </a:rPr>
              <a:t> -</a:t>
            </a:r>
            <a:r>
              <a:rPr lang="ko-KR" altLang="en-US" sz="2500" dirty="0" smtClean="0">
                <a:latin typeface="+mn-ea"/>
              </a:rPr>
              <a:t>대부분 염기가 녹색 영역</a:t>
            </a:r>
            <a:endParaRPr lang="en-US" altLang="ko-KR" sz="2500" dirty="0" smtClean="0">
              <a:latin typeface="+mn-ea"/>
            </a:endParaRPr>
          </a:p>
          <a:p>
            <a:pPr fontAlgn="base" latinLnBrk="1">
              <a:buFont typeface="Arial" pitchFamily="34" charset="0"/>
              <a:buChar char="•"/>
            </a:pPr>
            <a:r>
              <a:rPr lang="en-US" altLang="ko-KR" sz="2500" dirty="0" err="1" smtClean="0">
                <a:latin typeface="+mn-ea"/>
              </a:rPr>
              <a:t>Pscore</a:t>
            </a:r>
            <a:r>
              <a:rPr lang="en-US" altLang="ko-KR" sz="2500" dirty="0" smtClean="0">
                <a:latin typeface="+mn-ea"/>
              </a:rPr>
              <a:t>:</a:t>
            </a:r>
            <a:endParaRPr lang="ko-KR" altLang="en-US" sz="2500" dirty="0" smtClean="0">
              <a:latin typeface="+mn-ea"/>
            </a:endParaRPr>
          </a:p>
          <a:p>
            <a:pPr fontAlgn="base" latinLnBrk="1"/>
            <a:r>
              <a:rPr lang="en-US" altLang="ko-KR" sz="2500" dirty="0" smtClean="0">
                <a:latin typeface="+mn-ea"/>
              </a:rPr>
              <a:t> -</a:t>
            </a:r>
            <a:r>
              <a:rPr lang="ko-KR" altLang="en-US" sz="2500" dirty="0" smtClean="0">
                <a:latin typeface="+mn-ea"/>
              </a:rPr>
              <a:t>대부분 </a:t>
            </a:r>
            <a:r>
              <a:rPr lang="en-US" altLang="ko-KR" sz="2500" dirty="0" smtClean="0">
                <a:latin typeface="+mn-ea"/>
              </a:rPr>
              <a:t>36</a:t>
            </a:r>
            <a:r>
              <a:rPr lang="ko-KR" altLang="en-US" sz="2500" dirty="0" smtClean="0">
                <a:latin typeface="+mn-ea"/>
              </a:rPr>
              <a:t>에 집중</a:t>
            </a:r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-50800" y="139700"/>
            <a:ext cx="4191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1.GENOMIC VARIANT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000" y="1485900"/>
            <a:ext cx="85471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&lt;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202110456.L51.fq.gz  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~ 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202110456.L72.fq.gz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&gt;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FASTQC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0" y="6438900"/>
            <a:ext cx="609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buFont typeface="Arial" pitchFamily="34" charset="0"/>
              <a:buChar char="•"/>
            </a:pPr>
            <a:r>
              <a:rPr lang="ko-KR" altLang="en-US" sz="2500" dirty="0" smtClean="0">
                <a:latin typeface="+mn-ea"/>
              </a:rPr>
              <a:t>시퀀스 수</a:t>
            </a:r>
            <a:r>
              <a:rPr lang="en-US" altLang="ko-KR" sz="2500" dirty="0" smtClean="0">
                <a:latin typeface="+mn-ea"/>
              </a:rPr>
              <a:t>: </a:t>
            </a:r>
            <a:r>
              <a:rPr lang="ko-KR" altLang="en-US" sz="2500" dirty="0" smtClean="0">
                <a:latin typeface="+mn-ea"/>
              </a:rPr>
              <a:t>약 </a:t>
            </a:r>
            <a:r>
              <a:rPr lang="en-US" altLang="ko-KR" sz="2500" dirty="0" smtClean="0">
                <a:latin typeface="+mn-ea"/>
              </a:rPr>
              <a:t>1.4</a:t>
            </a:r>
            <a:r>
              <a:rPr lang="ko-KR" altLang="en-US" sz="2500" dirty="0" smtClean="0">
                <a:latin typeface="+mn-ea"/>
              </a:rPr>
              <a:t>천만 개의 </a:t>
            </a:r>
            <a:r>
              <a:rPr lang="en-US" altLang="ko-KR" sz="2500" dirty="0" smtClean="0">
                <a:latin typeface="+mn-ea"/>
              </a:rPr>
              <a:t>read</a:t>
            </a:r>
          </a:p>
          <a:p>
            <a:pPr lvl="0" fontAlgn="base" latinLnBrk="1">
              <a:buFont typeface="Arial" pitchFamily="34" charset="0"/>
              <a:buChar char="•"/>
            </a:pPr>
            <a:r>
              <a:rPr lang="en-US" altLang="ko-KR" sz="2500" dirty="0" smtClean="0">
                <a:latin typeface="+mn-ea"/>
              </a:rPr>
              <a:t>Read </a:t>
            </a:r>
            <a:r>
              <a:rPr lang="ko-KR" altLang="en-US" sz="2500" dirty="0" smtClean="0">
                <a:latin typeface="+mn-ea"/>
              </a:rPr>
              <a:t>품질</a:t>
            </a:r>
            <a:r>
              <a:rPr lang="en-US" altLang="ko-KR" sz="2500" dirty="0" smtClean="0">
                <a:latin typeface="+mn-ea"/>
              </a:rPr>
              <a:t>:</a:t>
            </a:r>
            <a:endParaRPr lang="ko-KR" altLang="en-US" sz="2500" dirty="0" smtClean="0"/>
          </a:p>
          <a:p>
            <a:pPr fontAlgn="base" latinLnBrk="1"/>
            <a:r>
              <a:rPr lang="en-US" altLang="ko-KR" sz="2500" dirty="0" smtClean="0"/>
              <a:t>  -</a:t>
            </a:r>
            <a:r>
              <a:rPr lang="ko-KR" altLang="en-US" sz="2500" dirty="0" smtClean="0"/>
              <a:t>후반부로 갈수록 다수의 염기가 빨간 영역으로 떨어져－＞품질이 급격히 저하</a:t>
            </a:r>
            <a:endParaRPr lang="en-US" altLang="ko-KR" sz="2500" dirty="0" smtClean="0"/>
          </a:p>
          <a:p>
            <a:pPr fontAlgn="base" latinLnBrk="1">
              <a:buFont typeface="Arial" pitchFamily="34" charset="0"/>
              <a:buChar char="•"/>
            </a:pPr>
            <a:r>
              <a:rPr lang="en-US" altLang="ko-KR" sz="2500" dirty="0" err="1" smtClean="0">
                <a:latin typeface="+mn-ea"/>
              </a:rPr>
              <a:t>Pscore</a:t>
            </a:r>
            <a:r>
              <a:rPr lang="en-US" altLang="ko-KR" sz="2500" dirty="0" smtClean="0">
                <a:latin typeface="+mn-ea"/>
              </a:rPr>
              <a:t>:</a:t>
            </a:r>
            <a:endParaRPr lang="ko-KR" altLang="en-US" sz="2500" dirty="0" smtClean="0">
              <a:latin typeface="+mn-ea"/>
            </a:endParaRPr>
          </a:p>
          <a:p>
            <a:pPr fontAlgn="base" latinLnBrk="1"/>
            <a:r>
              <a:rPr lang="en-US" altLang="ko-KR" sz="2500" dirty="0" smtClean="0">
                <a:latin typeface="+mn-ea"/>
              </a:rPr>
              <a:t> </a:t>
            </a:r>
            <a:r>
              <a:rPr lang="en-US" altLang="ko-KR" sz="2500" dirty="0" smtClean="0">
                <a:latin typeface="+mn-ea"/>
              </a:rPr>
              <a:t>-</a:t>
            </a:r>
            <a:r>
              <a:rPr lang="ko-KR" altLang="en-US" sz="2500" dirty="0" smtClean="0">
                <a:latin typeface="+mn-ea"/>
              </a:rPr>
              <a:t>대부분 </a:t>
            </a:r>
            <a:r>
              <a:rPr lang="en-US" altLang="ko-KR" sz="2500" dirty="0" smtClean="0">
                <a:latin typeface="+mn-ea"/>
              </a:rPr>
              <a:t>29-31</a:t>
            </a:r>
            <a:r>
              <a:rPr lang="ko-KR" altLang="en-US" sz="2500" dirty="0" smtClean="0">
                <a:latin typeface="+mn-ea"/>
              </a:rPr>
              <a:t>에 집중</a:t>
            </a:r>
            <a:endParaRPr lang="ko-KR" altLang="en-US" sz="2500" dirty="0" smtClean="0">
              <a:latin typeface="+mn-ea"/>
            </a:endParaRPr>
          </a:p>
          <a:p>
            <a:endParaRPr lang="ko-KR" altLang="en-US" dirty="0"/>
          </a:p>
        </p:txBody>
      </p:sp>
      <p:pic>
        <p:nvPicPr>
          <p:cNvPr id="18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47900"/>
            <a:ext cx="6629400" cy="35052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086600" y="2019300"/>
            <a:ext cx="557212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1" name="_x201959616" descr="EMB00003ca44ca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2649201" y="2019300"/>
            <a:ext cx="5486400" cy="4038600"/>
          </a:xfrm>
          <a:prstGeom prst="rect">
            <a:avLst/>
          </a:prstGeom>
          <a:noFill/>
        </p:spPr>
      </p:pic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3" name="_x201960336" descr="EMB00003ca44caa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9600" y="6134100"/>
            <a:ext cx="5638952" cy="3886200"/>
          </a:xfrm>
          <a:prstGeom prst="rect">
            <a:avLst/>
          </a:prstGeom>
          <a:noFill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248400" y="6134100"/>
            <a:ext cx="5707062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3400" y="4838700"/>
            <a:ext cx="17221200" cy="5257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797300" y="3429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TRIMMING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-50800" y="139700"/>
            <a:ext cx="4191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1.GENOMIC VARIANT ANALYSIS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6" cstate="print"/>
          <a:srcRect l="6452" t="8696"/>
          <a:stretch>
            <a:fillRect/>
          </a:stretch>
        </p:blipFill>
        <p:spPr bwMode="auto">
          <a:xfrm>
            <a:off x="-1" y="1181100"/>
            <a:ext cx="4495801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7" cstate="print"/>
          <a:srcRect l="5575" t="8511"/>
          <a:stretch>
            <a:fillRect/>
          </a:stretch>
        </p:blipFill>
        <p:spPr bwMode="auto">
          <a:xfrm>
            <a:off x="4495801" y="1181100"/>
            <a:ext cx="4876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8" cstate="print"/>
          <a:srcRect l="6838" t="7547"/>
          <a:stretch>
            <a:fillRect/>
          </a:stretch>
        </p:blipFill>
        <p:spPr bwMode="auto">
          <a:xfrm>
            <a:off x="9372600" y="1181100"/>
            <a:ext cx="4495799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" name="_x201959616" descr="EMB00003ca44ca7"/>
          <p:cNvPicPr>
            <a:picLocks noChangeAspect="1" noChangeArrowheads="1"/>
          </p:cNvPicPr>
          <p:nvPr/>
        </p:nvPicPr>
        <p:blipFill>
          <a:blip r:embed="rId9" cstate="print"/>
          <a:srcRect l="5556" t="9434"/>
          <a:stretch>
            <a:fillRect/>
          </a:stretch>
        </p:blipFill>
        <p:spPr bwMode="auto">
          <a:xfrm>
            <a:off x="13868400" y="1181100"/>
            <a:ext cx="4419600" cy="3657600"/>
          </a:xfrm>
          <a:prstGeom prst="rect">
            <a:avLst/>
          </a:prstGeom>
          <a:noFill/>
        </p:spPr>
      </p:pic>
      <p:cxnSp>
        <p:nvCxnSpPr>
          <p:cNvPr id="21" name="직선 연결선 20"/>
          <p:cNvCxnSpPr/>
          <p:nvPr/>
        </p:nvCxnSpPr>
        <p:spPr>
          <a:xfrm>
            <a:off x="152400" y="25527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9448800" y="27813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581400" y="24003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8458200" y="24003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4020800" y="27813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7449800" y="37719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12954000" y="39243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4648200" y="2705100"/>
            <a:ext cx="838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3733800" y="7353300"/>
            <a:ext cx="80010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1811000" y="7353300"/>
            <a:ext cx="57912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16" name="TextBox 11"/>
          <p:cNvSpPr txBox="1"/>
          <p:nvPr/>
        </p:nvSpPr>
        <p:spPr>
          <a:xfrm>
            <a:off x="-50800" y="139700"/>
            <a:ext cx="4191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1.GENOMIC VARIANT ANALYSIS</a:t>
            </a:r>
          </a:p>
        </p:txBody>
      </p:sp>
      <p:sp>
        <p:nvSpPr>
          <p:cNvPr id="17" name="TextBox 14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TRIMMING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18" name="TextBox 12"/>
          <p:cNvSpPr txBox="1"/>
          <p:nvPr/>
        </p:nvSpPr>
        <p:spPr>
          <a:xfrm>
            <a:off x="228600" y="1333500"/>
            <a:ext cx="85471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&lt;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202110456.L11.fq.gz  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~ 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202110456.L42.fq.gz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&gt;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009900"/>
            <a:ext cx="9829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6362700"/>
            <a:ext cx="98298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829800" y="1866900"/>
            <a:ext cx="84582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829800" y="5981700"/>
            <a:ext cx="84582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11963400" y="4914900"/>
            <a:ext cx="91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36</a:t>
            </a:r>
            <a:endParaRPr lang="ko-KR" altLang="en-US" sz="4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5849600" y="4838700"/>
            <a:ext cx="152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36-37</a:t>
            </a:r>
            <a:endParaRPr lang="ko-KR" altLang="en-US" sz="4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11734800" y="9182100"/>
            <a:ext cx="160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35-36</a:t>
            </a:r>
            <a:endParaRPr lang="ko-KR" altLang="en-US" sz="4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6154400" y="9182100"/>
            <a:ext cx="2362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36-37</a:t>
            </a:r>
            <a:endParaRPr lang="ko-KR" altLang="en-US" sz="4400" b="1" dirty="0"/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1866900"/>
            <a:ext cx="9829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16" name="TextBox 11"/>
          <p:cNvSpPr txBox="1"/>
          <p:nvPr/>
        </p:nvSpPr>
        <p:spPr>
          <a:xfrm>
            <a:off x="-50800" y="139700"/>
            <a:ext cx="4191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1.GENOMIC VARIANT ANALYSIS</a:t>
            </a:r>
          </a:p>
        </p:txBody>
      </p:sp>
      <p:sp>
        <p:nvSpPr>
          <p:cNvPr id="17" name="TextBox 14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TRIMMING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18" name="TextBox 12"/>
          <p:cNvSpPr txBox="1"/>
          <p:nvPr/>
        </p:nvSpPr>
        <p:spPr>
          <a:xfrm>
            <a:off x="228600" y="1333500"/>
            <a:ext cx="85471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&lt;</a:t>
            </a:r>
            <a:r>
              <a:rPr lang="en-US" sz="3000" b="0" i="0" u="none" strike="noStrike" dirty="0" smtClean="0">
                <a:solidFill>
                  <a:srgbClr val="000000"/>
                </a:solidFill>
                <a:latin typeface="+mn-ea"/>
              </a:rPr>
              <a:t>202110456.L</a:t>
            </a:r>
            <a:r>
              <a:rPr lang="ko-KR" altLang="en-US" sz="3000" b="0" i="0" u="none" strike="noStrike" dirty="0" smtClean="0">
                <a:solidFill>
                  <a:srgbClr val="000000"/>
                </a:solidFill>
                <a:latin typeface="+mn-ea"/>
              </a:rPr>
              <a:t>５</a:t>
            </a:r>
            <a:r>
              <a:rPr lang="en-US" sz="3000" b="0" i="0" u="none" strike="noStrike" dirty="0" smtClean="0">
                <a:solidFill>
                  <a:srgbClr val="000000"/>
                </a:solidFill>
                <a:latin typeface="+mn-ea"/>
              </a:rPr>
              <a:t>1.fq.gz  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~ </a:t>
            </a:r>
            <a:r>
              <a:rPr lang="en-US" sz="3000" i="0" u="none" strike="noStrike" dirty="0" smtClean="0">
                <a:solidFill>
                  <a:srgbClr val="000000"/>
                </a:solidFill>
                <a:latin typeface="+mn-ea"/>
              </a:rPr>
              <a:t>202110456.L</a:t>
            </a:r>
            <a:r>
              <a:rPr lang="ko-KR" altLang="en-US" sz="3000" i="0" u="none" strike="noStrike" dirty="0" smtClean="0">
                <a:solidFill>
                  <a:srgbClr val="000000"/>
                </a:solidFill>
                <a:latin typeface="+mn-ea"/>
              </a:rPr>
              <a:t>７</a:t>
            </a:r>
            <a:r>
              <a:rPr lang="en-US" sz="3000" i="0" u="none" strike="noStrike" dirty="0" smtClean="0">
                <a:solidFill>
                  <a:srgbClr val="000000"/>
                </a:solidFill>
                <a:latin typeface="+mn-ea"/>
              </a:rPr>
              <a:t>2.fq.gz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&gt;</a:t>
            </a:r>
          </a:p>
        </p:txBody>
      </p:sp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009900"/>
            <a:ext cx="98298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4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" y="6591300"/>
            <a:ext cx="9829799" cy="369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5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829800" y="1943100"/>
            <a:ext cx="8458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96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829800" y="5905500"/>
            <a:ext cx="84582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TextBox 28"/>
          <p:cNvSpPr txBox="1"/>
          <p:nvPr/>
        </p:nvSpPr>
        <p:spPr>
          <a:xfrm>
            <a:off x="12115800" y="4914900"/>
            <a:ext cx="91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31</a:t>
            </a:r>
            <a:endParaRPr lang="ko-KR" altLang="en-US" sz="44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6230600" y="4838700"/>
            <a:ext cx="91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32</a:t>
            </a:r>
            <a:endParaRPr lang="ko-KR" altLang="en-US" sz="4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1963400" y="9105900"/>
            <a:ext cx="91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28</a:t>
            </a:r>
            <a:endParaRPr lang="ko-KR" altLang="en-US" sz="4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6154400" y="9258300"/>
            <a:ext cx="91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/>
              <a:t>29</a:t>
            </a:r>
            <a:endParaRPr lang="ko-KR" altLang="en-US" sz="4400" b="1" dirty="0"/>
          </a:p>
        </p:txBody>
      </p:sp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" y="1866900"/>
            <a:ext cx="9829799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38200" y="1866900"/>
            <a:ext cx="16764000" cy="7848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SAM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파일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50800" y="139700"/>
            <a:ext cx="4191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1.GENOMIC VARIANT ANALYSIS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581400" y="1943100"/>
            <a:ext cx="8001000" cy="7696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1658600" y="1943100"/>
            <a:ext cx="5943600" cy="7696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/>
          <p:nvPr/>
        </p:nvSpPr>
        <p:spPr>
          <a:xfrm>
            <a:off x="4343400" y="9105900"/>
            <a:ext cx="6705600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12192000" y="9105900"/>
            <a:ext cx="4876800" cy="3048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19100" y="1600200"/>
            <a:ext cx="7035800" cy="830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721600" y="1600200"/>
            <a:ext cx="6172200" cy="5245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83500" y="7023100"/>
            <a:ext cx="6172200" cy="2743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VCF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파일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14" name="TextBox 11"/>
          <p:cNvSpPr txBox="1"/>
          <p:nvPr/>
        </p:nvSpPr>
        <p:spPr>
          <a:xfrm>
            <a:off x="-50800" y="139700"/>
            <a:ext cx="41910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1.GENOMIC VARIANT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20800" y="7200900"/>
            <a:ext cx="426720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buFont typeface="Arial" pitchFamily="34" charset="0"/>
              <a:buChar char="•"/>
            </a:pPr>
            <a:r>
              <a:rPr lang="en-US" altLang="ko-KR" sz="2100" dirty="0" smtClean="0">
                <a:latin typeface="+mn-ea"/>
              </a:rPr>
              <a:t>substitution</a:t>
            </a:r>
            <a:r>
              <a:rPr lang="ko-KR" altLang="en-US" sz="2100" dirty="0" smtClean="0">
                <a:latin typeface="+mn-ea"/>
              </a:rPr>
              <a:t>이 변이의 대부분을</a:t>
            </a:r>
            <a:endParaRPr lang="en-US" altLang="ko-KR" sz="2100" dirty="0" smtClean="0">
              <a:latin typeface="+mn-ea"/>
            </a:endParaRPr>
          </a:p>
          <a:p>
            <a:pPr fontAlgn="base" latinLnBrk="1"/>
            <a:r>
              <a:rPr lang="ko-KR" altLang="en-US" sz="2100" dirty="0" smtClean="0">
                <a:latin typeface="+mn-ea"/>
              </a:rPr>
              <a:t>차지</a:t>
            </a:r>
            <a:endParaRPr lang="en-US" altLang="ko-KR" sz="2100" dirty="0" smtClean="0">
              <a:latin typeface="+mn-ea"/>
            </a:endParaRPr>
          </a:p>
          <a:p>
            <a:pPr fontAlgn="base" latinLnBrk="1">
              <a:buFont typeface="Arial" pitchFamily="34" charset="0"/>
              <a:buChar char="•"/>
            </a:pPr>
            <a:r>
              <a:rPr lang="ko-KR" altLang="en-US" sz="1900" dirty="0" smtClean="0">
                <a:latin typeface="+mn-ea"/>
              </a:rPr>
              <a:t>총 길이도 </a:t>
            </a:r>
            <a:r>
              <a:rPr lang="en-US" altLang="ko-KR" sz="1900" dirty="0" smtClean="0">
                <a:latin typeface="+mn-ea"/>
              </a:rPr>
              <a:t>482bp</a:t>
            </a:r>
            <a:r>
              <a:rPr lang="ko-KR" altLang="en-US" sz="1900" dirty="0" smtClean="0">
                <a:latin typeface="+mn-ea"/>
              </a:rPr>
              <a:t>로 개수와 일치</a:t>
            </a:r>
            <a:endParaRPr lang="en-US" altLang="ko-KR" sz="1900" dirty="0" smtClean="0">
              <a:latin typeface="+mn-ea"/>
            </a:endParaRPr>
          </a:p>
          <a:p>
            <a:pPr fontAlgn="base" latinLnBrk="1"/>
            <a:r>
              <a:rPr lang="ko-KR" altLang="en-US" sz="1900" dirty="0" smtClean="0">
                <a:latin typeface="+mn-ea"/>
              </a:rPr>
              <a:t>－＞ </a:t>
            </a:r>
            <a:r>
              <a:rPr lang="en-US" altLang="ko-KR" sz="1900" dirty="0" smtClean="0">
                <a:latin typeface="+mn-ea"/>
              </a:rPr>
              <a:t>substitution </a:t>
            </a:r>
            <a:r>
              <a:rPr lang="ko-KR" altLang="en-US" sz="1900" dirty="0" smtClean="0">
                <a:latin typeface="+mn-ea"/>
              </a:rPr>
              <a:t>변이는 대부분 </a:t>
            </a:r>
            <a:r>
              <a:rPr lang="en-US" altLang="ko-KR" sz="1900" dirty="0" smtClean="0">
                <a:latin typeface="+mn-ea"/>
              </a:rPr>
              <a:t>1</a:t>
            </a:r>
            <a:r>
              <a:rPr lang="ko-KR" altLang="en-US" sz="1900" dirty="0" smtClean="0">
                <a:latin typeface="+mn-ea"/>
              </a:rPr>
              <a:t>개의 염기를 다른 염기로 바꾸는 형태</a:t>
            </a:r>
            <a:endParaRPr lang="en-US" altLang="ko-KR" sz="1900" dirty="0" smtClean="0">
              <a:latin typeface="+mn-ea"/>
            </a:endParaRPr>
          </a:p>
          <a:p>
            <a:pPr fontAlgn="base" latinLnBrk="1"/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381000" y="6515100"/>
            <a:ext cx="4419600" cy="3276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7696200" y="1562100"/>
            <a:ext cx="6172200" cy="51816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1000" y="2933700"/>
            <a:ext cx="4419600" cy="1600200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381000" y="2247900"/>
            <a:ext cx="4419600" cy="6096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81000" y="4610100"/>
            <a:ext cx="4419600" cy="18288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14325600" y="1638300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smtClean="0">
                <a:latin typeface="+mn-ea"/>
              </a:rPr>
              <a:t>전체 변이 수： 총 </a:t>
            </a:r>
            <a:r>
              <a:rPr lang="en-US" altLang="ko-KR" sz="2400" dirty="0" smtClean="0">
                <a:latin typeface="+mn-ea"/>
              </a:rPr>
              <a:t>575</a:t>
            </a:r>
            <a:r>
              <a:rPr lang="ko-KR" altLang="en-US" sz="2400" dirty="0" smtClean="0">
                <a:latin typeface="+mn-ea"/>
              </a:rPr>
              <a:t>건</a:t>
            </a:r>
            <a:endParaRPr lang="en-US" altLang="ko-KR" sz="24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0" grpId="0" animBg="1"/>
      <p:bldP spid="21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32371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48557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64000" y="762000"/>
            <a:ext cx="482600" cy="1511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38200" y="3784600"/>
            <a:ext cx="165862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24499"/>
              </a:lnSpc>
            </a:pPr>
            <a:r>
              <a:rPr lang="en-US" altLang="ko-KR" sz="7200" b="1" dirty="0" smtClean="0">
                <a:solidFill>
                  <a:srgbClr val="000000"/>
                </a:solidFill>
                <a:latin typeface="+mn-ea"/>
              </a:rPr>
              <a:t>2.</a:t>
            </a:r>
            <a:r>
              <a:rPr lang="en-US" altLang="ko-KR" sz="7200" b="1" dirty="0" smtClean="0">
                <a:solidFill>
                  <a:srgbClr val="000000"/>
                </a:solidFill>
                <a:latin typeface="+mj-ea"/>
              </a:rPr>
              <a:t> DEG ANALYSIS</a:t>
            </a:r>
            <a:endParaRPr lang="en-US" altLang="ko-KR" sz="7200" b="1" dirty="0" smtClean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6591300"/>
            <a:ext cx="16459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2800" dirty="0" smtClean="0">
                <a:latin typeface="+mn-ea"/>
              </a:rPr>
              <a:t>Data: </a:t>
            </a:r>
            <a:r>
              <a:rPr lang="ko-KR" altLang="en-US" sz="2800" dirty="0" smtClean="0"/>
              <a:t>정상인</a:t>
            </a:r>
            <a:r>
              <a:rPr lang="en-US" altLang="ko-KR" sz="2800" dirty="0" smtClean="0"/>
              <a:t>(Normal) RNA </a:t>
            </a:r>
            <a:r>
              <a:rPr lang="ko-KR" altLang="en-US" sz="2800" dirty="0" smtClean="0"/>
              <a:t>샘플 </a:t>
            </a:r>
            <a:r>
              <a:rPr lang="en-US" altLang="ko-KR" sz="2800" dirty="0" smtClean="0"/>
              <a:t>2</a:t>
            </a:r>
            <a:r>
              <a:rPr lang="ko-KR" altLang="en-US" sz="2800" dirty="0" smtClean="0"/>
              <a:t>개 </a:t>
            </a:r>
            <a:r>
              <a:rPr lang="en-US" altLang="ko-KR" sz="2800" dirty="0" smtClean="0"/>
              <a:t>+</a:t>
            </a:r>
            <a:r>
              <a:rPr lang="ko-KR" altLang="en-US" sz="2800" dirty="0" smtClean="0"/>
              <a:t> 환자</a:t>
            </a:r>
            <a:r>
              <a:rPr lang="en-US" altLang="ko-KR" sz="2800" dirty="0" smtClean="0"/>
              <a:t>(Patient)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RNA </a:t>
            </a:r>
            <a:r>
              <a:rPr lang="ko-KR" altLang="en-US" sz="2800" dirty="0" smtClean="0"/>
              <a:t>샘플 </a:t>
            </a:r>
            <a:r>
              <a:rPr lang="en-US" altLang="ko-KR" sz="2800" dirty="0" smtClean="0"/>
              <a:t>2</a:t>
            </a:r>
            <a:r>
              <a:rPr lang="ko-KR" altLang="en-US" sz="2800" dirty="0" smtClean="0"/>
              <a:t>개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smtClean="0"/>
              <a:t>STAR -&gt;</a:t>
            </a:r>
            <a:r>
              <a:rPr lang="ko-KR" altLang="en-US" sz="2800" dirty="0" smtClean="0"/>
              <a:t> 인간 참조 게놈</a:t>
            </a:r>
            <a:r>
              <a:rPr lang="en-US" altLang="ko-KR" sz="2800" dirty="0" smtClean="0"/>
              <a:t>(hg38)</a:t>
            </a:r>
            <a:r>
              <a:rPr lang="ko-KR" altLang="en-US" sz="2800" dirty="0" smtClean="0"/>
              <a:t>과 </a:t>
            </a:r>
            <a:r>
              <a:rPr lang="en-US" altLang="ko-KR" sz="2800" dirty="0" smtClean="0"/>
              <a:t>GENCODE </a:t>
            </a:r>
            <a:r>
              <a:rPr lang="ko-KR" altLang="en-US" sz="2800" dirty="0" smtClean="0"/>
              <a:t>유전자 주석</a:t>
            </a:r>
            <a:r>
              <a:rPr lang="en-US" altLang="ko-KR" sz="2800" dirty="0" smtClean="0"/>
              <a:t>(GTF)</a:t>
            </a:r>
            <a:r>
              <a:rPr lang="ko-KR" altLang="en-US" sz="2800" dirty="0" smtClean="0"/>
              <a:t>을 기반으로 생성된 </a:t>
            </a:r>
            <a:r>
              <a:rPr lang="en-US" altLang="ko-KR" sz="2800" dirty="0" smtClean="0"/>
              <a:t>tab </a:t>
            </a:r>
            <a:r>
              <a:rPr lang="ko-KR" altLang="en-US" sz="2800" dirty="0" smtClean="0"/>
              <a:t>파일로 </a:t>
            </a:r>
            <a:r>
              <a:rPr lang="en-US" altLang="ko-KR" sz="2800" dirty="0" smtClean="0"/>
              <a:t>DEG </a:t>
            </a:r>
            <a:r>
              <a:rPr lang="ko-KR" altLang="en-US" sz="2800" dirty="0" smtClean="0"/>
              <a:t>분석 수행</a:t>
            </a:r>
            <a:endParaRPr lang="ko-KR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54000" y="2298700"/>
            <a:ext cx="12306300" cy="383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54000" y="6134100"/>
            <a:ext cx="12306300" cy="4152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-152400" y="114300"/>
            <a:ext cx="7391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2.DIFFERENTIALLY EXPRESSED GENE (DEG)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DEG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 smtClean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  <a:endParaRPr lang="ko-KR" sz="6000" b="1" i="0" u="none" strike="noStrike" spc="-100" dirty="0">
              <a:solidFill>
                <a:srgbClr val="11359A"/>
              </a:solidFill>
              <a:latin typeface="+mj-ea"/>
              <a:ea typeface="+mj-e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35000" y="1765300"/>
            <a:ext cx="138049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총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812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개의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유전자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12700" y="3302000"/>
            <a:ext cx="21971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[Histogram]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09500" y="4013200"/>
            <a:ext cx="6248400" cy="342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100" b="0" i="0" u="none" strike="noStrike" dirty="0" smtClean="0">
                <a:solidFill>
                  <a:srgbClr val="000000"/>
                </a:solidFill>
                <a:latin typeface="+mn-ea"/>
              </a:rPr>
              <a:t>대부분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유전자의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발현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 smtClean="0">
                <a:solidFill>
                  <a:srgbClr val="000000"/>
                </a:solidFill>
                <a:latin typeface="+mn-ea"/>
              </a:rPr>
              <a:t>변화는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 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</a:pPr>
            <a:r>
              <a:rPr lang="ko-KR" altLang="en-US" sz="3100" dirty="0" smtClean="0">
                <a:solidFill>
                  <a:srgbClr val="000000"/>
                </a:solidFill>
                <a:latin typeface="+mn-ea"/>
              </a:rPr>
              <a:t>　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0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에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가깝게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분포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, </a:t>
            </a:r>
            <a:r>
              <a:rPr lang="ko-KR" sz="3100" b="0" i="0" u="none" strike="noStrike" dirty="0" smtClean="0">
                <a:solidFill>
                  <a:srgbClr val="000000"/>
                </a:solidFill>
                <a:latin typeface="+mn-ea"/>
              </a:rPr>
              <a:t>소수의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유전자만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 err="1">
                <a:solidFill>
                  <a:srgbClr val="000000"/>
                </a:solidFill>
                <a:latin typeface="+mn-ea"/>
              </a:rPr>
              <a:t>고발현</a:t>
            </a:r>
            <a:endParaRPr lang="ko-KR" sz="3100" b="0" i="0" u="none" strike="noStrike" dirty="0">
              <a:solidFill>
                <a:srgbClr val="000000"/>
              </a:solidFill>
              <a:latin typeface="+mn-ea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'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정상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sz="3100" b="0" i="0" u="none" strike="noStrike" dirty="0" err="1">
                <a:solidFill>
                  <a:srgbClr val="000000"/>
                </a:solidFill>
                <a:latin typeface="+mn-ea"/>
              </a:rPr>
              <a:t>vs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환자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'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간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전반적인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   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발현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분포는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매우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유사</a:t>
            </a:r>
          </a:p>
          <a:p>
            <a:pPr lvl="0" algn="l">
              <a:lnSpc>
                <a:spcPct val="99600"/>
              </a:lnSpc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-152400" y="114300"/>
            <a:ext cx="7391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2.DIFFERENTIALLY EXPRESSED GENE (DEG)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DEG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 smtClean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  <a:endParaRPr lang="ko-KR" sz="6000" b="1" i="0" u="none" strike="noStrike" spc="-100" dirty="0">
              <a:solidFill>
                <a:srgbClr val="11359A"/>
              </a:solidFill>
              <a:latin typeface="+mj-ea"/>
              <a:ea typeface="+mj-ea"/>
            </a:endParaRPr>
          </a:p>
        </p:txBody>
      </p:sp>
      <p:pic>
        <p:nvPicPr>
          <p:cNvPr id="1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1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1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pic>
        <p:nvPicPr>
          <p:cNvPr id="19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067800" y="1993900"/>
            <a:ext cx="8686800" cy="6959600"/>
          </a:xfrm>
          <a:prstGeom prst="rect">
            <a:avLst/>
          </a:prstGeom>
        </p:spPr>
      </p:pic>
      <p:pic>
        <p:nvPicPr>
          <p:cNvPr id="20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6100" y="2120900"/>
            <a:ext cx="8293100" cy="6832600"/>
          </a:xfrm>
          <a:prstGeom prst="rect">
            <a:avLst/>
          </a:prstGeom>
        </p:spPr>
      </p:pic>
      <p:sp>
        <p:nvSpPr>
          <p:cNvPr id="21" name="TextBox 13"/>
          <p:cNvSpPr txBox="1"/>
          <p:nvPr/>
        </p:nvSpPr>
        <p:spPr>
          <a:xfrm>
            <a:off x="546100" y="1587500"/>
            <a:ext cx="24384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[Scatter Plot]</a:t>
            </a:r>
          </a:p>
        </p:txBody>
      </p:sp>
      <p:sp>
        <p:nvSpPr>
          <p:cNvPr id="22" name="TextBox 14"/>
          <p:cNvSpPr txBox="1"/>
          <p:nvPr/>
        </p:nvSpPr>
        <p:spPr>
          <a:xfrm>
            <a:off x="3048000" y="9182100"/>
            <a:ext cx="121158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대부분의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유전자들은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대각선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부근에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위치해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발현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차이가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크지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 smtClean="0">
                <a:solidFill>
                  <a:srgbClr val="000000"/>
                </a:solidFill>
                <a:latin typeface="+mn-ea"/>
              </a:rPr>
              <a:t>않</a:t>
            </a:r>
            <a:r>
              <a:rPr lang="ko-KR" altLang="en-US" sz="3100" dirty="0" smtClean="0">
                <a:solidFill>
                  <a:srgbClr val="000000"/>
                </a:solidFill>
                <a:latin typeface="+mn-ea"/>
              </a:rPr>
              <a:t>음</a:t>
            </a:r>
            <a:endParaRPr lang="ko-KR" sz="3100" b="0" i="0" u="none" strike="noStrike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4500" y="2133600"/>
            <a:ext cx="17335500" cy="394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44500" y="6070600"/>
            <a:ext cx="17335500" cy="4216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46100" y="1587500"/>
            <a:ext cx="17526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[Bar Plot]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34800" y="266700"/>
            <a:ext cx="74676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log2 </a:t>
            </a:r>
            <a:r>
              <a:rPr lang="en-US" sz="2600" b="0" i="0" u="none" strike="noStrike" dirty="0" smtClean="0">
                <a:solidFill>
                  <a:srgbClr val="000000"/>
                </a:solidFill>
                <a:latin typeface="+mn-ea"/>
              </a:rPr>
              <a:t>FC&gt;=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1</a:t>
            </a:r>
          </a:p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환자에서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발현이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600" dirty="0" smtClean="0">
                <a:solidFill>
                  <a:srgbClr val="000000"/>
                </a:solidFill>
                <a:latin typeface="+mn-ea"/>
              </a:rPr>
              <a:t>２</a:t>
            </a:r>
            <a:r>
              <a:rPr lang="ko-KR" altLang="en-US" sz="2600" dirty="0" err="1" smtClean="0">
                <a:solidFill>
                  <a:srgbClr val="000000"/>
                </a:solidFill>
                <a:latin typeface="+mn-ea"/>
              </a:rPr>
              <a:t>배이상</a:t>
            </a:r>
            <a:r>
              <a:rPr lang="ko-KR" altLang="en-US" sz="2600" dirty="0" smtClean="0">
                <a:solidFill>
                  <a:srgbClr val="000000"/>
                </a:solidFill>
                <a:latin typeface="+mn-ea"/>
              </a:rPr>
              <a:t>　</a:t>
            </a:r>
            <a:r>
              <a:rPr lang="en-US" sz="2600" b="0" i="0" u="none" strike="noStrike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증가한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유전자</a:t>
            </a:r>
          </a:p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log2 </a:t>
            </a:r>
            <a:r>
              <a:rPr lang="en-US" sz="2600" b="0" i="0" u="none" strike="noStrike" dirty="0" smtClean="0">
                <a:solidFill>
                  <a:srgbClr val="000000"/>
                </a:solidFill>
                <a:latin typeface="+mn-ea"/>
              </a:rPr>
              <a:t>FC&lt;=-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1</a:t>
            </a:r>
          </a:p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환자에서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발현이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600" dirty="0" smtClean="0">
                <a:solidFill>
                  <a:srgbClr val="000000"/>
                </a:solidFill>
                <a:latin typeface="+mn-ea"/>
              </a:rPr>
              <a:t>２</a:t>
            </a:r>
            <a:r>
              <a:rPr lang="ko-KR" altLang="en-US" sz="2600" dirty="0" err="1" smtClean="0">
                <a:solidFill>
                  <a:srgbClr val="000000"/>
                </a:solidFill>
                <a:latin typeface="+mn-ea"/>
              </a:rPr>
              <a:t>배이상</a:t>
            </a:r>
            <a:r>
              <a:rPr lang="ko-KR" altLang="en-US" sz="2600" dirty="0" smtClean="0">
                <a:solidFill>
                  <a:srgbClr val="000000"/>
                </a:solidFill>
                <a:latin typeface="+mn-ea"/>
              </a:rPr>
              <a:t>　</a:t>
            </a:r>
            <a:r>
              <a:rPr lang="en-US" sz="2600" b="0" i="0" u="none" strike="noStrike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감소한</a:t>
            </a:r>
            <a:r>
              <a:rPr lang="en-US" sz="2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600" b="0" i="0" u="none" strike="noStrike" dirty="0">
                <a:solidFill>
                  <a:srgbClr val="000000"/>
                </a:solidFill>
                <a:latin typeface="+mn-ea"/>
              </a:rPr>
              <a:t>유전자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-152400" y="114300"/>
            <a:ext cx="7391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2.DIFFERENTIALLY EXPRESSED GENE (DEG) ANALYSIS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DEG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09600" y="3543300"/>
            <a:ext cx="17221200" cy="411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dirty="0">
              <a:latin typeface="+mn-ea"/>
            </a:endParaRPr>
          </a:p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&lt;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환자에서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발현이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줄어든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유전자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chemeClr val="accent2"/>
                </a:solidFill>
                <a:latin typeface="+mn-ea"/>
              </a:rPr>
              <a:t>ALPK3,GABRG2,GPR26,HERC2,HSPA4L,NHLRC2,PHF3,SCAI,SEMA5A,SPTBN1,SYT15,</a:t>
            </a:r>
          </a:p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chemeClr val="accent2"/>
                </a:solidFill>
                <a:latin typeface="+mn-ea"/>
              </a:rPr>
              <a:t>TMEM161B-DT,TNPO1,TSPAN14,USP24,VWC2,ZBED6,ZC3H6,ZNF141,ZNF431,ZNF831</a:t>
            </a:r>
          </a:p>
          <a:p>
            <a:pPr lvl="0" algn="l">
              <a:lnSpc>
                <a:spcPct val="99600"/>
              </a:lnSpc>
            </a:pP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-&gt;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주로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뇌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기능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유전자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조절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면역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단백질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처리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같은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중요한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역할을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하는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유전자</a:t>
            </a:r>
          </a:p>
          <a:p>
            <a:pPr lvl="0" algn="l">
              <a:lnSpc>
                <a:spcPct val="99600"/>
              </a:lnSpc>
            </a:pP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-&gt;</a:t>
            </a:r>
            <a:r>
              <a:rPr lang="ko-KR" altLang="en-US" sz="3100" dirty="0" smtClean="0">
                <a:solidFill>
                  <a:srgbClr val="000000"/>
                </a:solidFill>
                <a:latin typeface="+mn-ea"/>
              </a:rPr>
              <a:t>이</a:t>
            </a:r>
            <a:r>
              <a:rPr lang="en-US" sz="3100" b="0" i="0" u="none" strike="noStrike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환자는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집중력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저하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감정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변화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면역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약화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세포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기능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저하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같은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증상이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생길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>
                <a:solidFill>
                  <a:srgbClr val="000000"/>
                </a:solidFill>
                <a:latin typeface="+mn-ea"/>
              </a:rPr>
              <a:t>수</a:t>
            </a:r>
            <a:r>
              <a:rPr lang="en-US" sz="31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100" b="0" i="0" u="none" strike="noStrike" dirty="0" smtClean="0">
                <a:solidFill>
                  <a:srgbClr val="000000"/>
                </a:solidFill>
                <a:latin typeface="+mn-ea"/>
              </a:rPr>
              <a:t>있음</a:t>
            </a:r>
            <a:endParaRPr dirty="0"/>
          </a:p>
        </p:txBody>
      </p:sp>
      <p:sp>
        <p:nvSpPr>
          <p:cNvPr id="13" name="TextBox 11"/>
          <p:cNvSpPr txBox="1"/>
          <p:nvPr/>
        </p:nvSpPr>
        <p:spPr>
          <a:xfrm>
            <a:off x="-152400" y="114300"/>
            <a:ext cx="7391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2.DIFFERENTIALLY EXPRESSED GENE (DEG) ANALYSIS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DEG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32371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67800" y="1206500"/>
            <a:ext cx="2108200" cy="2159000"/>
          </a:xfrm>
          <a:prstGeom prst="rect">
            <a:avLst/>
          </a:prstGeom>
          <a:effectLst>
            <a:outerShdw blurRad="27558" dist="48557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764000" y="762000"/>
            <a:ext cx="482600" cy="1511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38200" y="3784600"/>
            <a:ext cx="165862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24499"/>
              </a:lnSpc>
            </a:pPr>
            <a:r>
              <a:rPr lang="en-US" altLang="ko-KR" sz="7200" b="1" dirty="0" smtClean="0">
                <a:solidFill>
                  <a:srgbClr val="000000"/>
                </a:solidFill>
                <a:latin typeface="+mn-ea"/>
              </a:rPr>
              <a:t>3.</a:t>
            </a:r>
            <a:r>
              <a:rPr lang="en-US" altLang="ko-KR" sz="7200" b="1" dirty="0" smtClean="0">
                <a:solidFill>
                  <a:srgbClr val="000000"/>
                </a:solidFill>
                <a:latin typeface="+mj-ea"/>
              </a:rPr>
              <a:t> GENOME 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6591300"/>
            <a:ext cx="16459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2800" dirty="0" smtClean="0">
                <a:latin typeface="+mn-ea"/>
              </a:rPr>
              <a:t>Data: </a:t>
            </a:r>
            <a:r>
              <a:rPr lang="en-US" altLang="ko-KR" sz="2800" dirty="0" smtClean="0"/>
              <a:t>Genomic variant</a:t>
            </a:r>
            <a:r>
              <a:rPr lang="ko-KR" altLang="en-US" sz="2800" dirty="0" smtClean="0"/>
              <a:t>에서 </a:t>
            </a:r>
            <a:r>
              <a:rPr lang="en-US" altLang="ko-KR" sz="2800" dirty="0" smtClean="0"/>
              <a:t>trimming</a:t>
            </a:r>
            <a:r>
              <a:rPr lang="ko-KR" altLang="en-US" sz="2800" dirty="0" smtClean="0"/>
              <a:t>된 </a:t>
            </a:r>
            <a:r>
              <a:rPr lang="en-US" altLang="ko-KR" sz="2800" dirty="0" smtClean="0"/>
              <a:t>7</a:t>
            </a:r>
            <a:r>
              <a:rPr lang="ko-KR" altLang="en-US" sz="2800" dirty="0" smtClean="0"/>
              <a:t>개의 </a:t>
            </a:r>
            <a:r>
              <a:rPr lang="en-US" altLang="ko-KR" sz="2800" dirty="0" smtClean="0"/>
              <a:t>read </a:t>
            </a:r>
            <a:r>
              <a:rPr lang="ko-KR" altLang="en-US" sz="2800" dirty="0" smtClean="0"/>
              <a:t>데이터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err="1" smtClean="0"/>
              <a:t>ABySS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-&gt;</a:t>
            </a:r>
            <a:r>
              <a:rPr lang="ko-KR" altLang="en-US" sz="2800" dirty="0" smtClean="0"/>
              <a:t> </a:t>
            </a:r>
            <a:r>
              <a:rPr lang="en-US" altLang="ko-KR" sz="2800" dirty="0" err="1" smtClean="0"/>
              <a:t>kmer</a:t>
            </a:r>
            <a:r>
              <a:rPr lang="ko-KR" altLang="en-US" sz="2800" dirty="0" smtClean="0"/>
              <a:t>길이를 </a:t>
            </a:r>
            <a:r>
              <a:rPr lang="en-US" altLang="ko-KR" sz="2800" dirty="0" smtClean="0"/>
              <a:t>96</a:t>
            </a:r>
            <a:r>
              <a:rPr lang="ko-KR" altLang="en-US" sz="2800" dirty="0" smtClean="0"/>
              <a:t>으로 설정하여 </a:t>
            </a:r>
            <a:r>
              <a:rPr lang="en-US" altLang="ko-KR" sz="2800" dirty="0" err="1" smtClean="0"/>
              <a:t>asm</a:t>
            </a:r>
            <a:r>
              <a:rPr lang="en-US" altLang="ko-KR" sz="2800" dirty="0" smtClean="0"/>
              <a:t>-scaffold </a:t>
            </a:r>
            <a:r>
              <a:rPr lang="ko-KR" altLang="en-US" sz="2800" dirty="0" smtClean="0"/>
              <a:t>파일 생성</a:t>
            </a:r>
            <a:r>
              <a:rPr lang="en-US" altLang="ko-KR" sz="2800" dirty="0" smtClean="0"/>
              <a:t>,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N50</a:t>
            </a:r>
            <a:r>
              <a:rPr lang="ko-KR" altLang="en-US" sz="2800" dirty="0" smtClean="0"/>
              <a:t>으로 </a:t>
            </a:r>
            <a:r>
              <a:rPr lang="en-US" altLang="ko-KR" sz="2800" dirty="0" smtClean="0"/>
              <a:t>assembly contiguity </a:t>
            </a:r>
            <a:r>
              <a:rPr lang="ko-KR" altLang="en-US" sz="2800" dirty="0" smtClean="0"/>
              <a:t>평가</a:t>
            </a:r>
            <a:endParaRPr lang="en-US" altLang="ko-KR" sz="2800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800" dirty="0" smtClean="0"/>
              <a:t>BUSCO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-&gt;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assembly completeness </a:t>
            </a:r>
            <a:r>
              <a:rPr lang="ko-KR" altLang="en-US" sz="2800" dirty="0" smtClean="0"/>
              <a:t>평가</a:t>
            </a:r>
            <a:endParaRPr lang="en-US" altLang="ko-KR" sz="2800" dirty="0" smtClean="0"/>
          </a:p>
          <a:p>
            <a:pPr>
              <a:buFont typeface="Arial" pitchFamily="34" charset="0"/>
              <a:buChar char="•"/>
            </a:pPr>
            <a:r>
              <a:rPr lang="en-US" altLang="ko-KR" sz="2800" dirty="0" smtClean="0"/>
              <a:t>GMASS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-&gt;</a:t>
            </a:r>
            <a:r>
              <a:rPr lang="ko-KR" altLang="en-US" sz="2800" dirty="0" smtClean="0"/>
              <a:t> </a:t>
            </a:r>
            <a:r>
              <a:rPr lang="ko-KR" altLang="en-US" sz="2800" dirty="0" smtClean="0">
                <a:latin typeface="+mn-ea"/>
              </a:rPr>
              <a:t>인간 참조 게놈</a:t>
            </a:r>
            <a:r>
              <a:rPr lang="en-US" altLang="ko-KR" sz="2800" dirty="0" smtClean="0">
                <a:latin typeface="+mn-ea"/>
              </a:rPr>
              <a:t>(hg38)</a:t>
            </a:r>
            <a:r>
              <a:rPr lang="ko-KR" altLang="en-US" sz="2800" dirty="0" smtClean="0">
                <a:latin typeface="+mn-ea"/>
              </a:rPr>
              <a:t>에서 </a:t>
            </a:r>
            <a:r>
              <a:rPr lang="en-US" altLang="ko-KR" sz="2800" dirty="0" smtClean="0">
                <a:latin typeface="+mn-ea"/>
              </a:rPr>
              <a:t>18~22</a:t>
            </a:r>
            <a:r>
              <a:rPr lang="ko-KR" altLang="en-US" sz="2800" dirty="0" smtClean="0">
                <a:latin typeface="+mn-ea"/>
              </a:rPr>
              <a:t>번 염색체만 모아 하나의 </a:t>
            </a:r>
            <a:r>
              <a:rPr lang="en-US" altLang="ko-KR" sz="2800" dirty="0" smtClean="0">
                <a:latin typeface="+mn-ea"/>
              </a:rPr>
              <a:t>FASTA </a:t>
            </a:r>
            <a:r>
              <a:rPr lang="ko-KR" altLang="en-US" sz="2800" dirty="0" smtClean="0">
                <a:latin typeface="+mn-ea"/>
              </a:rPr>
              <a:t>파일을 사용하여 </a:t>
            </a:r>
            <a:r>
              <a:rPr lang="en-US" altLang="ko-KR" sz="2800" dirty="0" smtClean="0">
                <a:latin typeface="+mn-ea"/>
              </a:rPr>
              <a:t>		      </a:t>
            </a:r>
            <a:r>
              <a:rPr lang="en-US" altLang="ko-KR" sz="2800" dirty="0" err="1" smtClean="0">
                <a:latin typeface="+mn-ea"/>
              </a:rPr>
              <a:t>gmass_out</a:t>
            </a:r>
            <a:r>
              <a:rPr lang="en-US" altLang="ko-KR" sz="2800" dirty="0" smtClean="0">
                <a:latin typeface="+mn-ea"/>
              </a:rPr>
              <a:t> </a:t>
            </a:r>
            <a:r>
              <a:rPr lang="ko-KR" altLang="en-US" sz="2800" dirty="0" smtClean="0">
                <a:latin typeface="+mn-ea"/>
              </a:rPr>
              <a:t>파일을 생성하여 구조적 비교</a:t>
            </a:r>
            <a:endParaRPr lang="ko-KR" altLang="en-US" sz="28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6200" y="139700"/>
            <a:ext cx="5181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3.GENOME REARRANGEMENT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ASM-SCAFFOLD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00" y="7200900"/>
            <a:ext cx="176784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99600"/>
              </a:lnSpc>
            </a:pPr>
            <a:r>
              <a:rPr lang="en-US" altLang="ko-KR" sz="2800" dirty="0" smtClean="0">
                <a:latin typeface="+mn-ea"/>
              </a:rPr>
              <a:t>-&gt;</a:t>
            </a:r>
            <a:r>
              <a:rPr lang="ko-KR" altLang="en-US" sz="2800" dirty="0" smtClean="0">
                <a:latin typeface="+mn-ea"/>
              </a:rPr>
              <a:t>많은 조각들이 </a:t>
            </a:r>
            <a:r>
              <a:rPr lang="en-US" altLang="ko-KR" sz="2800" dirty="0" smtClean="0">
                <a:latin typeface="+mn-ea"/>
              </a:rPr>
              <a:t>96bp</a:t>
            </a:r>
            <a:r>
              <a:rPr lang="ko-KR" altLang="en-US" sz="2800" dirty="0" smtClean="0">
                <a:latin typeface="+mn-ea"/>
              </a:rPr>
              <a:t>의 매우 짧은 단편으로 구성</a:t>
            </a:r>
          </a:p>
          <a:p>
            <a:pPr lvl="0" algn="l">
              <a:lnSpc>
                <a:spcPct val="99600"/>
              </a:lnSpc>
            </a:pPr>
            <a:endParaRPr lang="en-US" sz="2800" b="0" i="0" u="none" strike="noStrike" dirty="0" smtClean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99600"/>
              </a:lnSpc>
            </a:pPr>
            <a:r>
              <a:rPr lang="en-US" sz="2800" b="0" i="0" u="none" strike="noStrike" dirty="0" smtClean="0">
                <a:solidFill>
                  <a:srgbClr val="000000"/>
                </a:solidFill>
                <a:latin typeface="+mn-ea"/>
              </a:rPr>
              <a:t>-&gt;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N50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값이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113,129bp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비교적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양호하고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최장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scaffold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가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sz="2800" b="0" i="0" u="none" strike="noStrike" dirty="0" smtClean="0">
                <a:solidFill>
                  <a:srgbClr val="000000"/>
                </a:solidFill>
                <a:latin typeface="+mn-ea"/>
              </a:rPr>
              <a:t>400</a:t>
            </a:r>
            <a:r>
              <a:rPr lang="ko-KR" altLang="en-US" sz="2800" b="0" i="0" u="none" strike="noStrike" dirty="0" smtClean="0">
                <a:solidFill>
                  <a:srgbClr val="000000"/>
                </a:solidFill>
                <a:latin typeface="+mn-ea"/>
              </a:rPr>
              <a:t>만</a:t>
            </a:r>
            <a:r>
              <a:rPr lang="en-US" sz="2800" b="0" i="0" u="none" strike="noStrike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정도로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연속성이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잘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확보되어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 smtClean="0">
                <a:solidFill>
                  <a:srgbClr val="000000"/>
                </a:solidFill>
                <a:latin typeface="+mn-ea"/>
              </a:rPr>
              <a:t>있음</a:t>
            </a:r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5361" name="_x213889336" descr="EMB00001f48864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86000" y="2019300"/>
            <a:ext cx="12649200" cy="45324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6200" y="139700"/>
            <a:ext cx="5181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3.GENOME REARRANGEMENT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 smtClean="0">
                <a:solidFill>
                  <a:srgbClr val="11359A"/>
                </a:solidFill>
                <a:latin typeface="+mj-ea"/>
                <a:ea typeface="+mj-ea"/>
              </a:rPr>
              <a:t>BUSCO </a:t>
            </a:r>
            <a:r>
              <a:rPr lang="ko-KR" sz="6000" b="1" i="0" u="none" strike="noStrike" spc="-100" dirty="0" smtClean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 smtClean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 smtClean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  <a:endParaRPr lang="ko-KR" sz="6000" b="1" i="0" u="none" strike="noStrike" spc="-100" dirty="0">
              <a:solidFill>
                <a:srgbClr val="11359A"/>
              </a:solidFill>
              <a:latin typeface="+mj-ea"/>
              <a:ea typeface="+mj-ea"/>
            </a:endParaRP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4337" name="_x202646448" descr="EMB00003ca44d35"/>
          <p:cNvPicPr>
            <a:picLocks noChangeAspect="1" noChangeArrowheads="1"/>
          </p:cNvPicPr>
          <p:nvPr/>
        </p:nvPicPr>
        <p:blipFill>
          <a:blip r:embed="rId5" cstate="print"/>
          <a:srcRect l="5698" t="33771" r="57436" b="18185"/>
          <a:stretch>
            <a:fillRect/>
          </a:stretch>
        </p:blipFill>
        <p:spPr bwMode="auto">
          <a:xfrm>
            <a:off x="4191000" y="1943101"/>
            <a:ext cx="9727578" cy="3438196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2819400" y="6286500"/>
            <a:ext cx="139446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 latinLnBrk="1">
              <a:buFont typeface="Arial" pitchFamily="34" charset="0"/>
              <a:buChar char="•"/>
            </a:pPr>
            <a:r>
              <a:rPr lang="ko-KR" altLang="en-US" sz="2800" dirty="0" smtClean="0">
                <a:latin typeface="+mn-ea"/>
              </a:rPr>
              <a:t>완성된 보존 유전자 </a:t>
            </a:r>
            <a:r>
              <a:rPr lang="en-US" altLang="ko-KR" sz="2800" dirty="0" smtClean="0">
                <a:latin typeface="+mn-ea"/>
              </a:rPr>
              <a:t>(Complete BUSCO) </a:t>
            </a:r>
            <a:r>
              <a:rPr lang="ko-KR" altLang="en-US" sz="2800" dirty="0" smtClean="0">
                <a:latin typeface="+mn-ea"/>
              </a:rPr>
              <a:t>비율이 </a:t>
            </a:r>
            <a:r>
              <a:rPr lang="en-US" altLang="ko-KR" sz="2800" dirty="0" smtClean="0">
                <a:latin typeface="+mn-ea"/>
              </a:rPr>
              <a:t>14%</a:t>
            </a:r>
            <a:r>
              <a:rPr lang="ko-KR" altLang="en-US" sz="2800" dirty="0" smtClean="0">
                <a:latin typeface="+mn-ea"/>
              </a:rPr>
              <a:t>로 낮음</a:t>
            </a:r>
          </a:p>
          <a:p>
            <a:pPr lvl="0" fontAlgn="base" latinLnBrk="1">
              <a:buFont typeface="Arial" pitchFamily="34" charset="0"/>
              <a:buChar char="•"/>
            </a:pPr>
            <a:r>
              <a:rPr lang="ko-KR" altLang="en-US" sz="2800" dirty="0" smtClean="0">
                <a:latin typeface="+mn-ea"/>
              </a:rPr>
              <a:t>조각난 유전자 </a:t>
            </a:r>
            <a:r>
              <a:rPr lang="en-US" altLang="ko-KR" sz="2800" dirty="0" smtClean="0">
                <a:latin typeface="+mn-ea"/>
              </a:rPr>
              <a:t>(Fragmented) </a:t>
            </a:r>
            <a:r>
              <a:rPr lang="ko-KR" altLang="en-US" sz="2800" dirty="0" smtClean="0">
                <a:latin typeface="+mn-ea"/>
              </a:rPr>
              <a:t>비율 </a:t>
            </a:r>
            <a:r>
              <a:rPr lang="en-US" altLang="ko-KR" sz="2800" dirty="0" smtClean="0">
                <a:latin typeface="+mn-ea"/>
              </a:rPr>
              <a:t>0.3%</a:t>
            </a:r>
            <a:r>
              <a:rPr lang="ko-KR" altLang="en-US" sz="2800" dirty="0" smtClean="0">
                <a:latin typeface="+mn-ea"/>
              </a:rPr>
              <a:t>로 아주 낮음</a:t>
            </a:r>
          </a:p>
          <a:p>
            <a:pPr lvl="0" fontAlgn="base" latinLnBrk="1">
              <a:buFont typeface="Arial" pitchFamily="34" charset="0"/>
              <a:buChar char="•"/>
            </a:pPr>
            <a:r>
              <a:rPr lang="ko-KR" altLang="en-US" sz="2800" dirty="0" smtClean="0">
                <a:latin typeface="+mn-ea"/>
              </a:rPr>
              <a:t>대다수 </a:t>
            </a:r>
            <a:r>
              <a:rPr lang="en-US" altLang="ko-KR" sz="2800" dirty="0" smtClean="0">
                <a:latin typeface="+mn-ea"/>
              </a:rPr>
              <a:t>Missing (85.6%)</a:t>
            </a:r>
            <a:endParaRPr lang="ko-KR" altLang="en-US" sz="2800" dirty="0" smtClean="0">
              <a:latin typeface="+mn-ea"/>
            </a:endParaRPr>
          </a:p>
          <a:p>
            <a:pPr fontAlgn="base" latinLnBrk="1"/>
            <a:r>
              <a:rPr lang="ko-KR" altLang="en-US" sz="2800" dirty="0" smtClean="0">
                <a:latin typeface="+mn-ea"/>
              </a:rPr>
              <a:t>→ 주요 유전자 집합의 대다수가 존재하지 않거나 인식되지 못한 채로 </a:t>
            </a:r>
            <a:r>
              <a:rPr lang="en-US" altLang="ko-KR" sz="2800" dirty="0" smtClean="0">
                <a:latin typeface="+mn-ea"/>
              </a:rPr>
              <a:t>Assembly</a:t>
            </a:r>
            <a:r>
              <a:rPr lang="ko-KR" altLang="en-US" sz="2800" dirty="0" smtClean="0">
                <a:latin typeface="+mn-ea"/>
              </a:rPr>
              <a:t>됨</a:t>
            </a:r>
          </a:p>
          <a:p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029200" y="8953500"/>
            <a:ext cx="7848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latin typeface="+mn-ea"/>
              </a:rPr>
              <a:t>=&gt;</a:t>
            </a:r>
            <a:r>
              <a:rPr lang="ko-KR" altLang="en-US" sz="2800" dirty="0" smtClean="0">
                <a:latin typeface="+mn-ea"/>
              </a:rPr>
              <a:t>현재 </a:t>
            </a:r>
            <a:r>
              <a:rPr lang="en-US" altLang="ko-KR" sz="2800" dirty="0" smtClean="0">
                <a:latin typeface="+mn-ea"/>
              </a:rPr>
              <a:t>assembly</a:t>
            </a:r>
            <a:r>
              <a:rPr lang="ko-KR" altLang="en-US" sz="2800" dirty="0" smtClean="0">
                <a:latin typeface="+mn-ea"/>
              </a:rPr>
              <a:t>는 생물학적 완성도 높지 않음</a:t>
            </a:r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>
            <a:alphaModFix amt="70000"/>
          </a:blip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>
            <a:alphaModFix amt="80000"/>
          </a:blip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06900" y="4267200"/>
            <a:ext cx="1384300" cy="7620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6200" y="139700"/>
            <a:ext cx="51816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3.GENOME REARRANGEMENT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97300" y="482600"/>
            <a:ext cx="104394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GMASS_OUT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분석</a:t>
            </a:r>
            <a:r>
              <a:rPr lang="en-US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 </a:t>
            </a:r>
            <a:r>
              <a:rPr lang="ko-KR" sz="6000" b="1" i="0" u="none" strike="noStrike" spc="-100" dirty="0">
                <a:solidFill>
                  <a:srgbClr val="11359A"/>
                </a:solidFill>
                <a:latin typeface="+mj-ea"/>
                <a:ea typeface="+mj-ea"/>
              </a:rPr>
              <a:t>결과</a:t>
            </a:r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3009" name="_x308964616" descr="EMB00003ca44e02"/>
          <p:cNvPicPr>
            <a:picLocks noChangeAspect="1" noChangeArrowheads="1"/>
          </p:cNvPicPr>
          <p:nvPr/>
        </p:nvPicPr>
        <p:blipFill>
          <a:blip r:embed="rId5" cstate="print"/>
          <a:srcRect r="632" b="5489"/>
          <a:stretch>
            <a:fillRect/>
          </a:stretch>
        </p:blipFill>
        <p:spPr bwMode="auto">
          <a:xfrm>
            <a:off x="533400" y="1562100"/>
            <a:ext cx="10363200" cy="274320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10896600" y="1638300"/>
            <a:ext cx="73914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2800" dirty="0" smtClean="0">
                <a:latin typeface="+mn-ea"/>
              </a:rPr>
              <a:t>길이가　１０００이하인　 </a:t>
            </a:r>
            <a:r>
              <a:rPr lang="en-US" altLang="ko-KR" sz="2800" dirty="0" smtClean="0">
                <a:latin typeface="+mn-ea"/>
              </a:rPr>
              <a:t>scaffold</a:t>
            </a:r>
            <a:r>
              <a:rPr lang="ko-KR" altLang="en-US" sz="2800" dirty="0" smtClean="0">
                <a:latin typeface="+mn-ea"/>
              </a:rPr>
              <a:t>들은 제외하고 분석을 진행</a:t>
            </a:r>
            <a:endParaRPr lang="en-US" altLang="ko-KR" sz="2800" dirty="0" smtClean="0">
              <a:latin typeface="+mn-ea"/>
            </a:endParaRPr>
          </a:p>
          <a:p>
            <a:r>
              <a:rPr lang="en-US" altLang="ko-KR" sz="2800" dirty="0" smtClean="0">
                <a:latin typeface="+mn-ea"/>
              </a:rPr>
              <a:t>-&gt;</a:t>
            </a:r>
            <a:r>
              <a:rPr lang="ko-KR" altLang="en-US" sz="2800" dirty="0" smtClean="0">
                <a:latin typeface="+mn-ea"/>
              </a:rPr>
              <a:t> ９８％이상 ｓｅｑｕｅｎｃｅ들이 제거됨</a:t>
            </a:r>
          </a:p>
          <a:p>
            <a:endParaRPr lang="ko-KR" altLang="en-US" dirty="0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4457700"/>
            <a:ext cx="1809750" cy="572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2667000" y="4457700"/>
            <a:ext cx="1417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ko-KR" altLang="en-US" sz="2800" dirty="0" smtClean="0">
                <a:latin typeface="+mn-ea"/>
              </a:rPr>
              <a:t>Ｒｅｓｏｌｕｔｉｏｎ을　１００００</a:t>
            </a:r>
            <a:r>
              <a:rPr lang="ko-KR" altLang="en-US" sz="2800" dirty="0" err="1" smtClean="0">
                <a:latin typeface="+mn-ea"/>
              </a:rPr>
              <a:t>으로</a:t>
            </a:r>
            <a:r>
              <a:rPr lang="ko-KR" altLang="en-US" sz="2800" dirty="0" smtClean="0">
                <a:latin typeface="+mn-ea"/>
              </a:rPr>
              <a:t>　설정하여　진행</a:t>
            </a:r>
            <a:endParaRPr lang="en-US" altLang="ko-KR" sz="2800" dirty="0" smtClean="0">
              <a:latin typeface="+mn-ea"/>
            </a:endParaRPr>
          </a:p>
          <a:p>
            <a:pPr>
              <a:buFont typeface="Arial" pitchFamily="34" charset="0"/>
              <a:buChar char="•"/>
            </a:pPr>
            <a:r>
              <a:rPr lang="en-US" altLang="ko-KR" sz="2800" dirty="0" smtClean="0">
                <a:latin typeface="+mn-ea"/>
              </a:rPr>
              <a:t>Genomes order</a:t>
            </a:r>
            <a:r>
              <a:rPr lang="ko-KR" altLang="en-US" sz="2800" dirty="0" smtClean="0">
                <a:latin typeface="+mn-ea"/>
              </a:rPr>
              <a:t>에서 </a:t>
            </a:r>
            <a:r>
              <a:rPr lang="en-US" altLang="ko-KR" sz="2800" dirty="0" err="1" smtClean="0">
                <a:latin typeface="+mn-ea"/>
              </a:rPr>
              <a:t>synteny</a:t>
            </a:r>
            <a:r>
              <a:rPr lang="en-US" altLang="ko-KR" sz="2800" dirty="0" smtClean="0">
                <a:latin typeface="+mn-ea"/>
              </a:rPr>
              <a:t> block</a:t>
            </a:r>
            <a:r>
              <a:rPr lang="ko-KR" altLang="en-US" sz="2800" dirty="0" smtClean="0">
                <a:latin typeface="+mn-ea"/>
              </a:rPr>
              <a:t>이 </a:t>
            </a:r>
            <a:r>
              <a:rPr lang="en-US" altLang="ko-KR" sz="2800" dirty="0" smtClean="0">
                <a:latin typeface="+mn-ea"/>
              </a:rPr>
              <a:t>2</a:t>
            </a:r>
            <a:r>
              <a:rPr lang="ko-KR" altLang="en-US" sz="2800" dirty="0" smtClean="0">
                <a:latin typeface="+mn-ea"/>
              </a:rPr>
              <a:t>개 이상인 것만 추출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9400" y="5753100"/>
            <a:ext cx="14554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buFont typeface="Arial" pitchFamily="34" charset="0"/>
              <a:buChar char="•"/>
            </a:pPr>
            <a:r>
              <a:rPr lang="en-US" altLang="ko-KR" sz="2600" dirty="0" smtClean="0">
                <a:latin typeface="+mn-ea"/>
              </a:rPr>
              <a:t>sequence ID</a:t>
            </a:r>
            <a:r>
              <a:rPr lang="ko-KR" altLang="en-US" sz="2600" dirty="0" smtClean="0">
                <a:latin typeface="+mn-ea"/>
              </a:rPr>
              <a:t> </a:t>
            </a:r>
            <a:r>
              <a:rPr lang="en-US" altLang="ko-KR" sz="2600" dirty="0" smtClean="0">
                <a:latin typeface="+mn-ea"/>
              </a:rPr>
              <a:t>‘392578’</a:t>
            </a:r>
            <a:r>
              <a:rPr lang="ko-KR" altLang="en-US" sz="2600" dirty="0" smtClean="0">
                <a:latin typeface="+mn-ea"/>
              </a:rPr>
              <a:t>의 </a:t>
            </a:r>
            <a:r>
              <a:rPr lang="en-US" altLang="ko-KR" sz="2600" dirty="0" err="1" smtClean="0">
                <a:latin typeface="+mn-ea"/>
              </a:rPr>
              <a:t>synteny</a:t>
            </a:r>
            <a:r>
              <a:rPr lang="en-US" altLang="ko-KR" sz="2600" dirty="0" smtClean="0">
                <a:latin typeface="+mn-ea"/>
              </a:rPr>
              <a:t> block</a:t>
            </a:r>
            <a:r>
              <a:rPr lang="ko-KR" altLang="en-US" sz="2600" dirty="0" smtClean="0">
                <a:latin typeface="+mn-ea"/>
              </a:rPr>
              <a:t>의 </a:t>
            </a:r>
            <a:r>
              <a:rPr lang="en-US" altLang="ko-KR" sz="2600" dirty="0" err="1" smtClean="0">
                <a:latin typeface="+mn-ea"/>
              </a:rPr>
              <a:t>chr</a:t>
            </a:r>
            <a:r>
              <a:rPr lang="en-US" altLang="ko-KR" sz="2600" dirty="0" smtClean="0">
                <a:latin typeface="+mn-ea"/>
              </a:rPr>
              <a:t> </a:t>
            </a:r>
            <a:r>
              <a:rPr lang="ko-KR" altLang="en-US" sz="2600" dirty="0" smtClean="0">
                <a:latin typeface="+mn-ea"/>
              </a:rPr>
              <a:t>위치와 </a:t>
            </a:r>
            <a:r>
              <a:rPr lang="en-US" altLang="ko-KR" sz="2600" dirty="0" err="1" smtClean="0">
                <a:latin typeface="+mn-ea"/>
              </a:rPr>
              <a:t>synteny</a:t>
            </a:r>
            <a:r>
              <a:rPr lang="en-US" altLang="ko-KR" sz="2600" dirty="0" smtClean="0">
                <a:latin typeface="+mn-ea"/>
              </a:rPr>
              <a:t> block ID </a:t>
            </a:r>
            <a:r>
              <a:rPr lang="ko-KR" altLang="en-US" sz="2600" dirty="0" smtClean="0">
                <a:latin typeface="+mn-ea"/>
              </a:rPr>
              <a:t>정보를 추출</a:t>
            </a:r>
            <a:endParaRPr lang="en-US" altLang="ko-KR" sz="2600" dirty="0" smtClean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09600" y="4457700"/>
            <a:ext cx="1828800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19400" y="6286500"/>
            <a:ext cx="15056712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직사각형 20"/>
          <p:cNvSpPr/>
          <p:nvPr/>
        </p:nvSpPr>
        <p:spPr>
          <a:xfrm>
            <a:off x="2895600" y="9105900"/>
            <a:ext cx="14782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1"/>
            <a:r>
              <a:rPr lang="en-US" altLang="ko-KR" sz="2800" dirty="0" smtClean="0">
                <a:latin typeface="+mn-ea"/>
              </a:rPr>
              <a:t>=&gt;</a:t>
            </a:r>
            <a:r>
              <a:rPr lang="ko-KR" altLang="en-US" sz="2800" dirty="0" smtClean="0"/>
              <a:t> </a:t>
            </a:r>
            <a:r>
              <a:rPr lang="ko-KR" altLang="en-US" sz="2800" dirty="0" smtClean="0">
                <a:latin typeface="+mn-ea"/>
              </a:rPr>
              <a:t>한 </a:t>
            </a:r>
            <a:r>
              <a:rPr lang="en-US" altLang="ko-KR" sz="2800" dirty="0" smtClean="0">
                <a:latin typeface="+mn-ea"/>
              </a:rPr>
              <a:t>scaffold </a:t>
            </a:r>
            <a:r>
              <a:rPr lang="ko-KR" altLang="en-US" sz="2800" dirty="0" smtClean="0">
                <a:latin typeface="+mn-ea"/>
              </a:rPr>
              <a:t>내 세 개 염색체 유래의 서열이 혼합되어 있고</a:t>
            </a:r>
            <a:r>
              <a:rPr lang="en-US" altLang="ko-KR" sz="2800" dirty="0" smtClean="0">
                <a:latin typeface="+mn-ea"/>
              </a:rPr>
              <a:t>, </a:t>
            </a:r>
            <a:r>
              <a:rPr lang="ko-KR" altLang="en-US" sz="2800" dirty="0" smtClean="0">
                <a:latin typeface="+mn-ea"/>
              </a:rPr>
              <a:t>중간에 </a:t>
            </a:r>
            <a:r>
              <a:rPr lang="en-US" altLang="ko-KR" sz="2800" dirty="0" smtClean="0">
                <a:latin typeface="+mn-ea"/>
              </a:rPr>
              <a:t>inversion</a:t>
            </a:r>
            <a:r>
              <a:rPr lang="ko-KR" altLang="en-US" sz="2800" dirty="0" smtClean="0">
                <a:latin typeface="+mn-ea"/>
              </a:rPr>
              <a:t>도 포함되어 있는</a:t>
            </a:r>
            <a:r>
              <a:rPr lang="en-US" altLang="ko-KR" sz="2800" dirty="0" smtClean="0">
                <a:latin typeface="+mn-ea"/>
              </a:rPr>
              <a:t>, </a:t>
            </a:r>
            <a:r>
              <a:rPr lang="ko-KR" altLang="en-US" sz="2800" dirty="0" smtClean="0">
                <a:latin typeface="+mn-ea"/>
              </a:rPr>
              <a:t>극히 비정상적이고 구조적으로 복합적인 변이 패턴</a:t>
            </a:r>
            <a:endParaRPr lang="ko-KR" altLang="en-US" sz="28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29800" y="2705100"/>
            <a:ext cx="8661400" cy="8877300"/>
          </a:xfrm>
          <a:prstGeom prst="rect">
            <a:avLst/>
          </a:prstGeom>
          <a:effectLst>
            <a:outerShdw blurRad="466322" dist="133161" dir="1800000">
              <a:srgbClr val="000000">
                <a:alpha val="1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42500" y="2717800"/>
            <a:ext cx="8661400" cy="8877300"/>
          </a:xfrm>
          <a:prstGeom prst="rect">
            <a:avLst/>
          </a:prstGeom>
          <a:effectLst>
            <a:outerShdw blurRad="466322" dist="199741" dir="12600000">
              <a:srgbClr val="FFFFFF">
                <a:alpha val="50000"/>
              </a:srgbClr>
            </a:outerShdw>
          </a:effectLst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42716" dir="1800000">
              <a:srgbClr val="000000">
                <a:alpha val="1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38300" y="1854200"/>
            <a:ext cx="2781300" cy="2844800"/>
          </a:xfrm>
          <a:prstGeom prst="rect">
            <a:avLst/>
          </a:prstGeom>
          <a:effectLst>
            <a:outerShdw blurRad="47986" dist="64074" dir="12600000">
              <a:srgbClr val="FFFFFF">
                <a:alpha val="6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-5400000">
            <a:off x="1562100" y="8534400"/>
            <a:ext cx="482600" cy="1511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764000" y="762000"/>
            <a:ext cx="482600" cy="1511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581400" y="3771900"/>
            <a:ext cx="11150600" cy="2603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000"/>
              </a:lnSpc>
            </a:pPr>
            <a:r>
              <a:rPr lang="ko-KR" sz="14700" b="1" i="0" u="none" strike="noStrike" spc="200" dirty="0">
                <a:solidFill>
                  <a:srgbClr val="000000"/>
                </a:solidFill>
                <a:latin typeface="+mj-ea"/>
                <a:ea typeface="+mj-ea"/>
              </a:rPr>
              <a:t>감사합니다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64000" y="3632200"/>
            <a:ext cx="10172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600" b="0" i="0" u="none" strike="noStrike" spc="500" dirty="0">
                <a:solidFill>
                  <a:srgbClr val="11359A"/>
                </a:solidFill>
                <a:latin typeface="+mn-ea"/>
              </a:rPr>
              <a:t>T</a:t>
            </a:r>
            <a:r>
              <a:rPr lang="en-US" sz="2600" b="0" i="0" u="none" strike="noStrike" spc="500" dirty="0">
                <a:solidFill>
                  <a:srgbClr val="000000"/>
                </a:solidFill>
                <a:latin typeface="+mn-ea"/>
              </a:rPr>
              <a:t>HANKS</a:t>
            </a:r>
            <a:r>
              <a:rPr lang="en-US" sz="2600" b="0" i="0" u="none" strike="noStrike" spc="500" dirty="0">
                <a:solidFill>
                  <a:srgbClr val="11359A"/>
                </a:solidFill>
                <a:latin typeface="+mn-ea"/>
              </a:rPr>
              <a:t> F</a:t>
            </a:r>
            <a:r>
              <a:rPr lang="en-US" sz="2600" b="0" i="0" u="none" strike="noStrike" spc="500" dirty="0">
                <a:solidFill>
                  <a:srgbClr val="000000"/>
                </a:solidFill>
                <a:latin typeface="+mn-ea"/>
              </a:rPr>
              <a:t>OR</a:t>
            </a:r>
            <a:r>
              <a:rPr lang="en-US" sz="2600" b="0" i="0" u="none" strike="noStrike" spc="500" dirty="0">
                <a:solidFill>
                  <a:srgbClr val="11359A"/>
                </a:solidFill>
                <a:latin typeface="+mn-ea"/>
              </a:rPr>
              <a:t> W</a:t>
            </a:r>
            <a:r>
              <a:rPr lang="en-US" sz="2600" b="0" i="0" u="none" strike="noStrike" spc="500" dirty="0">
                <a:solidFill>
                  <a:srgbClr val="000000"/>
                </a:solidFill>
                <a:latin typeface="+mn-ea"/>
              </a:rPr>
              <a:t>ATCHING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695</Words>
  <Application>Microsoft Office PowerPoint</Application>
  <PresentationFormat>사용자 지정</PresentationFormat>
  <Paragraphs>135</Paragraphs>
  <Slides>20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굴림</vt:lpstr>
      <vt:lpstr>Arial</vt:lpstr>
      <vt:lpstr>맑은 고딕</vt:lpstr>
      <vt:lpstr>Pretendard ExtraBold</vt:lpstr>
      <vt:lpstr>Calibri</vt:lpstr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yujin</dc:creator>
  <cp:lastModifiedBy>강유진</cp:lastModifiedBy>
  <cp:revision>82</cp:revision>
  <dcterms:created xsi:type="dcterms:W3CDTF">2006-08-16T00:00:00Z</dcterms:created>
  <dcterms:modified xsi:type="dcterms:W3CDTF">2025-06-16T03:53:24Z</dcterms:modified>
</cp:coreProperties>
</file>